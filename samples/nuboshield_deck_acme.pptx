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mailto:sales@nubolabs.co.uk?subject=Remediation%20Enquiry%20-%20NuboShield%20Repor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70B12"/>
          </a:solidFill>
          <a:ln>
            <a:noFill/>
          </a:ln>
        </p:spPr>
      </p:sp>
      <p:sp>
        <p:nvSpPr>
          <p:cNvPr id="3" name="Rectangl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9B5CFF"/>
          </a:solidFill>
          <a:ln>
            <a:noFill/>
          </a:ln>
        </p:spPr>
      </p:sp>
      <p:sp>
        <p:nvSpPr>
          <p:cNvPr id="4" name="Rectangle 3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C1220"/>
          </a:solidFill>
          <a:ln>
            <a:noFill/>
          </a:ln>
        </p:spPr>
      </p:sp>
      <p:sp>
        <p:nvSpPr>
          <p:cNvPr id="5" name="Rectangle 4"/>
          <p:cNvSpPr/>
          <p:nvPr/>
        </p:nvSpPr>
        <p:spPr>
          <a:xfrm>
            <a:off x="6858000" y="0"/>
            <a:ext cx="2286000" cy="73152"/>
          </a:xfrm>
          <a:prstGeom prst="rect">
            <a:avLst/>
          </a:prstGeom>
          <a:solidFill>
            <a:srgbClr val="9B5CFF"/>
          </a:solidFill>
          <a:ln>
            <a:noFill/>
          </a:ln>
        </p:spPr>
      </p:sp>
      <p:sp>
        <p:nvSpPr>
          <p:cNvPr id="6" name="TextBox 5"/>
          <p:cNvSpPr txBox="1"/>
          <p:nvPr/>
        </p:nvSpPr>
        <p:spPr>
          <a:xfrm>
            <a:off x="274320" y="164592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Nubo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6459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9B5CFF"/>
                </a:solidFill>
              </a:rPr>
              <a:t>Labs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0116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E5F72"/>
                </a:solidFill>
              </a:rPr>
              <a:t>Cloud Infrastructure Intelligence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005840"/>
            <a:ext cx="8686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</a:rPr>
              <a:t>Nubo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783080"/>
            <a:ext cx="8686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 i="0">
                <a:solidFill>
                  <a:srgbClr val="9B5CFF"/>
                </a:solidFill>
              </a:rPr>
              <a:t>Shield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8346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9DB4"/>
                </a:solidFill>
              </a:rPr>
              <a:t>Security Posture Audit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246120"/>
            <a:ext cx="5029200" cy="22860"/>
          </a:xfrm>
          <a:prstGeom prst="rect">
            <a:avLst/>
          </a:prstGeom>
          <a:solidFill>
            <a:srgbClr val="4E5F72"/>
          </a:solidFill>
          <a:ln>
            <a:noFill/>
          </a:ln>
        </p:spPr>
      </p:sp>
      <p:sp>
        <p:nvSpPr>
          <p:cNvPr id="13" name="TextBox 12"/>
          <p:cNvSpPr txBox="1"/>
          <p:nvPr/>
        </p:nvSpPr>
        <p:spPr>
          <a:xfrm>
            <a:off x="274320" y="336499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Acme Technologies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363931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E9DB4"/>
                </a:solidFill>
              </a:rPr>
              <a:t>15 May 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2651760" cy="2651760"/>
          </a:xfrm>
          <a:prstGeom prst="rect">
            <a:avLst/>
          </a:prstGeom>
          <a:solidFill>
            <a:srgbClr val="0C1220"/>
          </a:solidFill>
          <a:ln>
            <a:noFill/>
          </a:ln>
        </p:spPr>
      </p:sp>
      <p:sp>
        <p:nvSpPr>
          <p:cNvPr id="16" name="Rectangle 15"/>
          <p:cNvSpPr/>
          <p:nvPr/>
        </p:nvSpPr>
        <p:spPr>
          <a:xfrm>
            <a:off x="6217920" y="914400"/>
            <a:ext cx="2651760" cy="2651760"/>
          </a:xfrm>
          <a:prstGeom prst="rect">
            <a:avLst/>
          </a:prstGeom>
          <a:noFill/>
          <a:ln w="25400">
            <a:solidFill>
              <a:srgbClr val="9B5C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05156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 i="0">
                <a:solidFill>
                  <a:srgbClr val="DC2626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33172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E9DB4"/>
                </a:solidFill>
              </a:rPr>
              <a:t>/ 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74320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</a:rPr>
              <a:t>POOR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7033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C2626"/>
                </a:solidFill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0416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E5F72"/>
                </a:solidFill>
              </a:rPr>
              <a:t>Critical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0607" y="37033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97706"/>
                </a:solidFill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7" y="40416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E5F72"/>
                </a:solidFill>
              </a:rPr>
              <a:t>High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7575" y="37033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B5CFF"/>
                </a:solidFill>
              </a:rPr>
              <a:t>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37575" y="40416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E5F72"/>
                </a:solidFill>
              </a:rPr>
              <a:t>Total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4709160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E5F72"/>
                </a:solidFill>
              </a:rPr>
              <a:t>nubolabs.co.uk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1220"/>
          </a:solidFill>
          <a:ln>
            <a:noFill/>
          </a:ln>
        </p:spPr>
      </p:sp>
      <p:sp>
        <p:nvSpPr>
          <p:cNvPr id="3" name="TextBox 2"/>
          <p:cNvSpPr txBox="1"/>
          <p:nvPr/>
        </p:nvSpPr>
        <p:spPr>
          <a:xfrm>
            <a:off x="274320" y="7315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Nubo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315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B5CFF"/>
                </a:solidFill>
              </a:rPr>
              <a:t>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731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E9DB4"/>
                </a:solidFill>
              </a:rPr>
              <a:t>· NuboShield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731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E5F72"/>
                </a:solidFill>
              </a:rPr>
              <a:t>Acme Technologies Ltd  · 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75488"/>
            <a:ext cx="9144000" cy="36576"/>
          </a:xfrm>
          <a:prstGeom prst="rect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987552"/>
            <a:ext cx="274320" cy="36576"/>
          </a:xfrm>
          <a:prstGeom prst="rect">
            <a:avLst/>
          </a:prstGeom>
          <a:solidFill>
            <a:srgbClr val="9B5CFF"/>
          </a:solidFill>
          <a:ln>
            <a:noFill/>
          </a:ln>
        </p:spPr>
      </p:sp>
      <p:sp>
        <p:nvSpPr>
          <p:cNvPr id="9" name="TextBox 8"/>
          <p:cNvSpPr txBox="1"/>
          <p:nvPr/>
        </p:nvSpPr>
        <p:spPr>
          <a:xfrm>
            <a:off x="365760" y="105156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5087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E9DB4"/>
                </a:solidFill>
              </a:rPr>
              <a:t>What you need to know.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874519"/>
            <a:ext cx="1554480" cy="960120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12" name="TextBox 11"/>
          <p:cNvSpPr txBox="1"/>
          <p:nvPr/>
        </p:nvSpPr>
        <p:spPr>
          <a:xfrm>
            <a:off x="365760" y="1920240"/>
            <a:ext cx="1554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DC2626"/>
                </a:solidFill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48716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E9DB4"/>
                </a:solidFill>
              </a:rPr>
              <a:t>Score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57400" y="1874519"/>
            <a:ext cx="1554480" cy="960120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15" name="TextBox 14"/>
          <p:cNvSpPr txBox="1"/>
          <p:nvPr/>
        </p:nvSpPr>
        <p:spPr>
          <a:xfrm>
            <a:off x="2057400" y="1920240"/>
            <a:ext cx="1554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DC2626"/>
                </a:solidFill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48716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E9DB4"/>
                </a:solidFill>
              </a:rPr>
              <a:t>Critical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49040" y="1874519"/>
            <a:ext cx="1554480" cy="960120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18" name="TextBox 17"/>
          <p:cNvSpPr txBox="1"/>
          <p:nvPr/>
        </p:nvSpPr>
        <p:spPr>
          <a:xfrm>
            <a:off x="3749040" y="1920240"/>
            <a:ext cx="1554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D97706"/>
                </a:solidFill>
              </a:rPr>
              <a:t>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248716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E9DB4"/>
                </a:solidFill>
              </a:rPr>
              <a:t>High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40680" y="1874519"/>
            <a:ext cx="1554480" cy="960120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21" name="TextBox 20"/>
          <p:cNvSpPr txBox="1"/>
          <p:nvPr/>
        </p:nvSpPr>
        <p:spPr>
          <a:xfrm>
            <a:off x="5440680" y="1920240"/>
            <a:ext cx="1554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563EB"/>
                </a:solidFill>
              </a:rPr>
              <a:t>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248716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E9DB4"/>
                </a:solidFill>
              </a:rPr>
              <a:t>Medium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0" y="1874519"/>
            <a:ext cx="1554480" cy="960120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24" name="TextBox 23"/>
          <p:cNvSpPr txBox="1"/>
          <p:nvPr/>
        </p:nvSpPr>
        <p:spPr>
          <a:xfrm>
            <a:off x="7132320" y="1920240"/>
            <a:ext cx="1554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9B5CFF"/>
                </a:solidFill>
              </a:rPr>
              <a:t>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248716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E9DB4"/>
                </a:solidFill>
              </a:rPr>
              <a:t>Total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017520"/>
            <a:ext cx="8412480" cy="777240"/>
          </a:xfrm>
          <a:prstGeom prst="rect">
            <a:avLst/>
          </a:prstGeom>
          <a:solidFill>
            <a:srgbClr val="3F1010"/>
          </a:solidFill>
          <a:ln>
            <a:noFill/>
          </a:ln>
        </p:spPr>
      </p:sp>
      <p:sp>
        <p:nvSpPr>
          <p:cNvPr id="27" name="TextBox 26"/>
          <p:cNvSpPr txBox="1"/>
          <p:nvPr/>
        </p:nvSpPr>
        <p:spPr>
          <a:xfrm>
            <a:off x="502920" y="3063240"/>
            <a:ext cx="2743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</a:rPr>
              <a:t>⚠  If you fix nothing: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3337560"/>
            <a:ext cx="8138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EF2F8"/>
                </a:solidFill>
              </a:rPr>
              <a:t>Open ports + over-privileged roles = multiple breach paths. Data exfiltration with zero detection capability.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1220"/>
          </a:solidFill>
          <a:ln>
            <a:noFill/>
          </a:ln>
        </p:spPr>
      </p:sp>
      <p:sp>
        <p:nvSpPr>
          <p:cNvPr id="3" name="TextBox 2"/>
          <p:cNvSpPr txBox="1"/>
          <p:nvPr/>
        </p:nvSpPr>
        <p:spPr>
          <a:xfrm>
            <a:off x="274320" y="7315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Nubo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315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B5CFF"/>
                </a:solidFill>
              </a:rPr>
              <a:t>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731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E9DB4"/>
                </a:solidFill>
              </a:rPr>
              <a:t>· NuboShield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731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E5F72"/>
                </a:solidFill>
              </a:rPr>
              <a:t>Acme Technologies Ltd  · 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75488"/>
            <a:ext cx="9144000" cy="36576"/>
          </a:xfrm>
          <a:prstGeom prst="rect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987552"/>
            <a:ext cx="274320" cy="36576"/>
          </a:xfrm>
          <a:prstGeom prst="rect">
            <a:avLst/>
          </a:prstGeom>
          <a:solidFill>
            <a:srgbClr val="9B5CFF"/>
          </a:solidFill>
          <a:ln>
            <a:noFill/>
          </a:ln>
        </p:spPr>
      </p:sp>
      <p:sp>
        <p:nvSpPr>
          <p:cNvPr id="9" name="TextBox 8"/>
          <p:cNvSpPr txBox="1"/>
          <p:nvPr/>
        </p:nvSpPr>
        <p:spPr>
          <a:xfrm>
            <a:off x="365760" y="105156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Top 5 Priority 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5087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E9DB4"/>
                </a:solidFill>
              </a:rPr>
              <a:t>Start here. Highest impact on your score and risk posture.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874519"/>
            <a:ext cx="292608" cy="457200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12" name="TextBox 11"/>
          <p:cNvSpPr txBox="1"/>
          <p:nvPr/>
        </p:nvSpPr>
        <p:spPr>
          <a:xfrm>
            <a:off x="365760" y="1947672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11095"/>
            <a:ext cx="5943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Root account MFA disabled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130552"/>
            <a:ext cx="6858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9DB4"/>
                </a:solidFill>
              </a:rPr>
              <a:t>→ Enable MFA on root account — critical security baseline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1965960"/>
            <a:ext cx="1005840" cy="237744"/>
          </a:xfrm>
          <a:prstGeom prst="rect">
            <a:avLst/>
          </a:prstGeom>
          <a:noFill/>
          <a:solidFill>
            <a:srgbClr val="DC2626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CRITICAL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50591"/>
            <a:ext cx="292608" cy="457200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17" name="TextBox 16"/>
          <p:cNvSpPr txBox="1"/>
          <p:nvPr/>
        </p:nvSpPr>
        <p:spPr>
          <a:xfrm>
            <a:off x="365760" y="2523744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487168"/>
            <a:ext cx="5943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All traffic open to internet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2706624"/>
            <a:ext cx="6858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9DB4"/>
                </a:solidFill>
              </a:rPr>
              <a:t>→ Immediately restrict inbound rules to known IPs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2542032"/>
            <a:ext cx="1005840" cy="237744"/>
          </a:xfrm>
          <a:prstGeom prst="rect">
            <a:avLst/>
          </a:prstGeom>
          <a:noFill/>
          <a:solidFill>
            <a:srgbClr val="DC2626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CRITICAL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026663"/>
            <a:ext cx="292608" cy="457200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22" name="TextBox 21"/>
          <p:cNvSpPr txBox="1"/>
          <p:nvPr/>
        </p:nvSpPr>
        <p:spPr>
          <a:xfrm>
            <a:off x="365760" y="3099815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063239"/>
            <a:ext cx="5943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Port 3389 (RDP) open to internet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282696"/>
            <a:ext cx="6858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9DB4"/>
                </a:solidFill>
              </a:rPr>
              <a:t>→ Restrict port 3389 to specific IP ranges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3118103"/>
            <a:ext cx="1005840" cy="237744"/>
          </a:xfrm>
          <a:prstGeom prst="rect">
            <a:avLst/>
          </a:prstGeom>
          <a:noFill/>
          <a:solidFill>
            <a:srgbClr val="DC2626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CRITICAL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602736"/>
            <a:ext cx="292608" cy="457200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27" name="TextBox 26"/>
          <p:cNvSpPr txBox="1"/>
          <p:nvPr/>
        </p:nvSpPr>
        <p:spPr>
          <a:xfrm>
            <a:off x="365760" y="3675887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639312"/>
            <a:ext cx="5943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Port 22 (SSH) open to internet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858768"/>
            <a:ext cx="6858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9DB4"/>
                </a:solidFill>
              </a:rPr>
              <a:t>→ Restrict port 22 to specific IP ranges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3694176"/>
            <a:ext cx="1005840" cy="237744"/>
          </a:xfrm>
          <a:prstGeom prst="rect">
            <a:avLst/>
          </a:prstGeom>
          <a:noFill/>
          <a:solidFill>
            <a:srgbClr val="DC2626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CRITICAL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178808"/>
            <a:ext cx="292608" cy="457200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32" name="TextBox 31"/>
          <p:cNvSpPr txBox="1"/>
          <p:nvPr/>
        </p:nvSpPr>
        <p:spPr>
          <a:xfrm>
            <a:off x="365760" y="4251960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215384"/>
            <a:ext cx="5943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Database publicly accessible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434840"/>
            <a:ext cx="6858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9DB4"/>
                </a:solidFill>
              </a:rPr>
              <a:t>→ Disable PubliclyAccessible and ensure DB is in private subnet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4270248"/>
            <a:ext cx="1005840" cy="237744"/>
          </a:xfrm>
          <a:prstGeom prst="rect">
            <a:avLst/>
          </a:prstGeom>
          <a:noFill/>
          <a:solidFill>
            <a:srgbClr val="DC2626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CRITICAL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1220"/>
          </a:solidFill>
          <a:ln>
            <a:noFill/>
          </a:ln>
        </p:spPr>
      </p:sp>
      <p:sp>
        <p:nvSpPr>
          <p:cNvPr id="3" name="TextBox 2"/>
          <p:cNvSpPr txBox="1"/>
          <p:nvPr/>
        </p:nvSpPr>
        <p:spPr>
          <a:xfrm>
            <a:off x="274320" y="7315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Nubo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315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B5CFF"/>
                </a:solidFill>
              </a:rPr>
              <a:t>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731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E9DB4"/>
                </a:solidFill>
              </a:rPr>
              <a:t>· NuboShield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731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E5F72"/>
                </a:solidFill>
              </a:rPr>
              <a:t>Acme Technologies Ltd  · 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75488"/>
            <a:ext cx="9144000" cy="36576"/>
          </a:xfrm>
          <a:prstGeom prst="rect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987552"/>
            <a:ext cx="274320" cy="36576"/>
          </a:xfrm>
          <a:prstGeom prst="rect">
            <a:avLst/>
          </a:prstGeom>
          <a:solidFill>
            <a:srgbClr val="9B5CFF"/>
          </a:solidFill>
          <a:ln>
            <a:noFill/>
          </a:ln>
        </p:spPr>
      </p:sp>
      <p:sp>
        <p:nvSpPr>
          <p:cNvPr id="9" name="TextBox 8"/>
          <p:cNvSpPr txBox="1"/>
          <p:nvPr/>
        </p:nvSpPr>
        <p:spPr>
          <a:xfrm>
            <a:off x="365760" y="105156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Category Scorecard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5087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E9DB4"/>
                </a:solidFill>
              </a:rPr>
              <a:t>Score breakdown across all domains.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920240"/>
            <a:ext cx="2743200" cy="822960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12" name="TextBox 11"/>
          <p:cNvSpPr txBox="1"/>
          <p:nvPr/>
        </p:nvSpPr>
        <p:spPr>
          <a:xfrm>
            <a:off x="457200" y="197510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IAM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304288"/>
            <a:ext cx="1828800" cy="91440"/>
          </a:xfrm>
          <a:prstGeom prst="rect">
            <a:avLst/>
          </a:prstGeom>
          <a:solidFill>
            <a:srgbClr val="0C1220"/>
          </a:solidFill>
          <a:ln>
            <a:noFill/>
          </a:ln>
        </p:spPr>
      </p:sp>
      <p:sp>
        <p:nvSpPr>
          <p:cNvPr id="14" name="Rectangle 13"/>
          <p:cNvSpPr/>
          <p:nvPr/>
        </p:nvSpPr>
        <p:spPr>
          <a:xfrm>
            <a:off x="457200" y="2304288"/>
            <a:ext cx="457200" cy="91440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15" name="TextBox 14"/>
          <p:cNvSpPr txBox="1"/>
          <p:nvPr/>
        </p:nvSpPr>
        <p:spPr>
          <a:xfrm>
            <a:off x="2331720" y="2194560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DC2626"/>
                </a:solidFill>
              </a:rPr>
              <a:t>25%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1920240"/>
            <a:ext cx="2743200" cy="822960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17" name="TextBox 16"/>
          <p:cNvSpPr txBox="1"/>
          <p:nvPr/>
        </p:nvSpPr>
        <p:spPr>
          <a:xfrm>
            <a:off x="3383280" y="197510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EC2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83280" y="2304288"/>
            <a:ext cx="1828800" cy="91440"/>
          </a:xfrm>
          <a:prstGeom prst="rect">
            <a:avLst/>
          </a:prstGeom>
          <a:solidFill>
            <a:srgbClr val="0C1220"/>
          </a:solidFill>
          <a:ln>
            <a:noFill/>
          </a:ln>
        </p:spPr>
      </p:sp>
      <p:sp>
        <p:nvSpPr>
          <p:cNvPr id="19" name="TextBox 18"/>
          <p:cNvSpPr txBox="1"/>
          <p:nvPr/>
        </p:nvSpPr>
        <p:spPr>
          <a:xfrm>
            <a:off x="5257800" y="2194560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DC2626"/>
                </a:solidFill>
              </a:rPr>
              <a:t>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1920240"/>
            <a:ext cx="2743200" cy="822960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21" name="TextBox 20"/>
          <p:cNvSpPr txBox="1"/>
          <p:nvPr/>
        </p:nvSpPr>
        <p:spPr>
          <a:xfrm>
            <a:off x="6309360" y="197510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2304288"/>
            <a:ext cx="1828800" cy="91440"/>
          </a:xfrm>
          <a:prstGeom prst="rect">
            <a:avLst/>
          </a:prstGeom>
          <a:solidFill>
            <a:srgbClr val="0C1220"/>
          </a:solidFill>
          <a:ln>
            <a:noFill/>
          </a:ln>
        </p:spPr>
      </p:sp>
      <p:sp>
        <p:nvSpPr>
          <p:cNvPr id="23" name="Rectangle 22"/>
          <p:cNvSpPr/>
          <p:nvPr/>
        </p:nvSpPr>
        <p:spPr>
          <a:xfrm>
            <a:off x="6309360" y="2304288"/>
            <a:ext cx="1097280" cy="91440"/>
          </a:xfrm>
          <a:prstGeom prst="rect">
            <a:avLst/>
          </a:prstGeom>
          <a:solidFill>
            <a:srgbClr val="D97706"/>
          </a:solidFill>
          <a:ln>
            <a:noFill/>
          </a:ln>
        </p:spPr>
      </p:sp>
      <p:sp>
        <p:nvSpPr>
          <p:cNvPr id="24" name="TextBox 23"/>
          <p:cNvSpPr txBox="1"/>
          <p:nvPr/>
        </p:nvSpPr>
        <p:spPr>
          <a:xfrm>
            <a:off x="8183880" y="2194560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D97706"/>
                </a:solidFill>
              </a:rPr>
              <a:t>60%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880360"/>
            <a:ext cx="2743200" cy="822960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26" name="TextBox 25"/>
          <p:cNvSpPr txBox="1"/>
          <p:nvPr/>
        </p:nvSpPr>
        <p:spPr>
          <a:xfrm>
            <a:off x="457200" y="293522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264408"/>
            <a:ext cx="1828800" cy="91440"/>
          </a:xfrm>
          <a:prstGeom prst="rect">
            <a:avLst/>
          </a:prstGeom>
          <a:solidFill>
            <a:srgbClr val="0C1220"/>
          </a:solidFill>
          <a:ln>
            <a:noFill/>
          </a:ln>
        </p:spPr>
      </p:sp>
      <p:sp>
        <p:nvSpPr>
          <p:cNvPr id="28" name="Rectangle 27"/>
          <p:cNvSpPr/>
          <p:nvPr/>
        </p:nvSpPr>
        <p:spPr>
          <a:xfrm>
            <a:off x="457200" y="3264408"/>
            <a:ext cx="548640" cy="91440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29" name="TextBox 28"/>
          <p:cNvSpPr txBox="1"/>
          <p:nvPr/>
        </p:nvSpPr>
        <p:spPr>
          <a:xfrm>
            <a:off x="2331720" y="3154680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DC2626"/>
                </a:solidFill>
              </a:rPr>
              <a:t>30%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91840" y="2880360"/>
            <a:ext cx="2743200" cy="822960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31" name="TextBox 30"/>
          <p:cNvSpPr txBox="1"/>
          <p:nvPr/>
        </p:nvSpPr>
        <p:spPr>
          <a:xfrm>
            <a:off x="3383280" y="293522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CloudTrail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83280" y="3264408"/>
            <a:ext cx="1828800" cy="91440"/>
          </a:xfrm>
          <a:prstGeom prst="rect">
            <a:avLst/>
          </a:prstGeom>
          <a:solidFill>
            <a:srgbClr val="0C1220"/>
          </a:solidFill>
          <a:ln>
            <a:noFill/>
          </a:ln>
        </p:spPr>
      </p:sp>
      <p:sp>
        <p:nvSpPr>
          <p:cNvPr id="33" name="Rectangle 32"/>
          <p:cNvSpPr/>
          <p:nvPr/>
        </p:nvSpPr>
        <p:spPr>
          <a:xfrm>
            <a:off x="3383280" y="3264408"/>
            <a:ext cx="1371600" cy="91440"/>
          </a:xfrm>
          <a:prstGeom prst="rect">
            <a:avLst/>
          </a:prstGeom>
          <a:solidFill>
            <a:srgbClr val="16A34A"/>
          </a:solidFill>
          <a:ln>
            <a:noFill/>
          </a:ln>
        </p:spPr>
      </p:sp>
      <p:sp>
        <p:nvSpPr>
          <p:cNvPr id="34" name="TextBox 33"/>
          <p:cNvSpPr txBox="1"/>
          <p:nvPr/>
        </p:nvSpPr>
        <p:spPr>
          <a:xfrm>
            <a:off x="5257800" y="3154680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6A34A"/>
                </a:solidFill>
              </a:rPr>
              <a:t>75%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2880360"/>
            <a:ext cx="2743200" cy="822960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36" name="TextBox 35"/>
          <p:cNvSpPr txBox="1"/>
          <p:nvPr/>
        </p:nvSpPr>
        <p:spPr>
          <a:xfrm>
            <a:off x="6309360" y="293522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CloudWatch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3264408"/>
            <a:ext cx="1828800" cy="91440"/>
          </a:xfrm>
          <a:prstGeom prst="rect">
            <a:avLst/>
          </a:prstGeom>
          <a:solidFill>
            <a:srgbClr val="0C1220"/>
          </a:solidFill>
          <a:ln>
            <a:noFill/>
          </a:ln>
        </p:spPr>
      </p:sp>
      <p:sp>
        <p:nvSpPr>
          <p:cNvPr id="38" name="Rectangle 37"/>
          <p:cNvSpPr/>
          <p:nvPr/>
        </p:nvSpPr>
        <p:spPr>
          <a:xfrm>
            <a:off x="6309360" y="3264408"/>
            <a:ext cx="1554480" cy="91440"/>
          </a:xfrm>
          <a:prstGeom prst="rect">
            <a:avLst/>
          </a:prstGeom>
          <a:solidFill>
            <a:srgbClr val="16A34A"/>
          </a:solidFill>
          <a:ln>
            <a:noFill/>
          </a:ln>
        </p:spPr>
      </p:sp>
      <p:sp>
        <p:nvSpPr>
          <p:cNvPr id="39" name="TextBox 38"/>
          <p:cNvSpPr txBox="1"/>
          <p:nvPr/>
        </p:nvSpPr>
        <p:spPr>
          <a:xfrm>
            <a:off x="8183880" y="3154680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6A34A"/>
                </a:solidFill>
              </a:rPr>
              <a:t>85%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840480"/>
            <a:ext cx="2743200" cy="822960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41" name="TextBox 40"/>
          <p:cNvSpPr txBox="1"/>
          <p:nvPr/>
        </p:nvSpPr>
        <p:spPr>
          <a:xfrm>
            <a:off x="457200" y="38953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KMS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224528"/>
            <a:ext cx="1828800" cy="91440"/>
          </a:xfrm>
          <a:prstGeom prst="rect">
            <a:avLst/>
          </a:prstGeom>
          <a:solidFill>
            <a:srgbClr val="0C1220"/>
          </a:solidFill>
          <a:ln>
            <a:noFill/>
          </a:ln>
        </p:spPr>
      </p:sp>
      <p:sp>
        <p:nvSpPr>
          <p:cNvPr id="43" name="Rectangle 42"/>
          <p:cNvSpPr/>
          <p:nvPr/>
        </p:nvSpPr>
        <p:spPr>
          <a:xfrm>
            <a:off x="457200" y="4224528"/>
            <a:ext cx="1737360" cy="91440"/>
          </a:xfrm>
          <a:prstGeom prst="rect">
            <a:avLst/>
          </a:prstGeom>
          <a:solidFill>
            <a:srgbClr val="16A34A"/>
          </a:solidFill>
          <a:ln>
            <a:noFill/>
          </a:ln>
        </p:spPr>
      </p:sp>
      <p:sp>
        <p:nvSpPr>
          <p:cNvPr id="44" name="TextBox 43"/>
          <p:cNvSpPr txBox="1"/>
          <p:nvPr/>
        </p:nvSpPr>
        <p:spPr>
          <a:xfrm>
            <a:off x="2331720" y="4114800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6A34A"/>
                </a:solidFill>
              </a:rPr>
              <a:t>95%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91840" y="3840480"/>
            <a:ext cx="2743200" cy="822960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46" name="TextBox 45"/>
          <p:cNvSpPr txBox="1"/>
          <p:nvPr/>
        </p:nvSpPr>
        <p:spPr>
          <a:xfrm>
            <a:off x="3383280" y="38953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Config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83280" y="4224528"/>
            <a:ext cx="1828800" cy="91440"/>
          </a:xfrm>
          <a:prstGeom prst="rect">
            <a:avLst/>
          </a:prstGeom>
          <a:solidFill>
            <a:srgbClr val="0C1220"/>
          </a:solidFill>
          <a:ln>
            <a:noFill/>
          </a:ln>
        </p:spPr>
      </p:sp>
      <p:sp>
        <p:nvSpPr>
          <p:cNvPr id="48" name="Rectangle 47"/>
          <p:cNvSpPr/>
          <p:nvPr/>
        </p:nvSpPr>
        <p:spPr>
          <a:xfrm>
            <a:off x="3383280" y="4224528"/>
            <a:ext cx="1645920" cy="91440"/>
          </a:xfrm>
          <a:prstGeom prst="rect">
            <a:avLst/>
          </a:prstGeom>
          <a:solidFill>
            <a:srgbClr val="16A34A"/>
          </a:solidFill>
          <a:ln>
            <a:noFill/>
          </a:ln>
        </p:spPr>
      </p:sp>
      <p:sp>
        <p:nvSpPr>
          <p:cNvPr id="49" name="TextBox 48"/>
          <p:cNvSpPr txBox="1"/>
          <p:nvPr/>
        </p:nvSpPr>
        <p:spPr>
          <a:xfrm>
            <a:off x="5257800" y="4114800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6A34A"/>
                </a:solidFill>
              </a:rPr>
              <a:t>90%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17920" y="3840480"/>
            <a:ext cx="2743200" cy="822960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51" name="TextBox 50"/>
          <p:cNvSpPr txBox="1"/>
          <p:nvPr/>
        </p:nvSpPr>
        <p:spPr>
          <a:xfrm>
            <a:off x="6309360" y="38953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SecretsManager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09360" y="4224528"/>
            <a:ext cx="1828800" cy="91440"/>
          </a:xfrm>
          <a:prstGeom prst="rect">
            <a:avLst/>
          </a:prstGeom>
          <a:solidFill>
            <a:srgbClr val="0C1220"/>
          </a:solidFill>
          <a:ln>
            <a:noFill/>
          </a:ln>
        </p:spPr>
      </p:sp>
      <p:sp>
        <p:nvSpPr>
          <p:cNvPr id="53" name="Rectangle 52"/>
          <p:cNvSpPr/>
          <p:nvPr/>
        </p:nvSpPr>
        <p:spPr>
          <a:xfrm>
            <a:off x="6309360" y="4224528"/>
            <a:ext cx="1737360" cy="91440"/>
          </a:xfrm>
          <a:prstGeom prst="rect">
            <a:avLst/>
          </a:prstGeom>
          <a:solidFill>
            <a:srgbClr val="16A34A"/>
          </a:solidFill>
          <a:ln>
            <a:noFill/>
          </a:ln>
        </p:spPr>
      </p:sp>
      <p:sp>
        <p:nvSpPr>
          <p:cNvPr id="54" name="TextBox 53"/>
          <p:cNvSpPr txBox="1"/>
          <p:nvPr/>
        </p:nvSpPr>
        <p:spPr>
          <a:xfrm>
            <a:off x="8183880" y="4114800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6A34A"/>
                </a:solidFill>
              </a:rPr>
              <a:t>95%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1220"/>
          </a:solidFill>
          <a:ln>
            <a:noFill/>
          </a:ln>
        </p:spPr>
      </p:sp>
      <p:sp>
        <p:nvSpPr>
          <p:cNvPr id="3" name="TextBox 2"/>
          <p:cNvSpPr txBox="1"/>
          <p:nvPr/>
        </p:nvSpPr>
        <p:spPr>
          <a:xfrm>
            <a:off x="274320" y="7315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Nubo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315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B5CFF"/>
                </a:solidFill>
              </a:rPr>
              <a:t>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731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E9DB4"/>
                </a:solidFill>
              </a:rPr>
              <a:t>· NuboShield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731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E5F72"/>
                </a:solidFill>
              </a:rPr>
              <a:t>Acme Technologies Ltd  · 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75488"/>
            <a:ext cx="9144000" cy="36576"/>
          </a:xfrm>
          <a:prstGeom prst="rect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987552"/>
            <a:ext cx="274320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9" name="TextBox 8"/>
          <p:cNvSpPr txBox="1"/>
          <p:nvPr/>
        </p:nvSpPr>
        <p:spPr>
          <a:xfrm>
            <a:off x="365760" y="105156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Attack Path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5087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E9DB4"/>
                </a:solidFill>
              </a:rPr>
              <a:t>How an attacker exploits your specific findings — step by step.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920240"/>
            <a:ext cx="347472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12" name="TextBox 11"/>
          <p:cNvSpPr txBox="1"/>
          <p:nvPr/>
        </p:nvSpPr>
        <p:spPr>
          <a:xfrm>
            <a:off x="365760" y="1956816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938528"/>
            <a:ext cx="74980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EF2F8"/>
                </a:solidFill>
              </a:rPr>
              <a:t>Open ports found via external scan (SSH, RDP, databases)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194560"/>
            <a:ext cx="74980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9DB4"/>
                </a:solidFill>
              </a:rPr>
              <a:t>Security groups allow unrestricted inbound — found by bots within minutes.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" y="2304288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DC2626"/>
                </a:solidFill>
              </a:rPr>
              <a:t>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670048"/>
            <a:ext cx="347472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17" name="TextBox 16"/>
          <p:cNvSpPr txBox="1"/>
          <p:nvPr/>
        </p:nvSpPr>
        <p:spPr>
          <a:xfrm>
            <a:off x="365760" y="2706624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688336"/>
            <a:ext cx="74980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EF2F8"/>
                </a:solidFill>
              </a:rPr>
              <a:t>Credential attack succeeds — no MFA, weak passwords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2944368"/>
            <a:ext cx="74980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9DB4"/>
                </a:solidFill>
              </a:rPr>
              <a:t>Single-factor auth bypassed with leaked or brute-forced credentials.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3054096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DC2626"/>
                </a:solidFill>
              </a:rPr>
              <a:t>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419856"/>
            <a:ext cx="347472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22" name="TextBox 21"/>
          <p:cNvSpPr txBox="1"/>
          <p:nvPr/>
        </p:nvSpPr>
        <p:spPr>
          <a:xfrm>
            <a:off x="365760" y="3456432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438144"/>
            <a:ext cx="74980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EF2F8"/>
                </a:solidFill>
              </a:rPr>
              <a:t>Over-privileged IAM role used to escalate access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694176"/>
            <a:ext cx="74980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9DB4"/>
                </a:solidFill>
              </a:rPr>
              <a:t>AdministratorAccess attached directly — full account control achieved.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" y="3803904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DC2626"/>
                </a:solidFill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169664"/>
            <a:ext cx="347472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27" name="TextBox 26"/>
          <p:cNvSpPr txBox="1"/>
          <p:nvPr/>
        </p:nvSpPr>
        <p:spPr>
          <a:xfrm>
            <a:off x="365760" y="4206240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187952"/>
            <a:ext cx="74980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EF2F8"/>
                </a:solidFill>
              </a:rPr>
              <a:t>Data exfiltrated from unencrypted storage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443984"/>
            <a:ext cx="74980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9DB4"/>
                </a:solidFill>
              </a:rPr>
              <a:t>S3 buckets and RDS instances readable without decryption.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645152"/>
            <a:ext cx="8412480" cy="320040"/>
          </a:xfrm>
          <a:prstGeom prst="rect">
            <a:avLst/>
          </a:prstGeom>
          <a:solidFill>
            <a:srgbClr val="0A2A15"/>
          </a:solidFill>
          <a:ln>
            <a:noFill/>
          </a:ln>
        </p:spPr>
      </p:sp>
      <p:sp>
        <p:nvSpPr>
          <p:cNvPr id="31" name="TextBox 30"/>
          <p:cNvSpPr txBox="1"/>
          <p:nvPr/>
        </p:nvSpPr>
        <p:spPr>
          <a:xfrm>
            <a:off x="548640" y="46817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6A34A"/>
                </a:solidFill>
              </a:rPr>
              <a:t>✓  Fix any one step above and you break the entire attack chain.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1220"/>
          </a:solidFill>
          <a:ln>
            <a:noFill/>
          </a:ln>
        </p:spPr>
      </p:sp>
      <p:sp>
        <p:nvSpPr>
          <p:cNvPr id="3" name="TextBox 2"/>
          <p:cNvSpPr txBox="1"/>
          <p:nvPr/>
        </p:nvSpPr>
        <p:spPr>
          <a:xfrm>
            <a:off x="274320" y="7315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Nubo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315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B5CFF"/>
                </a:solidFill>
              </a:rPr>
              <a:t>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731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E9DB4"/>
                </a:solidFill>
              </a:rPr>
              <a:t>· NuboShield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731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E5F72"/>
                </a:solidFill>
              </a:rPr>
              <a:t>Acme Technologies Ltd  · 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75488"/>
            <a:ext cx="9144000" cy="36576"/>
          </a:xfrm>
          <a:prstGeom prst="rect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987552"/>
            <a:ext cx="274320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9" name="TextBox 8"/>
          <p:cNvSpPr txBox="1"/>
          <p:nvPr/>
        </p:nvSpPr>
        <p:spPr>
          <a:xfrm>
            <a:off x="365760" y="1051560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DC2626"/>
                </a:solidFill>
              </a:rPr>
              <a:t>Critical Findings (7)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4630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E9DB4"/>
                </a:solidFill>
              </a:rPr>
              <a:t>Immediate action required.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828800"/>
            <a:ext cx="8412480" cy="1078992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12" name="Rectangle 11"/>
          <p:cNvSpPr/>
          <p:nvPr/>
        </p:nvSpPr>
        <p:spPr>
          <a:xfrm>
            <a:off x="365760" y="1828800"/>
            <a:ext cx="64008" cy="1078992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13" name="TextBox 12"/>
          <p:cNvSpPr txBox="1"/>
          <p:nvPr/>
        </p:nvSpPr>
        <p:spPr>
          <a:xfrm>
            <a:off x="566928" y="1901952"/>
            <a:ext cx="1097280" cy="219456"/>
          </a:xfrm>
          <a:prstGeom prst="rect">
            <a:avLst/>
          </a:prstGeom>
          <a:noFill/>
          <a:solidFill>
            <a:srgbClr val="DC2626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CRITICAL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1368" y="1883664"/>
            <a:ext cx="6537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Root account MFA disabled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157984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9DB4"/>
                </a:solidFill>
              </a:rPr>
              <a:t>AWS master account has no second factor. Anyone with the password has complete control.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523744"/>
            <a:ext cx="7955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6A34A"/>
                </a:solidFill>
              </a:rPr>
              <a:t>→ Enable MFA on root account — critical security baseline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08960"/>
            <a:ext cx="8412480" cy="1078992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18" name="Rectangle 17"/>
          <p:cNvSpPr/>
          <p:nvPr/>
        </p:nvSpPr>
        <p:spPr>
          <a:xfrm>
            <a:off x="365760" y="3108960"/>
            <a:ext cx="64008" cy="1078992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19" name="TextBox 18"/>
          <p:cNvSpPr txBox="1"/>
          <p:nvPr/>
        </p:nvSpPr>
        <p:spPr>
          <a:xfrm>
            <a:off x="566928" y="3182112"/>
            <a:ext cx="1097280" cy="219456"/>
          </a:xfrm>
          <a:prstGeom prst="rect">
            <a:avLst/>
          </a:prstGeom>
          <a:noFill/>
          <a:solidFill>
            <a:srgbClr val="DC2626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CRITICAL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1368" y="3163824"/>
            <a:ext cx="6537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All traffic open to internet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438144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9DB4"/>
                </a:solidFill>
              </a:rPr>
              <a:t>This finding requires immediate attention. Review the affected resource and apply the recommended fix below.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803904"/>
            <a:ext cx="7955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6A34A"/>
                </a:solidFill>
              </a:rPr>
              <a:t>→ Immediately restrict inbound rules to known IPs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1220"/>
          </a:solidFill>
          <a:ln>
            <a:noFill/>
          </a:ln>
        </p:spPr>
      </p:sp>
      <p:sp>
        <p:nvSpPr>
          <p:cNvPr id="3" name="TextBox 2"/>
          <p:cNvSpPr txBox="1"/>
          <p:nvPr/>
        </p:nvSpPr>
        <p:spPr>
          <a:xfrm>
            <a:off x="274320" y="7315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Nubo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315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B5CFF"/>
                </a:solidFill>
              </a:rPr>
              <a:t>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731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E9DB4"/>
                </a:solidFill>
              </a:rPr>
              <a:t>· NuboShield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731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E5F72"/>
                </a:solidFill>
              </a:rPr>
              <a:t>Acme Technologies Ltd  · 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75488"/>
            <a:ext cx="9144000" cy="36576"/>
          </a:xfrm>
          <a:prstGeom prst="rect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987552"/>
            <a:ext cx="274320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9" name="TextBox 8"/>
          <p:cNvSpPr txBox="1"/>
          <p:nvPr/>
        </p:nvSpPr>
        <p:spPr>
          <a:xfrm>
            <a:off x="365760" y="1051560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DC2626"/>
                </a:solidFill>
              </a:rPr>
              <a:t>Critical Findings (cont.)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4630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E9DB4"/>
                </a:solidFill>
              </a:rPr>
              <a:t>Immediate action required.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828800"/>
            <a:ext cx="8412480" cy="1078992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12" name="Rectangle 11"/>
          <p:cNvSpPr/>
          <p:nvPr/>
        </p:nvSpPr>
        <p:spPr>
          <a:xfrm>
            <a:off x="365760" y="1828800"/>
            <a:ext cx="64008" cy="1078992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13" name="TextBox 12"/>
          <p:cNvSpPr txBox="1"/>
          <p:nvPr/>
        </p:nvSpPr>
        <p:spPr>
          <a:xfrm>
            <a:off x="566928" y="1901952"/>
            <a:ext cx="1097280" cy="219456"/>
          </a:xfrm>
          <a:prstGeom prst="rect">
            <a:avLst/>
          </a:prstGeom>
          <a:noFill/>
          <a:solidFill>
            <a:srgbClr val="DC2626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CRITICAL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1368" y="1883664"/>
            <a:ext cx="6537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Port 3389 (RDP) open to internet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157984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9DB4"/>
                </a:solidFill>
              </a:rPr>
              <a:t>This finding requires immediate attention. Review the affected resource and apply the recommended fix below.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523744"/>
            <a:ext cx="7955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6A34A"/>
                </a:solidFill>
              </a:rPr>
              <a:t>→ Restrict port 3389 to specific IP ranges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08960"/>
            <a:ext cx="8412480" cy="1078992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18" name="Rectangle 17"/>
          <p:cNvSpPr/>
          <p:nvPr/>
        </p:nvSpPr>
        <p:spPr>
          <a:xfrm>
            <a:off x="365760" y="3108960"/>
            <a:ext cx="64008" cy="1078992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19" name="TextBox 18"/>
          <p:cNvSpPr txBox="1"/>
          <p:nvPr/>
        </p:nvSpPr>
        <p:spPr>
          <a:xfrm>
            <a:off x="566928" y="3182112"/>
            <a:ext cx="1097280" cy="219456"/>
          </a:xfrm>
          <a:prstGeom prst="rect">
            <a:avLst/>
          </a:prstGeom>
          <a:noFill/>
          <a:solidFill>
            <a:srgbClr val="DC2626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CRITICAL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1368" y="3163824"/>
            <a:ext cx="6537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Port 22 (SSH) open to internet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438144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9DB4"/>
                </a:solidFill>
              </a:rPr>
              <a:t>This finding requires immediate attention. Review the affected resource and apply the recommended fix below.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803904"/>
            <a:ext cx="7955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6A34A"/>
                </a:solidFill>
              </a:rPr>
              <a:t>→ Restrict port 22 to specific IP ranges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1220"/>
          </a:solidFill>
          <a:ln>
            <a:noFill/>
          </a:ln>
        </p:spPr>
      </p:sp>
      <p:sp>
        <p:nvSpPr>
          <p:cNvPr id="3" name="TextBox 2"/>
          <p:cNvSpPr txBox="1"/>
          <p:nvPr/>
        </p:nvSpPr>
        <p:spPr>
          <a:xfrm>
            <a:off x="274320" y="7315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Nubo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315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B5CFF"/>
                </a:solidFill>
              </a:rPr>
              <a:t>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731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E9DB4"/>
                </a:solidFill>
              </a:rPr>
              <a:t>· NuboShield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731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E5F72"/>
                </a:solidFill>
              </a:rPr>
              <a:t>Acme Technologies Ltd  · 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75488"/>
            <a:ext cx="9144000" cy="36576"/>
          </a:xfrm>
          <a:prstGeom prst="rect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987552"/>
            <a:ext cx="274320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9" name="TextBox 8"/>
          <p:cNvSpPr txBox="1"/>
          <p:nvPr/>
        </p:nvSpPr>
        <p:spPr>
          <a:xfrm>
            <a:off x="365760" y="1051560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DC2626"/>
                </a:solidFill>
              </a:rPr>
              <a:t>Critical Findings (cont.)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4630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E9DB4"/>
                </a:solidFill>
              </a:rPr>
              <a:t>Immediate action required.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828800"/>
            <a:ext cx="8412480" cy="1078992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12" name="Rectangle 11"/>
          <p:cNvSpPr/>
          <p:nvPr/>
        </p:nvSpPr>
        <p:spPr>
          <a:xfrm>
            <a:off x="365760" y="1828800"/>
            <a:ext cx="64008" cy="1078992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13" name="TextBox 12"/>
          <p:cNvSpPr txBox="1"/>
          <p:nvPr/>
        </p:nvSpPr>
        <p:spPr>
          <a:xfrm>
            <a:off x="566928" y="1901952"/>
            <a:ext cx="1097280" cy="219456"/>
          </a:xfrm>
          <a:prstGeom prst="rect">
            <a:avLst/>
          </a:prstGeom>
          <a:noFill/>
          <a:solidFill>
            <a:srgbClr val="DC2626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CRITICAL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1368" y="1883664"/>
            <a:ext cx="6537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Database publicly accessible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157984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9DB4"/>
                </a:solidFill>
              </a:rPr>
              <a:t>Database directly reachable from the internet.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523744"/>
            <a:ext cx="7955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6A34A"/>
                </a:solidFill>
              </a:rPr>
              <a:t>→ Disable PubliclyAccessible and ensure DB is in private subnet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08960"/>
            <a:ext cx="8412480" cy="1078992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18" name="Rectangle 17"/>
          <p:cNvSpPr/>
          <p:nvPr/>
        </p:nvSpPr>
        <p:spPr>
          <a:xfrm>
            <a:off x="365760" y="3108960"/>
            <a:ext cx="64008" cy="1078992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19" name="TextBox 18"/>
          <p:cNvSpPr txBox="1"/>
          <p:nvPr/>
        </p:nvSpPr>
        <p:spPr>
          <a:xfrm>
            <a:off x="566928" y="3182112"/>
            <a:ext cx="1097280" cy="219456"/>
          </a:xfrm>
          <a:prstGeom prst="rect">
            <a:avLst/>
          </a:prstGeom>
          <a:noFill/>
          <a:solidFill>
            <a:srgbClr val="DC2626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CRITICAL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1368" y="3163824"/>
            <a:ext cx="6537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Automated backups disabled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438144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9DB4"/>
                </a:solidFill>
              </a:rPr>
              <a:t>If database fails, data is permanently lost.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803904"/>
            <a:ext cx="7955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6A34A"/>
                </a:solidFill>
              </a:rPr>
              <a:t>→ Enable automated backups with at least 7-day retention period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1220"/>
          </a:solidFill>
          <a:ln>
            <a:noFill/>
          </a:ln>
        </p:spPr>
      </p:sp>
      <p:sp>
        <p:nvSpPr>
          <p:cNvPr id="3" name="TextBox 2"/>
          <p:cNvSpPr txBox="1"/>
          <p:nvPr/>
        </p:nvSpPr>
        <p:spPr>
          <a:xfrm>
            <a:off x="274320" y="7315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Nubo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315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B5CFF"/>
                </a:solidFill>
              </a:rPr>
              <a:t>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731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E9DB4"/>
                </a:solidFill>
              </a:rPr>
              <a:t>· NuboShield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731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E5F72"/>
                </a:solidFill>
              </a:rPr>
              <a:t>Acme Technologies Ltd  · 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75488"/>
            <a:ext cx="9144000" cy="36576"/>
          </a:xfrm>
          <a:prstGeom prst="rect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987552"/>
            <a:ext cx="274320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</p:sp>
      <p:sp>
        <p:nvSpPr>
          <p:cNvPr id="9" name="TextBox 8"/>
          <p:cNvSpPr txBox="1"/>
          <p:nvPr/>
        </p:nvSpPr>
        <p:spPr>
          <a:xfrm>
            <a:off x="365760" y="1051560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D97706"/>
                </a:solidFill>
              </a:rPr>
              <a:t>High Findings (14)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4630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E9DB4"/>
                </a:solidFill>
              </a:rPr>
              <a:t>Address within 48 hours.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828800"/>
            <a:ext cx="8412480" cy="1078992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12" name="Rectangle 11"/>
          <p:cNvSpPr/>
          <p:nvPr/>
        </p:nvSpPr>
        <p:spPr>
          <a:xfrm>
            <a:off x="365760" y="1828800"/>
            <a:ext cx="64008" cy="1078992"/>
          </a:xfrm>
          <a:prstGeom prst="rect">
            <a:avLst/>
          </a:prstGeom>
          <a:solidFill>
            <a:srgbClr val="D97706"/>
          </a:solidFill>
          <a:ln>
            <a:noFill/>
          </a:ln>
        </p:spPr>
      </p:sp>
      <p:sp>
        <p:nvSpPr>
          <p:cNvPr id="13" name="TextBox 12"/>
          <p:cNvSpPr txBox="1"/>
          <p:nvPr/>
        </p:nvSpPr>
        <p:spPr>
          <a:xfrm>
            <a:off x="566928" y="1901952"/>
            <a:ext cx="1097280" cy="219456"/>
          </a:xfrm>
          <a:prstGeom prst="rect">
            <a:avLst/>
          </a:prstGeom>
          <a:noFill/>
          <a:solidFill>
            <a:srgbClr val="D97706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1368" y="1883664"/>
            <a:ext cx="6537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No password policy 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157984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9DB4"/>
                </a:solidFill>
              </a:rPr>
              <a:t>This finding requires immediate attention. Review the affected resource and apply the recommended fix below.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523744"/>
            <a:ext cx="7955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6A34A"/>
                </a:solidFill>
              </a:rPr>
              <a:t>→ Configure account password policy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08960"/>
            <a:ext cx="8412480" cy="1078992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18" name="Rectangle 17"/>
          <p:cNvSpPr/>
          <p:nvPr/>
        </p:nvSpPr>
        <p:spPr>
          <a:xfrm>
            <a:off x="365760" y="3108960"/>
            <a:ext cx="64008" cy="1078992"/>
          </a:xfrm>
          <a:prstGeom prst="rect">
            <a:avLst/>
          </a:prstGeom>
          <a:solidFill>
            <a:srgbClr val="D97706"/>
          </a:solidFill>
          <a:ln>
            <a:noFill/>
          </a:ln>
        </p:spPr>
      </p:sp>
      <p:sp>
        <p:nvSpPr>
          <p:cNvPr id="19" name="TextBox 18"/>
          <p:cNvSpPr txBox="1"/>
          <p:nvPr/>
        </p:nvSpPr>
        <p:spPr>
          <a:xfrm>
            <a:off x="566928" y="3182112"/>
            <a:ext cx="1097280" cy="219456"/>
          </a:xfrm>
          <a:prstGeom prst="rect">
            <a:avLst/>
          </a:prstGeom>
          <a:noFill/>
          <a:solidFill>
            <a:srgbClr val="D97706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1368" y="3163824"/>
            <a:ext cx="6537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Console user without MFA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438144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9DB4"/>
                </a:solidFill>
              </a:rPr>
              <a:t>One stolen password gives immediate full access.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803904"/>
            <a:ext cx="7955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6A34A"/>
                </a:solidFill>
              </a:rPr>
              <a:t>→ Enable MFA immediately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1220"/>
          </a:solidFill>
          <a:ln>
            <a:noFill/>
          </a:ln>
        </p:spPr>
      </p:sp>
      <p:sp>
        <p:nvSpPr>
          <p:cNvPr id="3" name="TextBox 2"/>
          <p:cNvSpPr txBox="1"/>
          <p:nvPr/>
        </p:nvSpPr>
        <p:spPr>
          <a:xfrm>
            <a:off x="274320" y="7315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Nubo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315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B5CFF"/>
                </a:solidFill>
              </a:rPr>
              <a:t>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731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E9DB4"/>
                </a:solidFill>
              </a:rPr>
              <a:t>· NuboShield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731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E5F72"/>
                </a:solidFill>
              </a:rPr>
              <a:t>Acme Technologies Ltd  · 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75488"/>
            <a:ext cx="9144000" cy="36576"/>
          </a:xfrm>
          <a:prstGeom prst="rect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987552"/>
            <a:ext cx="274320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</p:sp>
      <p:sp>
        <p:nvSpPr>
          <p:cNvPr id="9" name="TextBox 8"/>
          <p:cNvSpPr txBox="1"/>
          <p:nvPr/>
        </p:nvSpPr>
        <p:spPr>
          <a:xfrm>
            <a:off x="365760" y="1051560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D97706"/>
                </a:solidFill>
              </a:rPr>
              <a:t>High Findings (cont.)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4630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E9DB4"/>
                </a:solidFill>
              </a:rPr>
              <a:t>Address within 48 hours.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828800"/>
            <a:ext cx="8412480" cy="1078992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12" name="Rectangle 11"/>
          <p:cNvSpPr/>
          <p:nvPr/>
        </p:nvSpPr>
        <p:spPr>
          <a:xfrm>
            <a:off x="365760" y="1828800"/>
            <a:ext cx="64008" cy="1078992"/>
          </a:xfrm>
          <a:prstGeom prst="rect">
            <a:avLst/>
          </a:prstGeom>
          <a:solidFill>
            <a:srgbClr val="D97706"/>
          </a:solidFill>
          <a:ln>
            <a:noFill/>
          </a:ln>
        </p:spPr>
      </p:sp>
      <p:sp>
        <p:nvSpPr>
          <p:cNvPr id="13" name="TextBox 12"/>
          <p:cNvSpPr txBox="1"/>
          <p:nvPr/>
        </p:nvSpPr>
        <p:spPr>
          <a:xfrm>
            <a:off x="566928" y="1901952"/>
            <a:ext cx="1097280" cy="219456"/>
          </a:xfrm>
          <a:prstGeom prst="rect">
            <a:avLst/>
          </a:prstGeom>
          <a:noFill/>
          <a:solidFill>
            <a:srgbClr val="D97706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1368" y="1883664"/>
            <a:ext cx="6537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AdministratorAccess directly attached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157984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9DB4"/>
                </a:solidFill>
              </a:rPr>
              <a:t>Full AWS access — delete databases, create backdoors, exfiltrate everything.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523744"/>
            <a:ext cx="7955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6A34A"/>
                </a:solidFill>
              </a:rPr>
              <a:t>→ Replace with role-based access and least privilege policies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08960"/>
            <a:ext cx="8412480" cy="1078992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18" name="Rectangle 17"/>
          <p:cNvSpPr/>
          <p:nvPr/>
        </p:nvSpPr>
        <p:spPr>
          <a:xfrm>
            <a:off x="365760" y="3108960"/>
            <a:ext cx="64008" cy="1078992"/>
          </a:xfrm>
          <a:prstGeom prst="rect">
            <a:avLst/>
          </a:prstGeom>
          <a:solidFill>
            <a:srgbClr val="D97706"/>
          </a:solidFill>
          <a:ln>
            <a:noFill/>
          </a:ln>
        </p:spPr>
      </p:sp>
      <p:sp>
        <p:nvSpPr>
          <p:cNvPr id="19" name="TextBox 18"/>
          <p:cNvSpPr txBox="1"/>
          <p:nvPr/>
        </p:nvSpPr>
        <p:spPr>
          <a:xfrm>
            <a:off x="566928" y="3182112"/>
            <a:ext cx="1097280" cy="219456"/>
          </a:xfrm>
          <a:prstGeom prst="rect">
            <a:avLst/>
          </a:prstGeom>
          <a:noFill/>
          <a:solidFill>
            <a:srgbClr val="D97706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1368" y="3163824"/>
            <a:ext cx="6537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AdministratorAccess directly attached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438144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9DB4"/>
                </a:solidFill>
              </a:rPr>
              <a:t>Full AWS access — delete databases, create backdoors, exfiltrate everything.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803904"/>
            <a:ext cx="7955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6A34A"/>
                </a:solidFill>
              </a:rPr>
              <a:t>→ Replace with role-based access and least privilege policies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1220"/>
          </a:solidFill>
          <a:ln>
            <a:noFill/>
          </a:ln>
        </p:spPr>
      </p:sp>
      <p:sp>
        <p:nvSpPr>
          <p:cNvPr id="3" name="TextBox 2"/>
          <p:cNvSpPr txBox="1"/>
          <p:nvPr/>
        </p:nvSpPr>
        <p:spPr>
          <a:xfrm>
            <a:off x="274320" y="7315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Nubo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315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B5CFF"/>
                </a:solidFill>
              </a:rPr>
              <a:t>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731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E9DB4"/>
                </a:solidFill>
              </a:rPr>
              <a:t>· NuboShield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731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E5F72"/>
                </a:solidFill>
              </a:rPr>
              <a:t>Acme Technologies Ltd  · 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75488"/>
            <a:ext cx="9144000" cy="36576"/>
          </a:xfrm>
          <a:prstGeom prst="rect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987552"/>
            <a:ext cx="274320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</p:sp>
      <p:sp>
        <p:nvSpPr>
          <p:cNvPr id="9" name="TextBox 8"/>
          <p:cNvSpPr txBox="1"/>
          <p:nvPr/>
        </p:nvSpPr>
        <p:spPr>
          <a:xfrm>
            <a:off x="365760" y="1051560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D97706"/>
                </a:solidFill>
              </a:rPr>
              <a:t>High Findings (cont.)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4630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E9DB4"/>
                </a:solidFill>
              </a:rPr>
              <a:t>Address within 48 hours.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828800"/>
            <a:ext cx="8412480" cy="1078992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12" name="Rectangle 11"/>
          <p:cNvSpPr/>
          <p:nvPr/>
        </p:nvSpPr>
        <p:spPr>
          <a:xfrm>
            <a:off x="365760" y="1828800"/>
            <a:ext cx="64008" cy="1078992"/>
          </a:xfrm>
          <a:prstGeom prst="rect">
            <a:avLst/>
          </a:prstGeom>
          <a:solidFill>
            <a:srgbClr val="D97706"/>
          </a:solidFill>
          <a:ln>
            <a:noFill/>
          </a:ln>
        </p:spPr>
      </p:sp>
      <p:sp>
        <p:nvSpPr>
          <p:cNvPr id="13" name="TextBox 12"/>
          <p:cNvSpPr txBox="1"/>
          <p:nvPr/>
        </p:nvSpPr>
        <p:spPr>
          <a:xfrm>
            <a:off x="566928" y="1901952"/>
            <a:ext cx="1097280" cy="219456"/>
          </a:xfrm>
          <a:prstGeom prst="rect">
            <a:avLst/>
          </a:prstGeom>
          <a:noFill/>
          <a:solidFill>
            <a:srgbClr val="D97706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1368" y="1883664"/>
            <a:ext cx="6537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Wildcard Allow *:* policy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157984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9DB4"/>
                </a:solidFill>
              </a:rPr>
              <a:t>This finding requires immediate attention. Review the affected resource and apply the recommended fix below.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523744"/>
            <a:ext cx="7955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6A34A"/>
                </a:solidFill>
              </a:rPr>
              <a:t>→ Scope permissions to specific actions and resources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08960"/>
            <a:ext cx="8412480" cy="1078992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18" name="Rectangle 17"/>
          <p:cNvSpPr/>
          <p:nvPr/>
        </p:nvSpPr>
        <p:spPr>
          <a:xfrm>
            <a:off x="365760" y="3108960"/>
            <a:ext cx="64008" cy="1078992"/>
          </a:xfrm>
          <a:prstGeom prst="rect">
            <a:avLst/>
          </a:prstGeom>
          <a:solidFill>
            <a:srgbClr val="D97706"/>
          </a:solidFill>
          <a:ln>
            <a:noFill/>
          </a:ln>
        </p:spPr>
      </p:sp>
      <p:sp>
        <p:nvSpPr>
          <p:cNvPr id="19" name="TextBox 18"/>
          <p:cNvSpPr txBox="1"/>
          <p:nvPr/>
        </p:nvSpPr>
        <p:spPr>
          <a:xfrm>
            <a:off x="566928" y="3182112"/>
            <a:ext cx="1097280" cy="219456"/>
          </a:xfrm>
          <a:prstGeom prst="rect">
            <a:avLst/>
          </a:prstGeom>
          <a:noFill/>
          <a:solidFill>
            <a:srgbClr val="D97706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1368" y="3163824"/>
            <a:ext cx="6537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Port 5432 (PostgreSQL) open to internet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438144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9DB4"/>
                </a:solidFill>
              </a:rPr>
              <a:t>This finding requires immediate attention. Review the affected resource and apply the recommended fix below.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803904"/>
            <a:ext cx="7955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6A34A"/>
                </a:solidFill>
              </a:rPr>
              <a:t>→ Restrict port 5432 to specific IP ranges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1220"/>
          </a:solidFill>
          <a:ln>
            <a:noFill/>
          </a:ln>
        </p:spPr>
      </p:sp>
      <p:sp>
        <p:nvSpPr>
          <p:cNvPr id="3" name="TextBox 2"/>
          <p:cNvSpPr txBox="1"/>
          <p:nvPr/>
        </p:nvSpPr>
        <p:spPr>
          <a:xfrm>
            <a:off x="274320" y="7315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Nubo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315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B5CFF"/>
                </a:solidFill>
              </a:rPr>
              <a:t>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731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E9DB4"/>
                </a:solidFill>
              </a:rPr>
              <a:t>· NuboShield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731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E5F72"/>
                </a:solidFill>
              </a:rPr>
              <a:t>Acme Technologies Ltd  · 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75488"/>
            <a:ext cx="9144000" cy="36576"/>
          </a:xfrm>
          <a:prstGeom prst="rect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987552"/>
            <a:ext cx="27432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9" name="TextBox 8"/>
          <p:cNvSpPr txBox="1"/>
          <p:nvPr/>
        </p:nvSpPr>
        <p:spPr>
          <a:xfrm>
            <a:off x="365760" y="1051560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563EB"/>
                </a:solidFill>
              </a:rPr>
              <a:t>Medium Findings (17)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4630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E9DB4"/>
                </a:solidFill>
              </a:rPr>
              <a:t>Address within 2 weeks.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828800"/>
            <a:ext cx="8412480" cy="1078992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12" name="Rectangle 11"/>
          <p:cNvSpPr/>
          <p:nvPr/>
        </p:nvSpPr>
        <p:spPr>
          <a:xfrm>
            <a:off x="365760" y="1828800"/>
            <a:ext cx="64008" cy="1078992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13" name="TextBox 12"/>
          <p:cNvSpPr txBox="1"/>
          <p:nvPr/>
        </p:nvSpPr>
        <p:spPr>
          <a:xfrm>
            <a:off x="566928" y="1901952"/>
            <a:ext cx="1097280" cy="219456"/>
          </a:xfrm>
          <a:prstGeom prst="rect">
            <a:avLst/>
          </a:prstGeom>
          <a:noFill/>
          <a:solidFill>
            <a:srgbClr val="2563EB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MEDIUM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1368" y="1883664"/>
            <a:ext cx="6537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Instances running in default VPC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157984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9DB4"/>
                </a:solidFill>
              </a:rPr>
              <a:t>This finding requires immediate attention. Review the affected resource and apply the recommended fix below.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523744"/>
            <a:ext cx="7955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6A34A"/>
                </a:solidFill>
              </a:rPr>
              <a:t>→ Create custom VPC with private/public subnets and migrate instances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08960"/>
            <a:ext cx="8412480" cy="1078992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18" name="Rectangle 17"/>
          <p:cNvSpPr/>
          <p:nvPr/>
        </p:nvSpPr>
        <p:spPr>
          <a:xfrm>
            <a:off x="365760" y="3108960"/>
            <a:ext cx="64008" cy="1078992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19" name="TextBox 18"/>
          <p:cNvSpPr txBox="1"/>
          <p:nvPr/>
        </p:nvSpPr>
        <p:spPr>
          <a:xfrm>
            <a:off x="566928" y="3182112"/>
            <a:ext cx="1097280" cy="219456"/>
          </a:xfrm>
          <a:prstGeom prst="rect">
            <a:avLst/>
          </a:prstGeom>
          <a:noFill/>
          <a:solidFill>
            <a:srgbClr val="2563EB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MEDIUM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1368" y="3163824"/>
            <a:ext cx="6537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VPC flow logs disabled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438144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9DB4"/>
                </a:solidFill>
              </a:rPr>
              <a:t>This finding requires immediate attention. Review the affected resource and apply the recommended fix below.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803904"/>
            <a:ext cx="7955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6A34A"/>
                </a:solidFill>
              </a:rPr>
              <a:t>→ Enable VPC flow logs to S3 or CloudWatch Logs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1220"/>
          </a:solidFill>
          <a:ln>
            <a:noFill/>
          </a:ln>
        </p:spPr>
      </p:sp>
      <p:sp>
        <p:nvSpPr>
          <p:cNvPr id="3" name="TextBox 2"/>
          <p:cNvSpPr txBox="1"/>
          <p:nvPr/>
        </p:nvSpPr>
        <p:spPr>
          <a:xfrm>
            <a:off x="274320" y="7315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Nubo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315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B5CFF"/>
                </a:solidFill>
              </a:rPr>
              <a:t>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731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E9DB4"/>
                </a:solidFill>
              </a:rPr>
              <a:t>· NuboShield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731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E5F72"/>
                </a:solidFill>
              </a:rPr>
              <a:t>Acme Technologies Ltd  · 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75488"/>
            <a:ext cx="9144000" cy="36576"/>
          </a:xfrm>
          <a:prstGeom prst="rect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987552"/>
            <a:ext cx="27432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9" name="TextBox 8"/>
          <p:cNvSpPr txBox="1"/>
          <p:nvPr/>
        </p:nvSpPr>
        <p:spPr>
          <a:xfrm>
            <a:off x="365760" y="1051560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563EB"/>
                </a:solidFill>
              </a:rPr>
              <a:t>Medium Findings (cont.)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4630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E9DB4"/>
                </a:solidFill>
              </a:rPr>
              <a:t>Address within 2 weeks.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828800"/>
            <a:ext cx="8412480" cy="1078992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12" name="Rectangle 11"/>
          <p:cNvSpPr/>
          <p:nvPr/>
        </p:nvSpPr>
        <p:spPr>
          <a:xfrm>
            <a:off x="365760" y="1828800"/>
            <a:ext cx="64008" cy="1078992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13" name="TextBox 12"/>
          <p:cNvSpPr txBox="1"/>
          <p:nvPr/>
        </p:nvSpPr>
        <p:spPr>
          <a:xfrm>
            <a:off x="566928" y="1901952"/>
            <a:ext cx="1097280" cy="219456"/>
          </a:xfrm>
          <a:prstGeom prst="rect">
            <a:avLst/>
          </a:prstGeom>
          <a:noFill/>
          <a:solidFill>
            <a:srgbClr val="2563EB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MEDIUM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1368" y="1883664"/>
            <a:ext cx="6537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EBS default encryption disabled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157984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9DB4"/>
                </a:solidFill>
              </a:rPr>
              <a:t>This finding requires immediate attention. Review the affected resource and apply the recommended fix below.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523744"/>
            <a:ext cx="7955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6A34A"/>
                </a:solidFill>
              </a:rPr>
              <a:t>→ Enable 'EBS encryption by default' in EC2 settings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08960"/>
            <a:ext cx="8412480" cy="1078992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18" name="Rectangle 17"/>
          <p:cNvSpPr/>
          <p:nvPr/>
        </p:nvSpPr>
        <p:spPr>
          <a:xfrm>
            <a:off x="365760" y="3108960"/>
            <a:ext cx="64008" cy="1078992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19" name="TextBox 18"/>
          <p:cNvSpPr txBox="1"/>
          <p:nvPr/>
        </p:nvSpPr>
        <p:spPr>
          <a:xfrm>
            <a:off x="566928" y="3182112"/>
            <a:ext cx="1097280" cy="219456"/>
          </a:xfrm>
          <a:prstGeom prst="rect">
            <a:avLst/>
          </a:prstGeom>
          <a:noFill/>
          <a:solidFill>
            <a:srgbClr val="2563EB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MEDIUM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1368" y="3163824"/>
            <a:ext cx="6537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IMDSv2 not enforced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438144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9DB4"/>
                </a:solidFill>
              </a:rPr>
              <a:t>This finding requires immediate attention. Review the affected resource and apply the recommended fix below.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803904"/>
            <a:ext cx="7955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6A34A"/>
                </a:solidFill>
              </a:rPr>
              <a:t>→ Enforce IMDSv2 to prevent SSRF-based credential theft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1220"/>
          </a:solidFill>
          <a:ln>
            <a:noFill/>
          </a:ln>
        </p:spPr>
      </p:sp>
      <p:sp>
        <p:nvSpPr>
          <p:cNvPr id="3" name="TextBox 2"/>
          <p:cNvSpPr txBox="1"/>
          <p:nvPr/>
        </p:nvSpPr>
        <p:spPr>
          <a:xfrm>
            <a:off x="274320" y="7315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Nubo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315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B5CFF"/>
                </a:solidFill>
              </a:rPr>
              <a:t>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731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E9DB4"/>
                </a:solidFill>
              </a:rPr>
              <a:t>· NuboShield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731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E5F72"/>
                </a:solidFill>
              </a:rPr>
              <a:t>Acme Technologies Ltd  · 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75488"/>
            <a:ext cx="9144000" cy="36576"/>
          </a:xfrm>
          <a:prstGeom prst="rect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987552"/>
            <a:ext cx="27432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9" name="TextBox 8"/>
          <p:cNvSpPr txBox="1"/>
          <p:nvPr/>
        </p:nvSpPr>
        <p:spPr>
          <a:xfrm>
            <a:off x="365760" y="1051560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563EB"/>
                </a:solidFill>
              </a:rPr>
              <a:t>Medium Findings (cont.)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4630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E9DB4"/>
                </a:solidFill>
              </a:rPr>
              <a:t>Address within 2 weeks.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828800"/>
            <a:ext cx="8412480" cy="1078992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12" name="Rectangle 11"/>
          <p:cNvSpPr/>
          <p:nvPr/>
        </p:nvSpPr>
        <p:spPr>
          <a:xfrm>
            <a:off x="365760" y="1828800"/>
            <a:ext cx="64008" cy="1078992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13" name="TextBox 12"/>
          <p:cNvSpPr txBox="1"/>
          <p:nvPr/>
        </p:nvSpPr>
        <p:spPr>
          <a:xfrm>
            <a:off x="566928" y="1901952"/>
            <a:ext cx="1097280" cy="219456"/>
          </a:xfrm>
          <a:prstGeom prst="rect">
            <a:avLst/>
          </a:prstGeom>
          <a:noFill/>
          <a:solidFill>
            <a:srgbClr val="2563EB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MEDIUM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1368" y="1883664"/>
            <a:ext cx="6537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Access logging disabled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157984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9DB4"/>
                </a:solidFill>
              </a:rPr>
              <a:t>This finding requires immediate attention. Review the affected resource and apply the recommended fix below.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523744"/>
            <a:ext cx="7955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6A34A"/>
                </a:solidFill>
              </a:rPr>
              <a:t>→ Enable S3 server access logging to a dedicated log bucket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08960"/>
            <a:ext cx="8412480" cy="1078992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18" name="Rectangle 17"/>
          <p:cNvSpPr/>
          <p:nvPr/>
        </p:nvSpPr>
        <p:spPr>
          <a:xfrm>
            <a:off x="365760" y="3108960"/>
            <a:ext cx="64008" cy="1078992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19" name="TextBox 18"/>
          <p:cNvSpPr txBox="1"/>
          <p:nvPr/>
        </p:nvSpPr>
        <p:spPr>
          <a:xfrm>
            <a:off x="566928" y="3182112"/>
            <a:ext cx="1097280" cy="219456"/>
          </a:xfrm>
          <a:prstGeom prst="rect">
            <a:avLst/>
          </a:prstGeom>
          <a:noFill/>
          <a:solidFill>
            <a:srgbClr val="2563EB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MEDIUM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1368" y="3163824"/>
            <a:ext cx="6537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No bucket policy (HTTPS not enforced)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438144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9DB4"/>
                </a:solidFill>
              </a:rPr>
              <a:t>This finding requires immediate attention. Review the affected resource and apply the recommended fix below.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803904"/>
            <a:ext cx="7955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6A34A"/>
                </a:solidFill>
              </a:rPr>
              <a:t>→ Add bucket policy to enforce TLS-only access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1220"/>
          </a:solidFill>
          <a:ln>
            <a:noFill/>
          </a:ln>
        </p:spPr>
      </p:sp>
      <p:sp>
        <p:nvSpPr>
          <p:cNvPr id="3" name="TextBox 2"/>
          <p:cNvSpPr txBox="1"/>
          <p:nvPr/>
        </p:nvSpPr>
        <p:spPr>
          <a:xfrm>
            <a:off x="274320" y="7315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Nubo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315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B5CFF"/>
                </a:solidFill>
              </a:rPr>
              <a:t>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731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E9DB4"/>
                </a:solidFill>
              </a:rPr>
              <a:t>· NuboShield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731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E5F72"/>
                </a:solidFill>
              </a:rPr>
              <a:t>Acme Technologies Ltd  · 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75488"/>
            <a:ext cx="9144000" cy="36576"/>
          </a:xfrm>
          <a:prstGeom prst="rect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987552"/>
            <a:ext cx="274320" cy="36576"/>
          </a:xfrm>
          <a:prstGeom prst="rect">
            <a:avLst/>
          </a:prstGeom>
          <a:solidFill>
            <a:srgbClr val="9B5CFF"/>
          </a:solidFill>
          <a:ln>
            <a:noFill/>
          </a:ln>
        </p:spPr>
      </p:sp>
      <p:sp>
        <p:nvSpPr>
          <p:cNvPr id="9" name="TextBox 8"/>
          <p:cNvSpPr txBox="1"/>
          <p:nvPr/>
        </p:nvSpPr>
        <p:spPr>
          <a:xfrm>
            <a:off x="365760" y="105156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Remediation Roadmap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5087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E9DB4"/>
                </a:solidFill>
              </a:rPr>
              <a:t>Prioritised fix order — hand this to your engineering team.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920240"/>
            <a:ext cx="8412480" cy="347472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12" name="TextBox 11"/>
          <p:cNvSpPr txBox="1"/>
          <p:nvPr/>
        </p:nvSpPr>
        <p:spPr>
          <a:xfrm>
            <a:off x="411480" y="1965960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9B5C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96596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Root account MFA disabled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984248"/>
            <a:ext cx="822960" cy="201168"/>
          </a:xfrm>
          <a:prstGeom prst="rect">
            <a:avLst/>
          </a:prstGeom>
          <a:noFill/>
          <a:solidFill>
            <a:srgbClr val="DC2626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CRITICAL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984248"/>
            <a:ext cx="1188720" cy="201168"/>
          </a:xfrm>
          <a:prstGeom prst="rect">
            <a:avLst/>
          </a:prstGeom>
          <a:noFill/>
          <a:solidFill>
            <a:srgbClr val="101828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800" b="1">
                <a:solidFill>
                  <a:srgbClr val="16A34A"/>
                </a:solidFill>
              </a:rPr>
              <a:t>30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313432"/>
            <a:ext cx="8412480" cy="347472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17" name="TextBox 16"/>
          <p:cNvSpPr txBox="1"/>
          <p:nvPr/>
        </p:nvSpPr>
        <p:spPr>
          <a:xfrm>
            <a:off x="411480" y="2359152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9B5C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35915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All traffic open to internet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377440"/>
            <a:ext cx="822960" cy="201168"/>
          </a:xfrm>
          <a:prstGeom prst="rect">
            <a:avLst/>
          </a:prstGeom>
          <a:noFill/>
          <a:solidFill>
            <a:srgbClr val="DC2626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CRITICAL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2377440"/>
            <a:ext cx="1188720" cy="201168"/>
          </a:xfrm>
          <a:prstGeom prst="rect">
            <a:avLst/>
          </a:prstGeom>
          <a:noFill/>
          <a:solidFill>
            <a:srgbClr val="101828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800" b="1">
                <a:solidFill>
                  <a:srgbClr val="16A34A"/>
                </a:solidFill>
              </a:rPr>
              <a:t>30 min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706624"/>
            <a:ext cx="8412480" cy="347472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22" name="TextBox 21"/>
          <p:cNvSpPr txBox="1"/>
          <p:nvPr/>
        </p:nvSpPr>
        <p:spPr>
          <a:xfrm>
            <a:off x="411480" y="2752344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9B5CFF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2752344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Port 3389 (RDP) open to internet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770632"/>
            <a:ext cx="822960" cy="201168"/>
          </a:xfrm>
          <a:prstGeom prst="rect">
            <a:avLst/>
          </a:prstGeom>
          <a:noFill/>
          <a:solidFill>
            <a:srgbClr val="DC2626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CRITICAL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2770632"/>
            <a:ext cx="1188720" cy="201168"/>
          </a:xfrm>
          <a:prstGeom prst="rect">
            <a:avLst/>
          </a:prstGeom>
          <a:noFill/>
          <a:solidFill>
            <a:srgbClr val="101828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800" b="1">
                <a:solidFill>
                  <a:srgbClr val="16A34A"/>
                </a:solidFill>
              </a:rPr>
              <a:t>30 min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099816"/>
            <a:ext cx="8412480" cy="347472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27" name="TextBox 26"/>
          <p:cNvSpPr txBox="1"/>
          <p:nvPr/>
        </p:nvSpPr>
        <p:spPr>
          <a:xfrm>
            <a:off x="411480" y="3145536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9B5CFF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3145536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Port 22 (SSH) open to internet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163824"/>
            <a:ext cx="822960" cy="201168"/>
          </a:xfrm>
          <a:prstGeom prst="rect">
            <a:avLst/>
          </a:prstGeom>
          <a:noFill/>
          <a:solidFill>
            <a:srgbClr val="DC2626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CRITICAL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3163824"/>
            <a:ext cx="1188720" cy="201168"/>
          </a:xfrm>
          <a:prstGeom prst="rect">
            <a:avLst/>
          </a:prstGeom>
          <a:noFill/>
          <a:solidFill>
            <a:srgbClr val="101828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800" b="1">
                <a:solidFill>
                  <a:srgbClr val="16A34A"/>
                </a:solidFill>
              </a:rPr>
              <a:t>30 min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493008"/>
            <a:ext cx="8412480" cy="347472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32" name="TextBox 31"/>
          <p:cNvSpPr txBox="1"/>
          <p:nvPr/>
        </p:nvSpPr>
        <p:spPr>
          <a:xfrm>
            <a:off x="411480" y="3538728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9B5CFF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353872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Database publicly accessible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3557016"/>
            <a:ext cx="822960" cy="201168"/>
          </a:xfrm>
          <a:prstGeom prst="rect">
            <a:avLst/>
          </a:prstGeom>
          <a:noFill/>
          <a:solidFill>
            <a:srgbClr val="DC2626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CRITICAL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60920" y="3557016"/>
            <a:ext cx="1188720" cy="201168"/>
          </a:xfrm>
          <a:prstGeom prst="rect">
            <a:avLst/>
          </a:prstGeom>
          <a:noFill/>
          <a:solidFill>
            <a:srgbClr val="101828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800" b="1">
                <a:solidFill>
                  <a:srgbClr val="16A34A"/>
                </a:solidFill>
              </a:rPr>
              <a:t>30 min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886200"/>
            <a:ext cx="8412480" cy="347472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37" name="TextBox 36"/>
          <p:cNvSpPr txBox="1"/>
          <p:nvPr/>
        </p:nvSpPr>
        <p:spPr>
          <a:xfrm>
            <a:off x="411480" y="3931920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9B5CFF"/>
                </a:solidFill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393192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Automated backups disabled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3950208"/>
            <a:ext cx="822960" cy="201168"/>
          </a:xfrm>
          <a:prstGeom prst="rect">
            <a:avLst/>
          </a:prstGeom>
          <a:noFill/>
          <a:solidFill>
            <a:srgbClr val="DC2626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CRITICAL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60920" y="3950208"/>
            <a:ext cx="1188720" cy="201168"/>
          </a:xfrm>
          <a:prstGeom prst="rect">
            <a:avLst/>
          </a:prstGeom>
          <a:noFill/>
          <a:solidFill>
            <a:srgbClr val="101828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800" b="1">
                <a:solidFill>
                  <a:srgbClr val="16A34A"/>
                </a:solidFill>
              </a:rPr>
              <a:t>30 min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279392"/>
            <a:ext cx="8412480" cy="347472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42" name="TextBox 41"/>
          <p:cNvSpPr txBox="1"/>
          <p:nvPr/>
        </p:nvSpPr>
        <p:spPr>
          <a:xfrm>
            <a:off x="411480" y="4325112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9B5CFF"/>
                </a:solidFill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432511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CloudTrail not enabled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4343400"/>
            <a:ext cx="822960" cy="201168"/>
          </a:xfrm>
          <a:prstGeom prst="rect">
            <a:avLst/>
          </a:prstGeom>
          <a:noFill/>
          <a:solidFill>
            <a:srgbClr val="DC2626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CRITICAL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60920" y="4343400"/>
            <a:ext cx="1188720" cy="201168"/>
          </a:xfrm>
          <a:prstGeom prst="rect">
            <a:avLst/>
          </a:prstGeom>
          <a:noFill/>
          <a:solidFill>
            <a:srgbClr val="101828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800" b="1">
                <a:solidFill>
                  <a:srgbClr val="16A34A"/>
                </a:solidFill>
              </a:rPr>
              <a:t>30 min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672583"/>
            <a:ext cx="8412480" cy="347472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47" name="TextBox 46"/>
          <p:cNvSpPr txBox="1"/>
          <p:nvPr/>
        </p:nvSpPr>
        <p:spPr>
          <a:xfrm>
            <a:off x="411480" y="4718303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9B5CFF"/>
                </a:solidFill>
              </a:rPr>
              <a:t>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4718303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No password policy set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4736592"/>
            <a:ext cx="822960" cy="201168"/>
          </a:xfrm>
          <a:prstGeom prst="rect">
            <a:avLst/>
          </a:prstGeom>
          <a:noFill/>
          <a:solidFill>
            <a:srgbClr val="D97706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60920" y="4736592"/>
            <a:ext cx="1188720" cy="201168"/>
          </a:xfrm>
          <a:prstGeom prst="rect">
            <a:avLst/>
          </a:prstGeom>
          <a:noFill/>
          <a:solidFill>
            <a:srgbClr val="101828"/>
          </a:solidFill>
          <a:prstGeom prst="roundRect">
            <a:avLst>
              <a:gd name="adj" fmla="val 35000"/>
            </a:avLst>
          </a:prstGeom>
          <a:ln>
            <a:noFill/>
          </a:ln>
        </p:spPr>
        <p:txBody>
          <a:bodyPr wrap="none" tIns="0" bIns="0" lIns="45720" rIns="45720" anchor="ctr" anchorCtr="1">
            <a:spAutoFit/>
          </a:bodyPr>
          <a:lstStyle/>
          <a:p>
            <a:pPr algn="ctr"/>
            <a:r>
              <a:rPr sz="800" b="1">
                <a:solidFill>
                  <a:srgbClr val="D97706"/>
                </a:solidFill>
              </a:rPr>
              <a:t>2–4 hrs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1220"/>
          </a:solidFill>
          <a:ln>
            <a:noFill/>
          </a:ln>
        </p:spPr>
      </p:sp>
      <p:sp>
        <p:nvSpPr>
          <p:cNvPr id="3" name="TextBox 2"/>
          <p:cNvSpPr txBox="1"/>
          <p:nvPr/>
        </p:nvSpPr>
        <p:spPr>
          <a:xfrm>
            <a:off x="274320" y="7315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Nubo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315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B5CFF"/>
                </a:solidFill>
              </a:rPr>
              <a:t>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731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E9DB4"/>
                </a:solidFill>
              </a:rPr>
              <a:t>· NuboShield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731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E5F72"/>
                </a:solidFill>
              </a:rPr>
              <a:t>Acme Technologies Ltd  · 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75488"/>
            <a:ext cx="9144000" cy="36576"/>
          </a:xfrm>
          <a:prstGeom prst="rect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75488"/>
            <a:ext cx="9144000" cy="4663440"/>
          </a:xfrm>
          <a:prstGeom prst="rect">
            <a:avLst/>
          </a:prstGeom>
          <a:solidFill>
            <a:srgbClr val="070B12"/>
          </a:solidFill>
          <a:ln>
            <a:noFill/>
          </a:ln>
        </p:spPr>
      </p:sp>
      <p:sp>
        <p:nvSpPr>
          <p:cNvPr id="9" name="Rectangle 8"/>
          <p:cNvSpPr/>
          <p:nvPr/>
        </p:nvSpPr>
        <p:spPr>
          <a:xfrm>
            <a:off x="0" y="475488"/>
            <a:ext cx="54864" cy="4663440"/>
          </a:xfrm>
          <a:prstGeom prst="rect">
            <a:avLst/>
          </a:prstGeom>
          <a:solidFill>
            <a:srgbClr val="9B5CFF"/>
          </a:solidFill>
          <a:ln>
            <a:noFill/>
          </a:ln>
        </p:spPr>
      </p:sp>
      <p:sp>
        <p:nvSpPr>
          <p:cNvPr id="10" name="TextBox 9"/>
          <p:cNvSpPr txBox="1"/>
          <p:nvPr/>
        </p:nvSpPr>
        <p:spPr>
          <a:xfrm>
            <a:off x="365760" y="7772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Need help fixing these?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9DB4"/>
                </a:solidFill>
              </a:rPr>
              <a:t>NuboLabs offers full remediation — we implement the fixes for you.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920240"/>
            <a:ext cx="2651760" cy="2148840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13" name="Rectangle 12"/>
          <p:cNvSpPr/>
          <p:nvPr/>
        </p:nvSpPr>
        <p:spPr>
          <a:xfrm>
            <a:off x="365760" y="1920240"/>
            <a:ext cx="2651760" cy="36576"/>
          </a:xfrm>
          <a:prstGeom prst="rect">
            <a:avLst/>
          </a:prstGeom>
          <a:solidFill>
            <a:srgbClr val="9B5CFF"/>
          </a:solidFill>
          <a:ln>
            <a:noFill/>
          </a:ln>
        </p:spPr>
      </p:sp>
      <p:sp>
        <p:nvSpPr>
          <p:cNvPr id="14" name="TextBox 13"/>
          <p:cNvSpPr txBox="1"/>
          <p:nvPr/>
        </p:nvSpPr>
        <p:spPr>
          <a:xfrm>
            <a:off x="502920" y="20116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Targeted Fix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359152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9DB4"/>
                </a:solidFill>
              </a:rPr>
              <a:t>We remediate the critical and high findings from this report. IAM hardening, encryption, CloudTrail, security group cleanup — done properly.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456432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B5CFF"/>
                </a:solidFill>
              </a:rPr>
              <a:t>From £500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6120" y="1920240"/>
            <a:ext cx="2651760" cy="2148840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18" name="Rectangle 17"/>
          <p:cNvSpPr/>
          <p:nvPr/>
        </p:nvSpPr>
        <p:spPr>
          <a:xfrm>
            <a:off x="3246120" y="1920240"/>
            <a:ext cx="2651760" cy="36576"/>
          </a:xfrm>
          <a:prstGeom prst="rect">
            <a:avLst/>
          </a:prstGeom>
          <a:solidFill>
            <a:srgbClr val="9B5CFF"/>
          </a:solidFill>
          <a:ln>
            <a:noFill/>
          </a:ln>
        </p:spPr>
      </p:sp>
      <p:sp>
        <p:nvSpPr>
          <p:cNvPr id="19" name="TextBox 18"/>
          <p:cNvSpPr txBox="1"/>
          <p:nvPr/>
        </p:nvSpPr>
        <p:spPr>
          <a:xfrm>
            <a:off x="3383279" y="20116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Full Hardening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79" y="2359152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9DB4"/>
                </a:solidFill>
              </a:rPr>
              <a:t>Complete implementation of all findings plus architectural improvements. Leaves your AWS environment in a production-ready secure state.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79" y="3456432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B5CFF"/>
                </a:solidFill>
              </a:rPr>
              <a:t>From £1,500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1920240"/>
            <a:ext cx="2651760" cy="2148840"/>
          </a:xfrm>
          <a:prstGeom prst="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23" name="Rectangle 22"/>
          <p:cNvSpPr/>
          <p:nvPr/>
        </p:nvSpPr>
        <p:spPr>
          <a:xfrm>
            <a:off x="6126480" y="1920240"/>
            <a:ext cx="2651760" cy="36576"/>
          </a:xfrm>
          <a:prstGeom prst="rect">
            <a:avLst/>
          </a:prstGeom>
          <a:solidFill>
            <a:srgbClr val="9B5CFF"/>
          </a:solidFill>
          <a:ln>
            <a:noFill/>
          </a:ln>
        </p:spPr>
      </p:sp>
      <p:sp>
        <p:nvSpPr>
          <p:cNvPr id="24" name="TextBox 23"/>
          <p:cNvSpPr txBox="1"/>
          <p:nvPr/>
        </p:nvSpPr>
        <p:spPr>
          <a:xfrm>
            <a:off x="6263640" y="20116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Monthly Retainer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359152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9DB4"/>
                </a:solidFill>
              </a:rPr>
              <a:t>Monthly rescan plus ongoing remediation as your infrastructure evolves. New findings fixed before they become incidents.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456432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B5CFF"/>
                </a:solidFill>
              </a:rPr>
              <a:t>£500/mo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160520"/>
            <a:ext cx="8412480" cy="713232"/>
          </a:xfrm>
          <a:prstGeom prst="rect">
            <a:avLst/>
          </a:prstGeom>
          <a:solidFill>
            <a:srgbClr val="0A1222"/>
          </a:solidFill>
          <a:ln>
            <a:noFill/>
          </a:ln>
        </p:spPr>
      </p:sp>
      <p:sp>
        <p:nvSpPr>
          <p:cNvPr id="28" name="Rectangle 27"/>
          <p:cNvSpPr/>
          <p:nvPr/>
        </p:nvSpPr>
        <p:spPr>
          <a:xfrm>
            <a:off x="365760" y="4160520"/>
            <a:ext cx="8412480" cy="36576"/>
          </a:xfrm>
          <a:prstGeom prst="rect">
            <a:avLst/>
          </a:prstGeom>
          <a:solidFill>
            <a:srgbClr val="9B5CFF"/>
          </a:solidFill>
          <a:ln>
            <a:noFill/>
          </a:ln>
        </p:spPr>
      </p:sp>
      <p:sp>
        <p:nvSpPr>
          <p:cNvPr id="29" name="TextBox 28"/>
          <p:cNvSpPr txBox="1"/>
          <p:nvPr/>
        </p:nvSpPr>
        <p:spPr>
          <a:xfrm>
            <a:off x="502920" y="42245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Ready to get started?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49884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E9DB4"/>
                </a:solidFill>
              </a:rPr>
              <a:t>sales@nubolabs.co.uk  ·  nubolabs.co.uk  ·  Leeds, UK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251960"/>
            <a:ext cx="26517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9B5CFF"/>
                </a:solidFill>
                <a:hlinkClick r:id="rId2"/>
              </a:rPr>
              <a:t>Reply to this report →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00200"/>
            <a:ext cx="6400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Nubo</a:t>
            </a:r>
            <a:r>
              <a:rPr sz="3800" b="1">
                <a:solidFill>
                  <a:srgbClr val="9B5CFF"/>
                </a:solidFill>
              </a:rPr>
              <a:t>Labs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42316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E9DB4"/>
                </a:solidFill>
              </a:rPr>
              <a:t>Cloud Infrastructure Intelligence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2852928"/>
            <a:ext cx="2743200" cy="27432"/>
          </a:xfrm>
          <a:prstGeom prst="rect">
            <a:avLst/>
          </a:prstGeom>
          <a:solidFill>
            <a:srgbClr val="4E5F72"/>
          </a:solidFill>
          <a:ln>
            <a:noFill/>
          </a:ln>
        </p:spPr>
      </p:sp>
      <p:sp>
        <p:nvSpPr>
          <p:cNvPr id="5" name="TextBox 4"/>
          <p:cNvSpPr txBox="1"/>
          <p:nvPr/>
        </p:nvSpPr>
        <p:spPr>
          <a:xfrm>
            <a:off x="1371600" y="294436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E9DB4"/>
                </a:solidFill>
              </a:rPr>
              <a:t>sales@nubolabs.co.uk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55264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5F72"/>
                </a:solidFill>
              </a:rPr>
              <a:t>nubolabs.co.uk  ·  Leeds, 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48056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4E5F72"/>
                </a:solidFill>
              </a:rPr>
              <a:t>Technical assessment only. Not a security certification or compliance guarantee.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