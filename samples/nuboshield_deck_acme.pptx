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sales@nubolabs.co.uk?subject=Remediation%20Enquiry%20-%20NuboShield%20Report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B12"/>
          </a:solidFill>
          <a:ln>
            <a:noFill/>
          </a:ln>
        </p:spPr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4" name="Rectangl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5" name="Rectangle 4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274320" y="16459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645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011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Cloud Infrastructure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0584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8308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43F5E"/>
                </a:solidFill>
              </a:rPr>
              <a:t>Vault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834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E9DB4"/>
                </a:solidFill>
              </a:rPr>
              <a:t>Secrets &amp; Exposure Audit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46120"/>
            <a:ext cx="5029200" cy="22860"/>
          </a:xfrm>
          <a:prstGeom prst="rect">
            <a:avLst/>
          </a:prstGeom>
          <a:solidFill>
            <a:srgbClr val="4E5F72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274320" y="33649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Acme Technologies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393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17 May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914400"/>
            <a:ext cx="2651760" cy="265176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16" name="Rectangle 15"/>
          <p:cNvSpPr/>
          <p:nvPr/>
        </p:nvSpPr>
        <p:spPr>
          <a:xfrm>
            <a:off x="6217920" y="914400"/>
            <a:ext cx="2651760" cy="2651760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0515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DC2626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3317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E9DB4"/>
                </a:solidFill>
              </a:rPr>
              <a:t>/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7432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</a:rPr>
              <a:t>POOR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703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C2626"/>
                </a:solidFill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0416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E5F72"/>
                </a:solidFill>
              </a:rPr>
              <a:t>Critical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7" y="3703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97706"/>
                </a:solidFill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7" y="40416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E5F72"/>
                </a:solidFill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5" y="3703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3F5E"/>
                </a:solidFill>
              </a:rPr>
              <a:t>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7575" y="40416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E5F72"/>
                </a:solidFill>
              </a:rPr>
              <a:t>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70916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nubolabs.co.uk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What you need to know.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74519"/>
            <a:ext cx="1554480" cy="96012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365760" y="192024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C2626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871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9DB4"/>
                </a:solidFill>
              </a:rPr>
              <a:t>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1874519"/>
            <a:ext cx="1554480" cy="96012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5" name="TextBox 14"/>
          <p:cNvSpPr txBox="1"/>
          <p:nvPr/>
        </p:nvSpPr>
        <p:spPr>
          <a:xfrm>
            <a:off x="2057400" y="192024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C2626"/>
                </a:solidFill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4871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9DB4"/>
                </a:solidFill>
              </a:rPr>
              <a:t>Critical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40" y="1874519"/>
            <a:ext cx="1554480" cy="96012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8" name="TextBox 17"/>
          <p:cNvSpPr txBox="1"/>
          <p:nvPr/>
        </p:nvSpPr>
        <p:spPr>
          <a:xfrm>
            <a:off x="3749040" y="192024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7706"/>
                </a:solidFill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24871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9DB4"/>
                </a:solidFill>
              </a:rPr>
              <a:t>High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1874519"/>
            <a:ext cx="1554480" cy="96012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21" name="TextBox 20"/>
          <p:cNvSpPr txBox="1"/>
          <p:nvPr/>
        </p:nvSpPr>
        <p:spPr>
          <a:xfrm>
            <a:off x="5440680" y="192024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563EB"/>
                </a:solidFill>
              </a:rPr>
              <a:t>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24871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9DB4"/>
                </a:solidFill>
              </a:rPr>
              <a:t>Medium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874519"/>
            <a:ext cx="1554480" cy="96012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24" name="TextBox 23"/>
          <p:cNvSpPr txBox="1"/>
          <p:nvPr/>
        </p:nvSpPr>
        <p:spPr>
          <a:xfrm>
            <a:off x="7132320" y="192024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43F5E"/>
                </a:solidFill>
              </a:rPr>
              <a:t>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4871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9DB4"/>
                </a:solidFill>
              </a:rPr>
              <a:t>Total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017520"/>
            <a:ext cx="8412480" cy="777240"/>
          </a:xfrm>
          <a:prstGeom prst="rect">
            <a:avLst/>
          </a:prstGeom>
          <a:solidFill>
            <a:srgbClr val="3F1010"/>
          </a:solidFill>
          <a:ln>
            <a:noFill/>
          </a:ln>
        </p:spPr>
      </p:sp>
      <p:sp>
        <p:nvSpPr>
          <p:cNvPr id="27" name="TextBox 26"/>
          <p:cNvSpPr txBox="1"/>
          <p:nvPr/>
        </p:nvSpPr>
        <p:spPr>
          <a:xfrm>
            <a:off x="502920" y="306324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⚠  If you fix nothing: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33756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F2F8"/>
                </a:solidFill>
              </a:rPr>
              <a:t>Exposed credentials found by automated scanners within hours. One leaked key = full account compromise.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Top 5 Priority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Start here. Highest impact on your score and risk posture.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74519"/>
            <a:ext cx="292608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365760" y="194767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11095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Root account MFA disabled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30552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→ Enable MFA on root account — critical security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965960"/>
            <a:ext cx="1005840" cy="237744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50591"/>
            <a:ext cx="292608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365760" y="2523744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487168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All traffic open to internet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706624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→ Immediately restrict inbound rules to known 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542032"/>
            <a:ext cx="1005840" cy="237744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26663"/>
            <a:ext cx="292608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2" name="TextBox 21"/>
          <p:cNvSpPr txBox="1"/>
          <p:nvPr/>
        </p:nvSpPr>
        <p:spPr>
          <a:xfrm>
            <a:off x="365760" y="3099815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063239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Port 3389 (RDP) open to internet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282696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→ Restrict port 3389 to specific IP ranges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118103"/>
            <a:ext cx="1005840" cy="237744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602736"/>
            <a:ext cx="292608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7" name="TextBox 26"/>
          <p:cNvSpPr txBox="1"/>
          <p:nvPr/>
        </p:nvSpPr>
        <p:spPr>
          <a:xfrm>
            <a:off x="365760" y="3675887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639312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Port 22 (SSH) open to internet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85876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→ Restrict port 22 to specific IP ranges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694176"/>
            <a:ext cx="1005840" cy="237744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178808"/>
            <a:ext cx="292608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32" name="TextBox 31"/>
          <p:cNvSpPr txBox="1"/>
          <p:nvPr/>
        </p:nvSpPr>
        <p:spPr>
          <a:xfrm>
            <a:off x="365760" y="425196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215384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Database publicly accessible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434840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→ Disable PubliclyAccessible and ensure DB is in private subnet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270248"/>
            <a:ext cx="1005840" cy="237744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Category Scorecard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Score breakdown across all domains.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2743200" cy="82296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457200" y="19751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04288"/>
            <a:ext cx="1828800" cy="9144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14" name="Rectangle 13"/>
          <p:cNvSpPr/>
          <p:nvPr/>
        </p:nvSpPr>
        <p:spPr>
          <a:xfrm>
            <a:off x="457200" y="2304288"/>
            <a:ext cx="45720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5" name="TextBox 14"/>
          <p:cNvSpPr txBox="1"/>
          <p:nvPr/>
        </p:nvSpPr>
        <p:spPr>
          <a:xfrm>
            <a:off x="2331720" y="21945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C2626"/>
                </a:solidFill>
              </a:rPr>
              <a:t>25%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920240"/>
            <a:ext cx="2743200" cy="82296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3383280" y="19751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EC2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304288"/>
            <a:ext cx="1828800" cy="9144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5257800" y="21945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C2626"/>
                </a:solidFill>
              </a:rPr>
              <a:t>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920240"/>
            <a:ext cx="2743200" cy="82296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21" name="TextBox 20"/>
          <p:cNvSpPr txBox="1"/>
          <p:nvPr/>
        </p:nvSpPr>
        <p:spPr>
          <a:xfrm>
            <a:off x="6309360" y="19751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304288"/>
            <a:ext cx="1828800" cy="9144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23" name="Rectangle 22"/>
          <p:cNvSpPr/>
          <p:nvPr/>
        </p:nvSpPr>
        <p:spPr>
          <a:xfrm>
            <a:off x="6309360" y="2304288"/>
            <a:ext cx="109728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4" name="TextBox 23"/>
          <p:cNvSpPr txBox="1"/>
          <p:nvPr/>
        </p:nvSpPr>
        <p:spPr>
          <a:xfrm>
            <a:off x="8183880" y="21945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97706"/>
                </a:solidFill>
              </a:rPr>
              <a:t>60%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880360"/>
            <a:ext cx="2743200" cy="82296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26" name="TextBox 25"/>
          <p:cNvSpPr txBox="1"/>
          <p:nvPr/>
        </p:nvSpPr>
        <p:spPr>
          <a:xfrm>
            <a:off x="457200" y="29352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264408"/>
            <a:ext cx="1828800" cy="9144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28" name="Rectangle 27"/>
          <p:cNvSpPr/>
          <p:nvPr/>
        </p:nvSpPr>
        <p:spPr>
          <a:xfrm>
            <a:off x="457200" y="3264408"/>
            <a:ext cx="54864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9" name="TextBox 28"/>
          <p:cNvSpPr txBox="1"/>
          <p:nvPr/>
        </p:nvSpPr>
        <p:spPr>
          <a:xfrm>
            <a:off x="2331720" y="31546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C2626"/>
                </a:solidFill>
              </a:rPr>
              <a:t>30%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2880360"/>
            <a:ext cx="2743200" cy="82296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31" name="TextBox 30"/>
          <p:cNvSpPr txBox="1"/>
          <p:nvPr/>
        </p:nvSpPr>
        <p:spPr>
          <a:xfrm>
            <a:off x="3383280" y="29352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CloudTrail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3264408"/>
            <a:ext cx="1828800" cy="9144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3" name="Rectangle 32"/>
          <p:cNvSpPr/>
          <p:nvPr/>
        </p:nvSpPr>
        <p:spPr>
          <a:xfrm>
            <a:off x="3383280" y="3264408"/>
            <a:ext cx="137160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4" name="TextBox 33"/>
          <p:cNvSpPr txBox="1"/>
          <p:nvPr/>
        </p:nvSpPr>
        <p:spPr>
          <a:xfrm>
            <a:off x="5257800" y="31546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</a:rPr>
              <a:t>75%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880360"/>
            <a:ext cx="2743200" cy="82296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36" name="TextBox 35"/>
          <p:cNvSpPr txBox="1"/>
          <p:nvPr/>
        </p:nvSpPr>
        <p:spPr>
          <a:xfrm>
            <a:off x="6309360" y="29352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CloudWatch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264408"/>
            <a:ext cx="1828800" cy="9144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8" name="Rectangle 37"/>
          <p:cNvSpPr/>
          <p:nvPr/>
        </p:nvSpPr>
        <p:spPr>
          <a:xfrm>
            <a:off x="6309360" y="3264408"/>
            <a:ext cx="155448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9" name="TextBox 38"/>
          <p:cNvSpPr txBox="1"/>
          <p:nvPr/>
        </p:nvSpPr>
        <p:spPr>
          <a:xfrm>
            <a:off x="8183880" y="31546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</a:rPr>
              <a:t>85%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840480"/>
            <a:ext cx="2743200" cy="82296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41" name="TextBox 40"/>
          <p:cNvSpPr txBox="1"/>
          <p:nvPr/>
        </p:nvSpPr>
        <p:spPr>
          <a:xfrm>
            <a:off x="457200" y="38953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224528"/>
            <a:ext cx="1828800" cy="9144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43" name="Rectangle 42"/>
          <p:cNvSpPr/>
          <p:nvPr/>
        </p:nvSpPr>
        <p:spPr>
          <a:xfrm>
            <a:off x="457200" y="4224528"/>
            <a:ext cx="173736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4" name="TextBox 43"/>
          <p:cNvSpPr txBox="1"/>
          <p:nvPr/>
        </p:nvSpPr>
        <p:spPr>
          <a:xfrm>
            <a:off x="2331720" y="41148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</a:rPr>
              <a:t>95%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0" y="3840480"/>
            <a:ext cx="2743200" cy="82296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46" name="TextBox 45"/>
          <p:cNvSpPr txBox="1"/>
          <p:nvPr/>
        </p:nvSpPr>
        <p:spPr>
          <a:xfrm>
            <a:off x="3383280" y="38953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Config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83280" y="4224528"/>
            <a:ext cx="1828800" cy="9144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48" name="Rectangle 47"/>
          <p:cNvSpPr/>
          <p:nvPr/>
        </p:nvSpPr>
        <p:spPr>
          <a:xfrm>
            <a:off x="3383280" y="4224528"/>
            <a:ext cx="164592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9" name="TextBox 48"/>
          <p:cNvSpPr txBox="1"/>
          <p:nvPr/>
        </p:nvSpPr>
        <p:spPr>
          <a:xfrm>
            <a:off x="5257800" y="41148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</a:rPr>
              <a:t>90%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3840480"/>
            <a:ext cx="2743200" cy="82296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51" name="TextBox 50"/>
          <p:cNvSpPr txBox="1"/>
          <p:nvPr/>
        </p:nvSpPr>
        <p:spPr>
          <a:xfrm>
            <a:off x="6309360" y="38953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SecretsManager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4224528"/>
            <a:ext cx="1828800" cy="9144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53" name="Rectangle 52"/>
          <p:cNvSpPr/>
          <p:nvPr/>
        </p:nvSpPr>
        <p:spPr>
          <a:xfrm>
            <a:off x="6309360" y="4224528"/>
            <a:ext cx="173736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54" name="TextBox 53"/>
          <p:cNvSpPr txBox="1"/>
          <p:nvPr/>
        </p:nvSpPr>
        <p:spPr>
          <a:xfrm>
            <a:off x="8183880" y="41148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</a:rPr>
              <a:t>95%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Attack Path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How an attacker exploits your specific findings — step by step.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347472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365760" y="1956816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38528"/>
            <a:ext cx="7498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EF2F8"/>
                </a:solidFill>
              </a:rPr>
              <a:t>.env file found in accessible S3 bucket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194560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Contains DATABASE_URL, AWS keys, Stripe credentials — all plaintext.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230428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C2626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70048"/>
            <a:ext cx="347472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365760" y="2706624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688336"/>
            <a:ext cx="7498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EF2F8"/>
                </a:solidFill>
              </a:rPr>
              <a:t>AWS credentials used — keys never rotated, still valid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944368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Immediate account access with all associated permissions.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3054096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C2626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19856"/>
            <a:ext cx="347472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2" name="TextBox 21"/>
          <p:cNvSpPr txBox="1"/>
          <p:nvPr/>
        </p:nvSpPr>
        <p:spPr>
          <a:xfrm>
            <a:off x="365760" y="3456432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438144"/>
            <a:ext cx="7498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EF2F8"/>
                </a:solidFill>
              </a:rPr>
              <a:t>Production database accessed via connection string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94176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Full read/write access to all customer data.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3803904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C2626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169664"/>
            <a:ext cx="347472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7" name="TextBox 26"/>
          <p:cNvSpPr txBox="1"/>
          <p:nvPr/>
        </p:nvSpPr>
        <p:spPr>
          <a:xfrm>
            <a:off x="365760" y="420624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187952"/>
            <a:ext cx="7498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EF2F8"/>
                </a:solidFill>
              </a:rPr>
              <a:t>Terraform state reveals entire infrastructure blueprint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443984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State contains passwords, keys, and resource details — roadmap for deeper compromise.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solidFill>
            <a:srgbClr val="0A2A15"/>
          </a:solidFill>
          <a:ln>
            <a:noFill/>
          </a:ln>
        </p:spPr>
      </p:sp>
      <p:sp>
        <p:nvSpPr>
          <p:cNvPr id="31" name="TextBox 30"/>
          <p:cNvSpPr txBox="1"/>
          <p:nvPr/>
        </p:nvSpPr>
        <p:spPr>
          <a:xfrm>
            <a:off x="548640" y="46817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✓  Fix any one step above and you break the entire attack chain.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C2626"/>
                </a:solidFill>
              </a:rPr>
              <a:t>Critical Findings (7)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Immediate action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81328"/>
            <a:ext cx="8412480" cy="1517904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481328"/>
            <a:ext cx="73152" cy="1517904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554480"/>
            <a:ext cx="1005840" cy="219456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545336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Root account MFA disabled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828800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root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029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31136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Enable MFA via IAM Console → Security credentials → Multi-factor authentication. Use a hardware MFA key (YubiKey) or authenticator app (Google Authenticator, Authy). After enabling, the root account should never be used for day-to-day operations.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4992"/>
            <a:ext cx="8412480" cy="1188719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365760" y="3364992"/>
            <a:ext cx="73152" cy="1188719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566928" y="3438144"/>
            <a:ext cx="1005840" cy="219456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429000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All traffic open to internet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712464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sg-0b9705f969a6967b7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136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1480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Immediately restrict inbound rules to known IPs.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C2626"/>
                </a:solidFill>
              </a:rPr>
              <a:t>Critical Findings (cont.)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Immediate action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81328"/>
            <a:ext cx="8412480" cy="1188719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481328"/>
            <a:ext cx="73152" cy="1188719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554480"/>
            <a:ext cx="1005840" cy="219456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545336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Port 3389 (RDP) open to internet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828800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sg-045d0619a4f0b3460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029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31136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Restrict port 3389 to specific IP ranges.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4992"/>
            <a:ext cx="8412480" cy="1188719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365760" y="3364992"/>
            <a:ext cx="73152" cy="1188719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566928" y="3438144"/>
            <a:ext cx="1005840" cy="219456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429000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Port 22 (SSH) open to internet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712464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sg-064493421e8051cda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136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1480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Restrict port 22 to specific IP ranges.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C2626"/>
                </a:solidFill>
              </a:rPr>
              <a:t>Critical Findings (cont.)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Immediate action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81328"/>
            <a:ext cx="8412480" cy="135331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481328"/>
            <a:ext cx="73152" cy="1353312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554480"/>
            <a:ext cx="1005840" cy="219456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545336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Database publicly accessible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828800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nuboshield-demo-db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029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31136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Set PubliclyAccessible=false via RDS Console → Modify. Ensure the database is in a private subnet (no route to internet gateway). Applications should connect via private IP within the VPC.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4992"/>
            <a:ext cx="8412480" cy="1188719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365760" y="3364992"/>
            <a:ext cx="73152" cy="1188719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566928" y="3438144"/>
            <a:ext cx="1005840" cy="219456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429000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Automated backups disabled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712464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nuboshield-demo-db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136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1480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Enable automated backups with at least 7-day retention period.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97706"/>
                </a:solidFill>
              </a:rPr>
              <a:t>High Findings (14)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Address within 48 hours.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81328"/>
            <a:ext cx="8412480" cy="1517904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481328"/>
            <a:ext cx="73152" cy="1517904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554480"/>
            <a:ext cx="1005840" cy="219456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545336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 password policy 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828800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account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029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31136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Set via IAM Console → Account settings → Password policy. Recommended: minimum 14 characters, require uppercase, lowercase, numbers and symbols, 90-day maximum age, prevent reuse of last 24 passwords, prevent password reuse.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4992"/>
            <a:ext cx="8412480" cy="1517904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365760" y="3364992"/>
            <a:ext cx="73152" cy="1517904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566928" y="3438144"/>
            <a:ext cx="1005840" cy="219456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429000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Console user without MFA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712464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nuboshield-demo-admin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136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1480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Enable per-user via IAM Console → Users → Security credentials → Assign MFA device. Enforce via IAM policy that denies all actions if MFA is not present. Use authenticator apps (Google Authenticator, Authy) or hardware keys (YubiKey).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97706"/>
                </a:solidFill>
              </a:rPr>
              <a:t>High Findings (cont.)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Address within 48 hours.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81328"/>
            <a:ext cx="8412480" cy="135331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481328"/>
            <a:ext cx="73152" cy="1353312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554480"/>
            <a:ext cx="1005840" cy="219456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545336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AdministratorAccess directly attached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828800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nubolabs-deploy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029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31136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Replace with specific policies scoped to what the user or service actually needs. Use the principle of least privilege — grant only the permissions required for the specific task.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4992"/>
            <a:ext cx="8412480" cy="135331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365760" y="3364992"/>
            <a:ext cx="73152" cy="1353312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566928" y="3438144"/>
            <a:ext cx="1005840" cy="219456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429000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AdministratorAccess directly attached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712464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nuboshield-demo-admin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136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1480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Replace with specific policies scoped to what the user or service actually needs. Use the principle of least privilege — grant only the permissions required for the specific task.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97706"/>
                </a:solidFill>
              </a:rPr>
              <a:t>High Findings (cont.)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Address within 48 hours.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81328"/>
            <a:ext cx="8412480" cy="1188719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481328"/>
            <a:ext cx="73152" cy="1188719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554480"/>
            <a:ext cx="1005840" cy="219456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545336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Wildcard Allow *:*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828800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NuboShield-Demo-Wildcard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029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31136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Scope permissions to specific actions and resources.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4992"/>
            <a:ext cx="8412480" cy="1188719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365760" y="3364992"/>
            <a:ext cx="73152" cy="1188719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566928" y="3438144"/>
            <a:ext cx="1005840" cy="219456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429000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Port 5432 (PostgreSQL) open to internet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712464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sg-0f23a4231069588f2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136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1480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Restrict port 5432 to specific IP ranges.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</a:rPr>
              <a:t>Medium Findings (17)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Address within 2 weeks.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81328"/>
            <a:ext cx="8412480" cy="1188719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481328"/>
            <a:ext cx="73152" cy="1188719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554480"/>
            <a:ext cx="1005840" cy="219456"/>
          </a:xfrm>
          <a:prstGeom prst="rect">
            <a:avLst/>
          </a:prstGeom>
          <a:noFill/>
          <a:solidFill>
            <a:srgbClr val="2563EB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545336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Instances running in default VPC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828800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vpc-062e6f0e9f4f0ceae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029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31136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Create custom VPC with private/public subnets and migrate instances.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4992"/>
            <a:ext cx="8412480" cy="1517904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365760" y="3364992"/>
            <a:ext cx="73152" cy="151790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566928" y="3438144"/>
            <a:ext cx="1005840" cy="219456"/>
          </a:xfrm>
          <a:prstGeom prst="rect">
            <a:avLst/>
          </a:prstGeom>
          <a:noFill/>
          <a:solidFill>
            <a:srgbClr val="2563EB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429000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VPC flow logs disabled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712464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vpc-062e6f0e9f4f0ceae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136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1480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Enable via VPC Console → Your VPCs → select VPC → Flow logs → Create flow log. Send to CloudWatch Logs for real-time analysis or S3 for long-term retention. Cost: approximately £0.50-2/month for a typical account.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</a:rPr>
              <a:t>Medium Findings (cont.)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Address within 2 weeks.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81328"/>
            <a:ext cx="8412480" cy="1188719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481328"/>
            <a:ext cx="73152" cy="1188719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554480"/>
            <a:ext cx="1005840" cy="219456"/>
          </a:xfrm>
          <a:prstGeom prst="rect">
            <a:avLst/>
          </a:prstGeom>
          <a:noFill/>
          <a:solidFill>
            <a:srgbClr val="2563EB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545336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EBS default encryption disabled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828800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account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029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31136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Enable 'EBS encryption by default' in EC2 settings.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4992"/>
            <a:ext cx="8412480" cy="1188719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365760" y="3364992"/>
            <a:ext cx="73152" cy="1188719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566928" y="3438144"/>
            <a:ext cx="1005840" cy="219456"/>
          </a:xfrm>
          <a:prstGeom prst="rect">
            <a:avLst/>
          </a:prstGeom>
          <a:noFill/>
          <a:solidFill>
            <a:srgbClr val="2563EB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429000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IMDSv2 not enforced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712464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i-0571dd0b1a560b68b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136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1480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Enforce IMDSv2 to prevent SSRF-based credential theft.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</a:rPr>
              <a:t>Medium Findings (cont.)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Address within 2 weeks.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81328"/>
            <a:ext cx="8412480" cy="1188719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481328"/>
            <a:ext cx="73152" cy="1188719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554480"/>
            <a:ext cx="1005840" cy="219456"/>
          </a:xfrm>
          <a:prstGeom prst="rect">
            <a:avLst/>
          </a:prstGeom>
          <a:noFill/>
          <a:solidFill>
            <a:srgbClr val="2563EB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545336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Access logging disabled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828800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nuboshield-demo-no-encryption-1778538103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029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31136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Enable S3 server access logging to a dedicated log bucket.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4992"/>
            <a:ext cx="8412480" cy="1188719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365760" y="3364992"/>
            <a:ext cx="73152" cy="1188719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566928" y="3438144"/>
            <a:ext cx="1005840" cy="219456"/>
          </a:xfrm>
          <a:prstGeom prst="rect">
            <a:avLst/>
          </a:prstGeom>
          <a:noFill/>
          <a:solidFill>
            <a:srgbClr val="2563EB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429000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 bucket policy (HTTPS not enforced)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712464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nuboshield-demo-no-encryption-1778538103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136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1480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Add bucket policy to enforce TLS-only access.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</a:rPr>
              <a:t>Advisory (12)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Address within 2 weeks.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81328"/>
            <a:ext cx="8412480" cy="1188719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481328"/>
            <a:ext cx="73152" cy="1188719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554480"/>
            <a:ext cx="1005840" cy="219456"/>
          </a:xfrm>
          <a:prstGeom prst="rect">
            <a:avLst/>
          </a:prstGeom>
          <a:noFill/>
          <a:solidFill>
            <a:srgbClr val="7C3AED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ADVISORY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545336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4 unused security groups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828800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security-groups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029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31136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Delete unused security groups.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4992"/>
            <a:ext cx="8412480" cy="1188719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365760" y="3364992"/>
            <a:ext cx="73152" cy="1188719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566928" y="3438144"/>
            <a:ext cx="1005840" cy="219456"/>
          </a:xfrm>
          <a:prstGeom prst="rect">
            <a:avLst/>
          </a:prstGeom>
          <a:noFill/>
          <a:solidFill>
            <a:srgbClr val="7C3AED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ADVISORY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429000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Instance with public IP (18.134.128.119)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712464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nuboshield-demo-imdsv1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136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1480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Move to private subnet behind load balancer.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</a:rPr>
              <a:t>Advisory (cont.)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Address within 2 weeks.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81328"/>
            <a:ext cx="8412480" cy="1188719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481328"/>
            <a:ext cx="73152" cy="1188719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554480"/>
            <a:ext cx="1005840" cy="219456"/>
          </a:xfrm>
          <a:prstGeom prst="rect">
            <a:avLst/>
          </a:prstGeom>
          <a:noFill/>
          <a:solidFill>
            <a:srgbClr val="7C3AED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ADVISORY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545336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Versioning not enabled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828800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nuboshield-demo-no-encryption-1778538103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029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31136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Enable bucket versioning for data protection.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4992"/>
            <a:ext cx="8412480" cy="1517904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365760" y="3364992"/>
            <a:ext cx="73152" cy="1517904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566928" y="3438144"/>
            <a:ext cx="1005840" cy="219456"/>
          </a:xfrm>
          <a:prstGeom prst="rect">
            <a:avLst/>
          </a:prstGeom>
          <a:noFill/>
          <a:solidFill>
            <a:srgbClr val="7C3AED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ADVISORY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429000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 lifecycle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712464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nuboshield-demo-no-encryption-1778538103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136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1480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Add lifecycle rules via S3 Console → Bucket → Management → Lifecycle rules. Recommended pattern: transition to S3-IA after 30 days (40% cheaper), transition to Glacier after 90 days (80% cheaper), delete after 365 days for logs.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</a:rPr>
              <a:t>Advisory (cont.)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Address within 2 weeks.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81328"/>
            <a:ext cx="8412480" cy="1188719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481328"/>
            <a:ext cx="73152" cy="1188719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554480"/>
            <a:ext cx="1005840" cy="219456"/>
          </a:xfrm>
          <a:prstGeom prst="rect">
            <a:avLst/>
          </a:prstGeom>
          <a:noFill/>
          <a:solidFill>
            <a:srgbClr val="7C3AED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ADVISORY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545336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 cross-region replication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828800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nuboshield-demo-no-encryption-1778538103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0299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31136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Consider enabling replication for critical data buckets.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4992"/>
            <a:ext cx="8412480" cy="1188719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365760" y="3364992"/>
            <a:ext cx="73152" cy="1188719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566928" y="3438144"/>
            <a:ext cx="1005840" cy="219456"/>
          </a:xfrm>
          <a:prstGeom prst="rect">
            <a:avLst/>
          </a:prstGeom>
          <a:noFill/>
          <a:solidFill>
            <a:srgbClr val="7C3AED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ADVISORY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429000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Versioning not enabled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712464"/>
            <a:ext cx="7955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E5F72"/>
                </a:solidFill>
              </a:rPr>
              <a:t>Resource: nuboshield-demo-no-logging-1778538103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136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How to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1480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2F8"/>
                </a:solidFill>
              </a:rPr>
              <a:t>Enable bucket versioning for data protection.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Remediation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Prioritised fix order — hand this to your engineering team.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411480" y="196596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3F5E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659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Root account MFA disabled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84248"/>
            <a:ext cx="822960" cy="201168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984248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16A34A"/>
                </a:solidFill>
              </a:rPr>
              <a:t>30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13432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411480" y="235915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3F5E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35915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All traffic open to internet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822960" cy="201168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377440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16A34A"/>
                </a:solidFill>
              </a:rPr>
              <a:t>30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06624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22" name="TextBox 21"/>
          <p:cNvSpPr txBox="1"/>
          <p:nvPr/>
        </p:nvSpPr>
        <p:spPr>
          <a:xfrm>
            <a:off x="411480" y="275234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3F5E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75234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Port 3389 (RDP) open to internet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70632"/>
            <a:ext cx="822960" cy="201168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770632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16A34A"/>
                </a:solidFill>
              </a:rPr>
              <a:t>30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099816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27" name="TextBox 26"/>
          <p:cNvSpPr txBox="1"/>
          <p:nvPr/>
        </p:nvSpPr>
        <p:spPr>
          <a:xfrm>
            <a:off x="411480" y="314553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3F5E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14553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Port 22 (SSH) open to internet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163824"/>
            <a:ext cx="822960" cy="201168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3163824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16A34A"/>
                </a:solidFill>
              </a:rPr>
              <a:t>30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493008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32" name="TextBox 31"/>
          <p:cNvSpPr txBox="1"/>
          <p:nvPr/>
        </p:nvSpPr>
        <p:spPr>
          <a:xfrm>
            <a:off x="411480" y="353872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3F5E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35387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Database publicly accessible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557016"/>
            <a:ext cx="822960" cy="201168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3557016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16A34A"/>
                </a:solidFill>
              </a:rPr>
              <a:t>30 min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886200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37" name="TextBox 36"/>
          <p:cNvSpPr txBox="1"/>
          <p:nvPr/>
        </p:nvSpPr>
        <p:spPr>
          <a:xfrm>
            <a:off x="411480" y="393192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3F5E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39319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Automated backups disabled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950208"/>
            <a:ext cx="822960" cy="201168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3950208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16A34A"/>
                </a:solidFill>
              </a:rPr>
              <a:t>30 min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279392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42" name="TextBox 41"/>
          <p:cNvSpPr txBox="1"/>
          <p:nvPr/>
        </p:nvSpPr>
        <p:spPr>
          <a:xfrm>
            <a:off x="411480" y="432511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3F5E"/>
                </a:solidFill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43251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CloudTrail not enabled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343400"/>
            <a:ext cx="822960" cy="201168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20" y="4343400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16A34A"/>
                </a:solidFill>
              </a:rPr>
              <a:t>30 min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672583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47" name="TextBox 46"/>
          <p:cNvSpPr txBox="1"/>
          <p:nvPr/>
        </p:nvSpPr>
        <p:spPr>
          <a:xfrm>
            <a:off x="411480" y="4718303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3F5E"/>
                </a:solidFill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4718303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No password policy set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736592"/>
            <a:ext cx="822960" cy="201168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4736592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D97706"/>
                </a:solidFill>
              </a:rPr>
              <a:t>2–4 hrs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75488"/>
            <a:ext cx="9144000" cy="4663440"/>
          </a:xfrm>
          <a:prstGeom prst="rect">
            <a:avLst/>
          </a:prstGeom>
          <a:solidFill>
            <a:srgbClr val="070B12"/>
          </a:solidFill>
          <a:ln>
            <a:noFill/>
          </a:ln>
        </p:spPr>
      </p:sp>
      <p:sp>
        <p:nvSpPr>
          <p:cNvPr id="9" name="Rectangle 8"/>
          <p:cNvSpPr/>
          <p:nvPr/>
        </p:nvSpPr>
        <p:spPr>
          <a:xfrm>
            <a:off x="0" y="475488"/>
            <a:ext cx="54864" cy="4663440"/>
          </a:xfrm>
          <a:prstGeom prst="rect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10" name="TextBox 9"/>
          <p:cNvSpPr txBox="1"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Need help fixing these?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1732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E9DB4"/>
                </a:solidFill>
              </a:rPr>
              <a:t>NuboLabs offers full remediation — we implement the fixes for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20240"/>
            <a:ext cx="2651760" cy="214884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3" name="Rectangle 12"/>
          <p:cNvSpPr/>
          <p:nvPr/>
        </p:nvSpPr>
        <p:spPr>
          <a:xfrm>
            <a:off x="365760" y="1920240"/>
            <a:ext cx="265176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14" name="TextBox 13"/>
          <p:cNvSpPr txBox="1"/>
          <p:nvPr/>
        </p:nvSpPr>
        <p:spPr>
          <a:xfrm>
            <a:off x="502920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Targeted 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35915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We remediate the critical and high findings from this report. IAM hardening, encryption, CloudTrail, security group cleanup — done properly.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564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From £500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920240"/>
            <a:ext cx="2651760" cy="214884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8" name="Rectangle 17"/>
          <p:cNvSpPr/>
          <p:nvPr/>
        </p:nvSpPr>
        <p:spPr>
          <a:xfrm>
            <a:off x="3246120" y="1920240"/>
            <a:ext cx="265176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3383279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Full Hardening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79" y="235915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Complete implementation of all findings plus architectural improvements. Leaves your AWS environment in a production-ready secure state.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79" y="34564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From £1,500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920240"/>
            <a:ext cx="2651760" cy="214884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23" name="Rectangle 22"/>
          <p:cNvSpPr/>
          <p:nvPr/>
        </p:nvSpPr>
        <p:spPr>
          <a:xfrm>
            <a:off x="6126480" y="1920240"/>
            <a:ext cx="265176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24" name="TextBox 23"/>
          <p:cNvSpPr txBox="1"/>
          <p:nvPr/>
        </p:nvSpPr>
        <p:spPr>
          <a:xfrm>
            <a:off x="6263640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Monthly Retainer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35915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Monthly rescan plus ongoing remediation as your infrastructure evolves. New findings fixed before they become incidents.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4564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£450/mo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160520"/>
            <a:ext cx="8412480" cy="713232"/>
          </a:xfrm>
          <a:prstGeom prst="rect">
            <a:avLst/>
          </a:prstGeom>
          <a:solidFill>
            <a:srgbClr val="0A1222"/>
          </a:solidFill>
          <a:ln>
            <a:noFill/>
          </a:ln>
        </p:spPr>
      </p:sp>
      <p:sp>
        <p:nvSpPr>
          <p:cNvPr id="28" name="Rectangle 27"/>
          <p:cNvSpPr/>
          <p:nvPr/>
        </p:nvSpPr>
        <p:spPr>
          <a:xfrm>
            <a:off x="365760" y="4160520"/>
            <a:ext cx="841248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29" name="TextBox 28"/>
          <p:cNvSpPr txBox="1"/>
          <p:nvPr/>
        </p:nvSpPr>
        <p:spPr>
          <a:xfrm>
            <a:off x="502920" y="4224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Ready to get started?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4988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DB4"/>
                </a:solidFill>
              </a:rPr>
              <a:t>sales@nubolabs.co.uk  ·  nubolabs.co.uk  ·  Leeds, UK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251960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43F5E"/>
                </a:solidFill>
                <a:hlinkClick r:id="rId2"/>
              </a:rPr>
              <a:t>Reply to this report 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00200"/>
            <a:ext cx="6400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Nubo</a:t>
            </a:r>
            <a:r>
              <a:rPr sz="3800" b="1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2316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E9DB4"/>
                </a:solidFill>
              </a:rPr>
              <a:t>Cloud Infrastructure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852928"/>
            <a:ext cx="2743200" cy="27432"/>
          </a:xfrm>
          <a:prstGeom prst="rect">
            <a:avLst/>
          </a:prstGeom>
          <a:solidFill>
            <a:srgbClr val="4E5F72"/>
          </a:solidFill>
          <a:ln>
            <a:noFill/>
          </a:ln>
        </p:spPr>
      </p:sp>
      <p:sp>
        <p:nvSpPr>
          <p:cNvPr id="5" name="TextBox 4"/>
          <p:cNvSpPr txBox="1"/>
          <p:nvPr/>
        </p:nvSpPr>
        <p:spPr>
          <a:xfrm>
            <a:off x="1371600" y="29443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E9DB4"/>
                </a:solidFill>
              </a:rPr>
              <a:t>sales@nubolabs.co.uk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55264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E5F72"/>
                </a:solidFill>
              </a:rPr>
              <a:t>nubolabs.co.uk  ·  Leeds, 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E5F72"/>
                </a:solidFill>
              </a:rPr>
              <a:t>Technical assessment only. Not a security certification or compliance guarantee.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