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sales@nubolabs.co.uk?subject=Remediation%20Enquiry%20-%20NuboShield%20Repor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B12"/>
          </a:solidFill>
          <a:ln>
            <a:noFill/>
          </a:ln>
        </p:spPr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4" name="Rectangl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5" name="Rectangle 4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274320" y="16459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645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11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Cloud Infrastructure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00584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43F5E"/>
                </a:solidFill>
              </a:rPr>
              <a:t>Vault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9DB4"/>
                </a:solidFill>
              </a:rPr>
              <a:t>Secrets &amp; Exposure Audit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46120"/>
            <a:ext cx="5029200" cy="22860"/>
          </a:xfrm>
          <a:prstGeom prst="rect">
            <a:avLst/>
          </a:prstGeom>
          <a:solidFill>
            <a:srgbClr val="4E5F72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274320" y="33649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Acme Technologies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393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15 May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2651760" cy="265176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16" name="Rectangle 15"/>
          <p:cNvSpPr/>
          <p:nvPr/>
        </p:nvSpPr>
        <p:spPr>
          <a:xfrm>
            <a:off x="6217920" y="914400"/>
            <a:ext cx="2651760" cy="2651760"/>
          </a:xfrm>
          <a:prstGeom prst="rect">
            <a:avLst/>
          </a:prstGeom>
          <a:noFill/>
          <a:ln w="25400">
            <a:solidFill>
              <a:srgbClr val="F43F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0515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DC2626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331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E9DB4"/>
                </a:solidFill>
              </a:rPr>
              <a:t>/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7432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</a:rPr>
              <a:t>POOR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03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C2626"/>
                </a:solidFill>
              </a:rPr>
              <a:t>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0416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5F72"/>
                </a:solidFill>
              </a:rP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7" y="3703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97706"/>
                </a:solidFill>
              </a:rPr>
              <a:t>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7" y="40416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5F72"/>
                </a:solidFill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5" y="3703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3F5E"/>
                </a:solidFill>
              </a:rPr>
              <a:t>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5" y="404164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E5F72"/>
                </a:solidFill>
              </a:rP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70916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nubolabs.co.uk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What you need to know.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1554480" cy="96012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365760" y="192024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C2626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DB4"/>
                </a:solidFill>
              </a:rPr>
              <a:t>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1874519"/>
            <a:ext cx="1554480" cy="96012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5" name="TextBox 14"/>
          <p:cNvSpPr txBox="1"/>
          <p:nvPr/>
        </p:nvSpPr>
        <p:spPr>
          <a:xfrm>
            <a:off x="2057400" y="192024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C2626"/>
                </a:solidFill>
              </a:rP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DB4"/>
                </a:solidFill>
              </a:rPr>
              <a:t>Critical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1874519"/>
            <a:ext cx="1554480" cy="96012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3749040" y="192024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</a:rPr>
              <a:t>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DB4"/>
                </a:solidFill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874519"/>
            <a:ext cx="1554480" cy="96012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1" name="TextBox 20"/>
          <p:cNvSpPr txBox="1"/>
          <p:nvPr/>
        </p:nvSpPr>
        <p:spPr>
          <a:xfrm>
            <a:off x="5440680" y="192024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563EB"/>
                </a:solidFill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DB4"/>
                </a:solidFill>
              </a:rPr>
              <a:t>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874519"/>
            <a:ext cx="1554480" cy="96012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4" name="TextBox 23"/>
          <p:cNvSpPr txBox="1"/>
          <p:nvPr/>
        </p:nvSpPr>
        <p:spPr>
          <a:xfrm>
            <a:off x="7132320" y="1920240"/>
            <a:ext cx="1554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43F5E"/>
                </a:solidFill>
              </a:rPr>
              <a:t>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48716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9DB4"/>
                </a:solidFill>
              </a:rPr>
              <a:t>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017520"/>
            <a:ext cx="8412480" cy="777240"/>
          </a:xfrm>
          <a:prstGeom prst="rect">
            <a:avLst/>
          </a:prstGeom>
          <a:solidFill>
            <a:srgbClr val="3F1010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502920" y="3063240"/>
            <a:ext cx="2743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⚠  If you fix nothing: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3375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F2F8"/>
                </a:solidFill>
              </a:rPr>
              <a:t>Exposed credentials found by automated scanners within hours. One leaked key = full account compromise.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Top 5 Priority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Start here. Highest impact on your score and risk posture.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292608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365760" y="194767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11095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 var contains Stripe Live Secret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30552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→ Move secrets to AWS Secrets Manager and use SDK to fetch at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965960"/>
            <a:ext cx="1005840" cy="237744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50591"/>
            <a:ext cx="292608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365760" y="2523744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487168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 var contains Hardcoded secret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706624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→ Move secrets to AWS Secrets Manager and use SDK to fetch at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542032"/>
            <a:ext cx="1005840" cy="237744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26663"/>
            <a:ext cx="292608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365760" y="3099815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063239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 var contains Hardcoded password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282696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→ Move secrets to AWS Secrets Manager and use SDK to fetch at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118103"/>
            <a:ext cx="1005840" cy="237744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02736"/>
            <a:ext cx="292608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365760" y="3675887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639312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 var contains AWS Secret Access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858768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→ Move secrets to AWS Secrets Manager and use SDK to fetch at 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694176"/>
            <a:ext cx="1005840" cy="237744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78808"/>
            <a:ext cx="292608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2" name="TextBox 31"/>
          <p:cNvSpPr txBox="1"/>
          <p:nvPr/>
        </p:nvSpPr>
        <p:spPr>
          <a:xfrm>
            <a:off x="365760" y="425196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215384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 var contains GitHub Personal Access Token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43484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→ Move secrets to AWS Secrets Manager and use SDK to fetch at runtime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4270248"/>
            <a:ext cx="1005840" cy="237744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Category Scorecard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Score breakdown across all domains.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457200" y="19751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Lambda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0428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14" name="TextBox 13"/>
          <p:cNvSpPr txBox="1"/>
          <p:nvPr/>
        </p:nvSpPr>
        <p:spPr>
          <a:xfrm>
            <a:off x="2331720" y="21945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C2626"/>
                </a:solidFill>
              </a:rPr>
              <a:t>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92024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6" name="TextBox 15"/>
          <p:cNvSpPr txBox="1"/>
          <p:nvPr/>
        </p:nvSpPr>
        <p:spPr>
          <a:xfrm>
            <a:off x="3383280" y="19751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EC2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30428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18" name="TextBox 17"/>
          <p:cNvSpPr txBox="1"/>
          <p:nvPr/>
        </p:nvSpPr>
        <p:spPr>
          <a:xfrm>
            <a:off x="5257800" y="21945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C2626"/>
                </a:solidFill>
              </a:rPr>
              <a:t>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0" name="TextBox 19"/>
          <p:cNvSpPr txBox="1"/>
          <p:nvPr/>
        </p:nvSpPr>
        <p:spPr>
          <a:xfrm>
            <a:off x="6309360" y="19751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30428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8183880" y="21945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C2626"/>
                </a:solidFill>
              </a:rPr>
              <a:t>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88036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4" name="TextBox 23"/>
          <p:cNvSpPr txBox="1"/>
          <p:nvPr/>
        </p:nvSpPr>
        <p:spPr>
          <a:xfrm>
            <a:off x="457200" y="29352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SSM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6440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26" name="Rectangle 25"/>
          <p:cNvSpPr/>
          <p:nvPr/>
        </p:nvSpPr>
        <p:spPr>
          <a:xfrm>
            <a:off x="457200" y="3264408"/>
            <a:ext cx="640080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2331720" y="31546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DC2626"/>
                </a:solidFill>
              </a:rPr>
              <a:t>35%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288036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9" name="TextBox 28"/>
          <p:cNvSpPr txBox="1"/>
          <p:nvPr/>
        </p:nvSpPr>
        <p:spPr>
          <a:xfrm>
            <a:off x="3383280" y="29352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SecretsManager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326440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1" name="Rectangle 30"/>
          <p:cNvSpPr/>
          <p:nvPr/>
        </p:nvSpPr>
        <p:spPr>
          <a:xfrm>
            <a:off x="3383280" y="3264408"/>
            <a:ext cx="164592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2" name="TextBox 31"/>
          <p:cNvSpPr txBox="1"/>
          <p:nvPr/>
        </p:nvSpPr>
        <p:spPr>
          <a:xfrm>
            <a:off x="5257800" y="31546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</a:rPr>
              <a:t>90%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88036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34" name="TextBox 33"/>
          <p:cNvSpPr txBox="1"/>
          <p:nvPr/>
        </p:nvSpPr>
        <p:spPr>
          <a:xfrm>
            <a:off x="6309360" y="293522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CloudFormation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26440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6" name="Rectangle 35"/>
          <p:cNvSpPr/>
          <p:nvPr/>
        </p:nvSpPr>
        <p:spPr>
          <a:xfrm>
            <a:off x="6309360" y="3264408"/>
            <a:ext cx="14630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7" name="TextBox 36"/>
          <p:cNvSpPr txBox="1"/>
          <p:nvPr/>
        </p:nvSpPr>
        <p:spPr>
          <a:xfrm>
            <a:off x="8183880" y="315468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</a:rPr>
              <a:t>80%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840480"/>
            <a:ext cx="2743200" cy="82296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39" name="TextBox 38"/>
          <p:cNvSpPr txBox="1"/>
          <p:nvPr/>
        </p:nvSpPr>
        <p:spPr>
          <a:xfrm>
            <a:off x="457200" y="389534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CloudWatch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224528"/>
            <a:ext cx="1828800" cy="91440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41" name="Rectangle 40"/>
          <p:cNvSpPr/>
          <p:nvPr/>
        </p:nvSpPr>
        <p:spPr>
          <a:xfrm>
            <a:off x="457200" y="4224528"/>
            <a:ext cx="137160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2" name="TextBox 41"/>
          <p:cNvSpPr txBox="1"/>
          <p:nvPr/>
        </p:nvSpPr>
        <p:spPr>
          <a:xfrm>
            <a:off x="2331720" y="411480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A34A"/>
                </a:solidFill>
              </a:rPr>
              <a:t>75%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Attack Path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How an attacker exploits your specific findings — step by step.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34747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365760" y="195681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38528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2F8"/>
                </a:solidFill>
              </a:rPr>
              <a:t>.env file found in accessible S3 bucket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194560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Contains DATABASE_URL, AWS keys, Stripe credentials — all plaintext.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230428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2626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70048"/>
            <a:ext cx="34747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365760" y="270662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688336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2F8"/>
                </a:solidFill>
              </a:rPr>
              <a:t>AWS credentials used — keys never rotated, still valid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944368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Immediate account access with all associated permissions.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3054096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2626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19856"/>
            <a:ext cx="34747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365760" y="3456432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438144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2F8"/>
                </a:solidFill>
              </a:rPr>
              <a:t>Production database accessed via connection string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694176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Full read/write access to all customer data.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3803904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2626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169664"/>
            <a:ext cx="347472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365760" y="420624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187952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EF2F8"/>
                </a:solidFill>
              </a:rPr>
              <a:t>Terraform state reveals entire infrastructure blueprint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443984"/>
            <a:ext cx="7498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State contains passwords, keys, and resource details — roadmap for deeper compromise.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0A2A15"/>
          </a:solidFill>
          <a:ln>
            <a:noFill/>
          </a:ln>
        </p:spPr>
      </p:sp>
      <p:sp>
        <p:nvSpPr>
          <p:cNvPr id="31" name="TextBox 30"/>
          <p:cNvSpPr txBox="1"/>
          <p:nvPr/>
        </p:nvSpPr>
        <p:spPr>
          <a:xfrm>
            <a:off x="548640" y="46817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✓  Fix any one step above and you break the entire attack chain.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</a:rPr>
              <a:t>Critical Findings (32)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Immediate action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828800"/>
            <a:ext cx="64008" cy="107899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901952"/>
            <a:ext cx="1097280" cy="219456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188366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 var contains Stripe Live Secret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5798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Function nubovault-demo-api has potential Stripe Live Secret Key in environment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2374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Move secrets to AWS Secrets Manager and use SDK to fetch at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8" name="Rectangle 17"/>
          <p:cNvSpPr/>
          <p:nvPr/>
        </p:nvSpPr>
        <p:spPr>
          <a:xfrm>
            <a:off x="365760" y="3108960"/>
            <a:ext cx="64008" cy="107899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566928" y="3182112"/>
            <a:ext cx="1097280" cy="219456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316382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 var contains Hardcoded secret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43814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Function nubovault-demo-api has potential Hardcoded secret in environment variables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80390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Move secrets to AWS Secrets Manager and use SDK to fetch at runtime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</a:rPr>
              <a:t>Critical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Immediate action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828800"/>
            <a:ext cx="64008" cy="107899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901952"/>
            <a:ext cx="1097280" cy="219456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188366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 var contains Hardcoded 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5798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Function nubovault-demo-api has potential Hardcoded password in environment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2374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Move secrets to AWS Secrets Manager and use SDK to fetch at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8" name="Rectangle 17"/>
          <p:cNvSpPr/>
          <p:nvPr/>
        </p:nvSpPr>
        <p:spPr>
          <a:xfrm>
            <a:off x="365760" y="3108960"/>
            <a:ext cx="64008" cy="107899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566928" y="3182112"/>
            <a:ext cx="1097280" cy="219456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316382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 var contains AWS Secret Access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43814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Function nubovault-demo-worker has potential AWS Secret Access Key in environment variables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80390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Move secrets to AWS Secrets Manager and use SDK to fetch at runtime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</a:rPr>
              <a:t>Critical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Immediate action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828800"/>
            <a:ext cx="64008" cy="107899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901952"/>
            <a:ext cx="1097280" cy="219456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188366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 var contains GitHub Personal Access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5798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Function nubovault-demo-worker has potential GitHub Personal Access Token in environment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2374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Move secrets to AWS Secrets Manager and use SDK to fetch at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8" name="Rectangle 17"/>
          <p:cNvSpPr/>
          <p:nvPr/>
        </p:nvSpPr>
        <p:spPr>
          <a:xfrm>
            <a:off x="365760" y="3108960"/>
            <a:ext cx="64008" cy="1078992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566928" y="3182112"/>
            <a:ext cx="1097280" cy="219456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316382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User data contains AWS Access Key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43814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Instance nubovault-demo-secrets-in-userdata user data script contains AWS Access Key 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80390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Remove credentials from user data — use IAM instance roles or Secrets Manager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</a:rPr>
              <a:t>High Findings (23)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48 hours.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828800"/>
            <a:ext cx="64008" cy="1078992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901952"/>
            <a:ext cx="109728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188366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 var contains 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5798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Function nubovault-demo-api has potential API key in environment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2374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Move secrets to AWS Secrets Manager and use SDK to fetch at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8" name="Rectangle 17"/>
          <p:cNvSpPr/>
          <p:nvPr/>
        </p:nvSpPr>
        <p:spPr>
          <a:xfrm>
            <a:off x="365760" y="3108960"/>
            <a:ext cx="64008" cy="1078992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566928" y="3182112"/>
            <a:ext cx="109728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316382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Suspicious env var names (4 vars)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43814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Variables: STRIPE_SECRET_KEY, JWT_SECRET, SENDGRID_API_KEY, DATABASE_PASSWORD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80390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Rename and move to Secrets Manager or SSM Parameter Store SecureString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</a:rPr>
              <a:t>High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48 hours.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828800"/>
            <a:ext cx="64008" cy="1078992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901952"/>
            <a:ext cx="109728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188366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 var contains Auth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5798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Function nubovault-demo-worker has potential Auth token in environment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2374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Move secrets to AWS Secrets Manager and use SDK to fetch at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8" name="Rectangle 17"/>
          <p:cNvSpPr/>
          <p:nvPr/>
        </p:nvSpPr>
        <p:spPr>
          <a:xfrm>
            <a:off x="365760" y="3108960"/>
            <a:ext cx="64008" cy="1078992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566928" y="3182112"/>
            <a:ext cx="109728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316382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Env var contains Redis connection string with passwo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43814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Function nubovault-demo-worker has potential Redis connection string with password in environment variables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80390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Move secrets to AWS Secrets Manager and use SDK to fetch at runtime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</a:rPr>
              <a:t>High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48 hours.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828800"/>
            <a:ext cx="64008" cy="1078992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901952"/>
            <a:ext cx="109728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188366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Suspicious env var names (2 vars)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5798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Variables: APP_AWS_SECRET_KEY, GITHUB_TOKEN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2374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Rename and move to Secrets Manager or SSM Parameter Store SecureString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8" name="Rectangle 17"/>
          <p:cNvSpPr/>
          <p:nvPr/>
        </p:nvSpPr>
        <p:spPr>
          <a:xfrm>
            <a:off x="365760" y="3108960"/>
            <a:ext cx="64008" cy="1078992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566928" y="3182112"/>
            <a:ext cx="1097280" cy="219456"/>
          </a:xfrm>
          <a:prstGeom prst="rect">
            <a:avLst/>
          </a:prstGeom>
          <a:noFill/>
          <a:solidFill>
            <a:srgbClr val="D9770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316382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User data contains API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43814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Instance nubovault-demo-secrets-in-userdata user data script contains API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80390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Remove credentials from user data — use IAM instance roles or Secrets Manager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Medium Findings (7)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2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828800"/>
            <a:ext cx="64008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901952"/>
            <a:ext cx="109728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188366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 automatic rotation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5798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Manual rotation is error-prone and often neglected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2374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Enable automatic rotation — AWS provides rotation templates for common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8" name="Rectangle 17"/>
          <p:cNvSpPr/>
          <p:nvPr/>
        </p:nvSpPr>
        <p:spPr>
          <a:xfrm>
            <a:off x="365760" y="3108960"/>
            <a:ext cx="64008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566928" y="3182112"/>
            <a:ext cx="109728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316382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 automatic rotation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43814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Manual rotation is error-prone and often neglected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80390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Enable automatic rotation — AWS provides rotation templates for common services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Medium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2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828800"/>
            <a:ext cx="64008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901952"/>
            <a:ext cx="109728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188366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 log retention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5798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Log group retains data forever — increasing cost and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2374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Set retention policy — 90 days for most, 1 year for audit logs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8" name="Rectangle 17"/>
          <p:cNvSpPr/>
          <p:nvPr/>
        </p:nvSpPr>
        <p:spPr>
          <a:xfrm>
            <a:off x="365760" y="3108960"/>
            <a:ext cx="64008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566928" y="3182112"/>
            <a:ext cx="109728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316382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 log retention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43814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Log group retains data forever — increasing cost and 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80390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Set retention policy — 90 days for most, 1 year for audit logs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</a:rPr>
              <a:t>Medium Findings (cont.)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Address within 2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Rectangle 11"/>
          <p:cNvSpPr/>
          <p:nvPr/>
        </p:nvSpPr>
        <p:spPr>
          <a:xfrm>
            <a:off x="365760" y="1828800"/>
            <a:ext cx="64008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Box 12"/>
          <p:cNvSpPr txBox="1"/>
          <p:nvPr/>
        </p:nvSpPr>
        <p:spPr>
          <a:xfrm>
            <a:off x="566928" y="1901952"/>
            <a:ext cx="109728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188366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 log retention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15798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Log group retains data forever — increasing cost and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2374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Set retention policy — 90 days for most, 1 year for audit logs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8412480" cy="107899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8" name="Rectangle 17"/>
          <p:cNvSpPr/>
          <p:nvPr/>
        </p:nvSpPr>
        <p:spPr>
          <a:xfrm>
            <a:off x="365760" y="3108960"/>
            <a:ext cx="64008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566928" y="3182112"/>
            <a:ext cx="1097280" cy="219456"/>
          </a:xfrm>
          <a:prstGeom prst="rect">
            <a:avLst/>
          </a:prstGeom>
          <a:noFill/>
          <a:solidFill>
            <a:srgbClr val="2563EB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3163824"/>
            <a:ext cx="6537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 log retention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438144"/>
            <a:ext cx="795527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Log group retains data forever — increasing cost and 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803904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→ Set retention policy — 90 days for most, 1 year for audit logs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87552"/>
            <a:ext cx="27432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9" name="TextBox 8"/>
          <p:cNvSpPr txBox="1"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Remediation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DB4"/>
                </a:solidFill>
              </a:rPr>
              <a:t>Prioritised fix order — hand this to your engineering team.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411480" y="19659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659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Env var contains Stripe Live Secret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84248"/>
            <a:ext cx="822960" cy="201168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984248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30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13432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411480" y="235915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3591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Env var contains Hardcoded secret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822960" cy="201168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377440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30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06624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2" name="TextBox 21"/>
          <p:cNvSpPr txBox="1"/>
          <p:nvPr/>
        </p:nvSpPr>
        <p:spPr>
          <a:xfrm>
            <a:off x="411480" y="2752344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75234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Env var contains Hardcoded password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70632"/>
            <a:ext cx="822960" cy="201168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770632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30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099816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7" name="TextBox 26"/>
          <p:cNvSpPr txBox="1"/>
          <p:nvPr/>
        </p:nvSpPr>
        <p:spPr>
          <a:xfrm>
            <a:off x="411480" y="31455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1455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Env var contains AWS Secret Access 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163824"/>
            <a:ext cx="822960" cy="201168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163824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30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93008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32" name="TextBox 31"/>
          <p:cNvSpPr txBox="1"/>
          <p:nvPr/>
        </p:nvSpPr>
        <p:spPr>
          <a:xfrm>
            <a:off x="411480" y="353872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5387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Env var contains GitHub Personal Access Token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557016"/>
            <a:ext cx="822960" cy="201168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3557016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30 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886200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37" name="TextBox 36"/>
          <p:cNvSpPr txBox="1"/>
          <p:nvPr/>
        </p:nvSpPr>
        <p:spPr>
          <a:xfrm>
            <a:off x="411480" y="393192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9319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User data contains AWS Access Key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950208"/>
            <a:ext cx="822960" cy="201168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3950208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30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279392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42" name="TextBox 41"/>
          <p:cNvSpPr txBox="1"/>
          <p:nvPr/>
        </p:nvSpPr>
        <p:spPr>
          <a:xfrm>
            <a:off x="411480" y="432511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43251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User data contains PostgreSQL connection string with passw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343400"/>
            <a:ext cx="822960" cy="201168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4343400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30 min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672583"/>
            <a:ext cx="84124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47" name="TextBox 46"/>
          <p:cNvSpPr txBox="1"/>
          <p:nvPr/>
        </p:nvSpPr>
        <p:spPr>
          <a:xfrm>
            <a:off x="411480" y="4718303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718303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Sensitive file: .env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736592"/>
            <a:ext cx="822960" cy="201168"/>
          </a:xfrm>
          <a:prstGeom prst="rect">
            <a:avLst/>
          </a:prstGeom>
          <a:noFill/>
          <a:solidFill>
            <a:srgbClr val="DC2626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4736592"/>
            <a:ext cx="1188720" cy="201168"/>
          </a:xfrm>
          <a:prstGeom prst="rect">
            <a:avLst/>
          </a:prstGeom>
          <a:noFill/>
          <a:solidFill>
            <a:srgbClr val="101828"/>
          </a:solidFill>
          <a:prstGeom prst="roundRect">
            <a:avLst>
              <a:gd name="adj" fmla="val 35000"/>
            </a:avLst>
          </a:prstGeom>
          <a:ln>
            <a:noFill/>
          </a:ln>
        </p:spPr>
        <p:txBody>
          <a:bodyPr wrap="none" tIns="0" bIns="0" lIns="45720" rIns="45720" anchor="ctr" anchorCtr="1">
            <a:spAutoFit/>
          </a:bodyPr>
          <a:lstStyle/>
          <a:p>
            <a:pPr algn="ctr"/>
            <a:r>
              <a:rPr sz="800" b="1">
                <a:solidFill>
                  <a:srgbClr val="16A34A"/>
                </a:solidFill>
              </a:rPr>
              <a:t>30 min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1220"/>
          </a:solidFill>
          <a:ln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27432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Nubo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73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E9DB4"/>
                </a:solidFill>
              </a:rPr>
              <a:t>· NuboVault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31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E5F72"/>
                </a:solidFill>
              </a:rPr>
              <a:t>Acme Technologies Ltd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75488"/>
            <a:ext cx="9144000" cy="4663440"/>
          </a:xfrm>
          <a:prstGeom prst="rect">
            <a:avLst/>
          </a:prstGeom>
          <a:solidFill>
            <a:srgbClr val="070B12"/>
          </a:solidFill>
          <a:ln>
            <a:noFill/>
          </a:ln>
        </p:spPr>
      </p:sp>
      <p:sp>
        <p:nvSpPr>
          <p:cNvPr id="9" name="Rectangle 8"/>
          <p:cNvSpPr/>
          <p:nvPr/>
        </p:nvSpPr>
        <p:spPr>
          <a:xfrm>
            <a:off x="0" y="475488"/>
            <a:ext cx="54864" cy="4663440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Need help fixing these?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732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E9DB4"/>
                </a:solidFill>
              </a:rPr>
              <a:t>NuboLabs offers full remediation — we implement the fixes for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2651760" cy="214884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3" name="Rectangle 12"/>
          <p:cNvSpPr/>
          <p:nvPr/>
        </p:nvSpPr>
        <p:spPr>
          <a:xfrm>
            <a:off x="365760" y="1920240"/>
            <a:ext cx="265176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14" name="TextBox 13"/>
          <p:cNvSpPr txBox="1"/>
          <p:nvPr/>
        </p:nvSpPr>
        <p:spPr>
          <a:xfrm>
            <a:off x="50292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Targeted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5915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We remediate the critical and high findings from this report. IAM hardening, encryption, CloudTrail, security group cleanup — done properly.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564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From £500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920240"/>
            <a:ext cx="2651760" cy="214884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8" name="Rectangle 17"/>
          <p:cNvSpPr/>
          <p:nvPr/>
        </p:nvSpPr>
        <p:spPr>
          <a:xfrm>
            <a:off x="3246120" y="1920240"/>
            <a:ext cx="265176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3383279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Full Hardening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235915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Complete implementation of all findings plus architectural improvements. Leaves your AWS environment in a production-ready secure state.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34564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From £1,500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920240"/>
            <a:ext cx="2651760" cy="2148840"/>
          </a:xfrm>
          <a:prstGeom prst="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23" name="Rectangle 22"/>
          <p:cNvSpPr/>
          <p:nvPr/>
        </p:nvSpPr>
        <p:spPr>
          <a:xfrm>
            <a:off x="6126480" y="1920240"/>
            <a:ext cx="265176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24" name="TextBox 23"/>
          <p:cNvSpPr txBox="1"/>
          <p:nvPr/>
        </p:nvSpPr>
        <p:spPr>
          <a:xfrm>
            <a:off x="6263640" y="20116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Monthly Retainer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35915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9DB4"/>
                </a:solidFill>
              </a:rPr>
              <a:t>Monthly rescan plus ongoing remediation as your infrastructure evolves. New findings fixed before they become incidents.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4564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3F5E"/>
                </a:solidFill>
              </a:rPr>
              <a:t>£450/mo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60520"/>
            <a:ext cx="8412480" cy="713232"/>
          </a:xfrm>
          <a:prstGeom prst="rect">
            <a:avLst/>
          </a:prstGeom>
          <a:solidFill>
            <a:srgbClr val="0A1222"/>
          </a:solidFill>
          <a:ln>
            <a:noFill/>
          </a:ln>
        </p:spPr>
      </p:sp>
      <p:sp>
        <p:nvSpPr>
          <p:cNvPr id="28" name="Rectangle 27"/>
          <p:cNvSpPr/>
          <p:nvPr/>
        </p:nvSpPr>
        <p:spPr>
          <a:xfrm>
            <a:off x="365760" y="4160520"/>
            <a:ext cx="8412480" cy="36576"/>
          </a:xfrm>
          <a:prstGeom prst="rect">
            <a:avLst/>
          </a:prstGeom>
          <a:solidFill>
            <a:srgbClr val="F43F5E"/>
          </a:solidFill>
          <a:ln>
            <a:noFill/>
          </a:ln>
        </p:spPr>
      </p:sp>
      <p:sp>
        <p:nvSpPr>
          <p:cNvPr id="29" name="TextBox 28"/>
          <p:cNvSpPr txBox="1"/>
          <p:nvPr/>
        </p:nvSpPr>
        <p:spPr>
          <a:xfrm>
            <a:off x="502920" y="4224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Ready to get started?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4988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9DB4"/>
                </a:solidFill>
              </a:rPr>
              <a:t>sales@nubolabs.co.uk  ·  nubolabs.co.uk  ·  Leeds, UK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251960"/>
            <a:ext cx="2651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F43F5E"/>
                </a:solidFill>
                <a:hlinkClick r:id="rId2"/>
              </a:rPr>
              <a:t>Reply to this report 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00200"/>
            <a:ext cx="6400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Nubo</a:t>
            </a:r>
            <a:r>
              <a:rPr sz="3800" b="1">
                <a:solidFill>
                  <a:srgbClr val="F43F5E"/>
                </a:solidFill>
              </a:rPr>
              <a:t>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2316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E9DB4"/>
                </a:solidFill>
              </a:rPr>
              <a:t>Cloud Infrastructure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852928"/>
            <a:ext cx="2743200" cy="27432"/>
          </a:xfrm>
          <a:prstGeom prst="rect">
            <a:avLst/>
          </a:prstGeom>
          <a:solidFill>
            <a:srgbClr val="4E5F72"/>
          </a:solidFill>
          <a:ln>
            <a:noFill/>
          </a:ln>
        </p:spPr>
      </p:sp>
      <p:sp>
        <p:nvSpPr>
          <p:cNvPr id="5" name="TextBox 4"/>
          <p:cNvSpPr txBox="1"/>
          <p:nvPr/>
        </p:nvSpPr>
        <p:spPr>
          <a:xfrm>
            <a:off x="1371600" y="2944368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E9DB4"/>
                </a:solidFill>
              </a:rPr>
              <a:t>sales@nubolabs.co.uk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55264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E5F72"/>
                </a:solidFill>
              </a:rPr>
              <a:t>nubolabs.co.uk  ·  Leeds, 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E5F72"/>
                </a:solidFill>
              </a:rPr>
              <a:t>Technical assessment only. Not a security certification or compliance guarantee.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