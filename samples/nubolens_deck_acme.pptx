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sales@nubolabs.co.uk?subject=Remediation%20Enquiry%20-%20NuboShield%20Report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B12"/>
          </a:solidFill>
          <a:ln>
            <a:noFill/>
          </a:ln>
        </p:spPr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8FFF"/>
          </a:solidFill>
          <a:ln>
            <a:noFill/>
          </a:ln>
        </p:spPr>
      </p:sp>
      <p:sp>
        <p:nvSpPr>
          <p:cNvPr id="4" name="Rectangl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5" name="Rectangle 4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1A8FFF"/>
          </a:solidFill>
          <a:ln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274320" y="16459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645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8FFF"/>
                </a:solidFill>
              </a:rPr>
              <a:t>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011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Cloud Infrastructure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0584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1A8FFF"/>
                </a:solidFill>
              </a:rPr>
              <a:t>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34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9DB4"/>
                </a:solidFill>
              </a:rPr>
              <a:t>Cloud Cost Audit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46120"/>
            <a:ext cx="5029200" cy="22860"/>
          </a:xfrm>
          <a:prstGeom prst="rect">
            <a:avLst/>
          </a:prstGeom>
          <a:solidFill>
            <a:srgbClr val="4E5F72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274320" y="33649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Acme Technologies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393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17 May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2651760" cy="265176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16" name="Rectangle 15"/>
          <p:cNvSpPr/>
          <p:nvPr/>
        </p:nvSpPr>
        <p:spPr>
          <a:xfrm>
            <a:off x="6217920" y="914400"/>
            <a:ext cx="2651760" cy="2651760"/>
          </a:xfrm>
          <a:prstGeom prst="rect">
            <a:avLst/>
          </a:prstGeom>
          <a:noFill/>
          <a:ln w="25400">
            <a:solidFill>
              <a:srgbClr val="1A8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0515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DC2626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331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E9DB4"/>
                </a:solidFill>
              </a:rPr>
              <a:t>/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432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</a:rPr>
              <a:t>POOR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703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C2626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0416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E5F72"/>
                </a:solidFill>
              </a:rP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7" y="3703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97706"/>
                </a:solidFill>
              </a:rPr>
              <a:t>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7" y="40416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E5F72"/>
                </a:solidFill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5" y="3703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8FFF"/>
                </a:solidFill>
              </a:rPr>
              <a:t>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7575" y="40416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E5F72"/>
                </a:solidFill>
              </a:rPr>
              <a:t>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70916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nubolabs.co.uk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FFF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What you need to know.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1554480" cy="96012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365760" y="192024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C2626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87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9DB4"/>
                </a:solidFill>
              </a:rPr>
              <a:t>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1874519"/>
            <a:ext cx="1554480" cy="96012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5" name="TextBox 14"/>
          <p:cNvSpPr txBox="1"/>
          <p:nvPr/>
        </p:nvSpPr>
        <p:spPr>
          <a:xfrm>
            <a:off x="2057400" y="192024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C2626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487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9DB4"/>
                </a:solidFill>
              </a:rPr>
              <a:t>Critical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40" y="1874519"/>
            <a:ext cx="1554480" cy="96012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8" name="TextBox 17"/>
          <p:cNvSpPr txBox="1"/>
          <p:nvPr/>
        </p:nvSpPr>
        <p:spPr>
          <a:xfrm>
            <a:off x="3749040" y="192024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2487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9DB4"/>
                </a:solidFill>
              </a:rP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1874519"/>
            <a:ext cx="1554480" cy="96012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1" name="TextBox 20"/>
          <p:cNvSpPr txBox="1"/>
          <p:nvPr/>
        </p:nvSpPr>
        <p:spPr>
          <a:xfrm>
            <a:off x="5440680" y="192024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563EB"/>
                </a:solidFill>
              </a:rPr>
              <a:t>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487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9DB4"/>
                </a:solidFill>
              </a:rPr>
              <a:t>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874519"/>
            <a:ext cx="1554480" cy="96012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4" name="TextBox 23"/>
          <p:cNvSpPr txBox="1"/>
          <p:nvPr/>
        </p:nvSpPr>
        <p:spPr>
          <a:xfrm>
            <a:off x="7132320" y="192024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8FFF"/>
                </a:solidFill>
              </a:rPr>
              <a:t>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487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9DB4"/>
                </a:solidFill>
              </a:rPr>
              <a:t>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017520"/>
            <a:ext cx="8412480" cy="777240"/>
          </a:xfrm>
          <a:prstGeom prst="rect">
            <a:avLst/>
          </a:prstGeom>
          <a:solidFill>
            <a:srgbClr val="3F1010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502920" y="306324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⚠  If you fix nothing: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33756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F2F8"/>
                </a:solidFill>
              </a:rPr>
              <a:t>Wasted spend continues every month. Compounds significantly over 12 months.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FFF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Top 5 Priority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Start here. Highest impact on your score and risk posture.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292608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365760" y="194767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11095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Idle instance — CPU 0.3%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30552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→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965960"/>
            <a:ext cx="1005840" cy="237744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50591"/>
            <a:ext cx="292608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365760" y="2523744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487168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Idle instance — CPU 0.2%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706624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→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542032"/>
            <a:ext cx="1005840" cy="237744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26663"/>
            <a:ext cx="292608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2" name="TextBox 21"/>
          <p:cNvSpPr txBox="1"/>
          <p:nvPr/>
        </p:nvSpPr>
        <p:spPr>
          <a:xfrm>
            <a:off x="365760" y="3099815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063239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Idle instance — CPU 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282696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→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118103"/>
            <a:ext cx="1005840" cy="237744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02736"/>
            <a:ext cx="292608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365760" y="3675887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639312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Idle instance — CPU 2.4%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85876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→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694176"/>
            <a:ext cx="1005840" cy="237744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78808"/>
            <a:ext cx="292608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2" name="TextBox 31"/>
          <p:cNvSpPr txBox="1"/>
          <p:nvPr/>
        </p:nvSpPr>
        <p:spPr>
          <a:xfrm>
            <a:off x="365760" y="425196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215384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Unattached volume (50GB, 0d old)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43484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→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270248"/>
            <a:ext cx="1005840" cy="237744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FFF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Category Scorecard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Score breakdown across all domains.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457200" y="19751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EC2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0428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14" name="Rectangle 13"/>
          <p:cNvSpPr/>
          <p:nvPr/>
        </p:nvSpPr>
        <p:spPr>
          <a:xfrm>
            <a:off x="457200" y="2304288"/>
            <a:ext cx="18288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5" name="TextBox 14"/>
          <p:cNvSpPr txBox="1"/>
          <p:nvPr/>
        </p:nvSpPr>
        <p:spPr>
          <a:xfrm>
            <a:off x="2331720" y="21945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C2626"/>
                </a:solidFill>
              </a:rPr>
              <a:t>10%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92024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3383280" y="19751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30428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383280" y="2304288"/>
            <a:ext cx="54864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257800" y="21945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C2626"/>
                </a:solidFill>
              </a:rPr>
              <a:t>30%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92024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2" name="TextBox 21"/>
          <p:cNvSpPr txBox="1"/>
          <p:nvPr/>
        </p:nvSpPr>
        <p:spPr>
          <a:xfrm>
            <a:off x="6309360" y="19751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Elastic 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30428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24" name="Rectangle 23"/>
          <p:cNvSpPr/>
          <p:nvPr/>
        </p:nvSpPr>
        <p:spPr>
          <a:xfrm>
            <a:off x="6309360" y="2304288"/>
            <a:ext cx="137160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5" name="TextBox 24"/>
          <p:cNvSpPr txBox="1"/>
          <p:nvPr/>
        </p:nvSpPr>
        <p:spPr>
          <a:xfrm>
            <a:off x="8183880" y="21945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</a:rPr>
              <a:t>75%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88036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457200" y="29352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6440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29" name="Rectangle 28"/>
          <p:cNvSpPr/>
          <p:nvPr/>
        </p:nvSpPr>
        <p:spPr>
          <a:xfrm>
            <a:off x="457200" y="3264408"/>
            <a:ext cx="54864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0" name="TextBox 29"/>
          <p:cNvSpPr txBox="1"/>
          <p:nvPr/>
        </p:nvSpPr>
        <p:spPr>
          <a:xfrm>
            <a:off x="2331720" y="31546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C2626"/>
                </a:solidFill>
              </a:rPr>
              <a:t>30%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288036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32" name="TextBox 31"/>
          <p:cNvSpPr txBox="1"/>
          <p:nvPr/>
        </p:nvSpPr>
        <p:spPr>
          <a:xfrm>
            <a:off x="3383280" y="29352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326440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4" name="Rectangle 33"/>
          <p:cNvSpPr/>
          <p:nvPr/>
        </p:nvSpPr>
        <p:spPr>
          <a:xfrm>
            <a:off x="3383280" y="3264408"/>
            <a:ext cx="14630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5" name="TextBox 34"/>
          <p:cNvSpPr txBox="1"/>
          <p:nvPr/>
        </p:nvSpPr>
        <p:spPr>
          <a:xfrm>
            <a:off x="5257800" y="31546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</a:rPr>
              <a:t>80%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88036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37" name="TextBox 36"/>
          <p:cNvSpPr txBox="1"/>
          <p:nvPr/>
        </p:nvSpPr>
        <p:spPr>
          <a:xfrm>
            <a:off x="6309360" y="29352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Lambda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26440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9" name="Rectangle 38"/>
          <p:cNvSpPr/>
          <p:nvPr/>
        </p:nvSpPr>
        <p:spPr>
          <a:xfrm>
            <a:off x="6309360" y="3264408"/>
            <a:ext cx="14630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0" name="TextBox 39"/>
          <p:cNvSpPr txBox="1"/>
          <p:nvPr/>
        </p:nvSpPr>
        <p:spPr>
          <a:xfrm>
            <a:off x="8183880" y="31546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</a:rPr>
              <a:t>80%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FFF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</a:rPr>
              <a:t>High Findings (19)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48 hours.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517904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517904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Idle instance — CPU 0.3%  ·  £8/mo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i-006f55d54c1135b66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Stop the instance (preserves data on EBS volumes, no compute charge while stopped) or terminate it (permanent deletion). AWS Instance Scheduler can automate stopping dev/test instances outside business hours.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517904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517904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Idle instance — CPU 0.3%  ·  £8/mo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i-0997065e8dfde4f14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Stop the instance (preserves data on EBS volumes, no compute charge while stopped) or terminate it (permanent deletion). AWS Instance Scheduler can automate stopping dev/test instances outside business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FFF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</a:rPr>
              <a:t>High Findings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48 hours.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517904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517904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Idle instance — CPU 0.2%  ·  £15/mo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i-00442f682442b200d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Stop the instance (preserves data on EBS volumes, no compute charge while stopped) or terminate it (permanent deletion). AWS Instance Scheduler can automate stopping dev/test instances outside business hours.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517904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517904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Idle instance — CPU 0.2%  ·  £8/mo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i-003dfae84578f69a0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Stop the instance (preserves data on EBS volumes, no compute charge while stopped) or terminate it (permanent deletion). AWS Instance Scheduler can automate stopping dev/test instances outside business hours.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FFF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</a:rPr>
              <a:t>High Findings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48 hours.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517904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517904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Idle instance — CPU 0.0%  ·  £8/mo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i-0ccc091d30cf656af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Stop the instance (preserves data on EBS volumes, no compute charge while stopped) or terminate it (permanent deletion). AWS Instance Scheduler can automate stopping dev/test instances outside business hours.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517904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517904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Idle instance — CPU 0.0%  ·  £8/mo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i-0d7af4a1f162625b8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Stop the instance (preserves data on EBS volumes, no compute charge while stopped) or terminate it (permanent deletion). AWS Instance Scheduler can automate stopping dev/test instances outside business hours.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FFF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Medium Findings (21)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2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517904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51790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Stopped instance with 1 attached volumes  ·  £4/mo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i-0c31075bf1d1b9ef9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1. Check if the instance is intentionally stopped (planned restart) or abandoned. 2. If abandoned: take a final snapshot of the EBS volume for safety (costs ~20% of active volume price), then terminate the instance. 3.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517904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51790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Stopped instance with 1 attached volumes  ·  £4/mo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i-07bac08dd4e2ab568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1. Check if the instance is intentionally stopped (planned restart) or abandoned. 2. If abandoned: take a final snapshot of the EBS volume for safety (costs ~20% of active volume price), then terminate the instance. 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FFF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Medium Findings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2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35331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35331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Unassociated EIP  ·  £3/mo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eipalloc-083b4f0ffb73ffea5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1. Check the Elastic IP in the EC2 Console — verify it is not needed for a future deployment. 2. If not needed: release the EIP. This removes the monthly charge immediately. 3.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35331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35331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Unassociated EIP  ·  £3/mo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eipalloc-02aad8691bdc0809b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1. Check the Elastic IP in the EC2 Console — verify it is not needed for a future deployment. 2. If not needed: release the EIP. This removes the monthly charge immediately. 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FFF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Medium Findings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2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35331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35331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Unassociated EIP  ·  £3/mo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eipalloc-0b0a027b8d9d59255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1. Check the Elastic IP in the EC2 Console — verify it is not needed for a future deployment. 2. If not needed: release the EIP. This removes the monthly charge immediately. 3.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35331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35331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Unassociated EIP  ·  £3/mo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eipalloc-011dac399dc9abbea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1. Check the Elastic IP in the EC2 Console — verify it is not needed for a future deployment. 2. If not needed: release the EIP. This removes the monthly charge immediately. 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FFF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</a:rPr>
              <a:t>Advisory 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2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517904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517904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7C3AED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ADVISORY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Unused Lambda function  ·  £1/mo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nubolabs-demo-unused-cron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1. Check if the function is intentionally dormant (e.g. a disaster recovery function triggered rarely). 2. If genuinely unused: delete the function. 3. If unsure: check CloudWatch Logs for last invocation date.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517904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517904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7C3AED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ADVISORY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Unused Lambda function  ·  £1/mo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nubolabs-demo-unused-webhook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1. Check if the function is intentionally dormant (e.g. a disaster recovery function triggered rarely). 2. If genuinely unused: delete the function. 3. If unsure: check CloudWatch Logs for last invocation date.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FFF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Remediation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Prioritised fix order — hand this to your engineering team.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411480" y="19659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Idle instance — CPU 0.3%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84248"/>
            <a:ext cx="822960" cy="201168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984248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D97706"/>
                </a:solidFill>
              </a:rPr>
              <a:t>2–4 hrs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13432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411480" y="235915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3591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Idle instance — CPU 0.2%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822960" cy="201168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377440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D97706"/>
                </a:solidFill>
              </a:rPr>
              <a:t>2–4 hrs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06624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2" name="TextBox 21"/>
          <p:cNvSpPr txBox="1"/>
          <p:nvPr/>
        </p:nvSpPr>
        <p:spPr>
          <a:xfrm>
            <a:off x="411480" y="275234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523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Idle instance — CPU 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70632"/>
            <a:ext cx="822960" cy="201168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770632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D97706"/>
                </a:solidFill>
              </a:rPr>
              <a:t>2–4 hrs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099816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411480" y="3145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1455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Idle instance — CPU 2.4%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163824"/>
            <a:ext cx="822960" cy="201168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163824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D97706"/>
                </a:solidFill>
              </a:rPr>
              <a:t>2–4 hrs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493008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32" name="TextBox 31"/>
          <p:cNvSpPr txBox="1"/>
          <p:nvPr/>
        </p:nvSpPr>
        <p:spPr>
          <a:xfrm>
            <a:off x="411480" y="353872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5387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Unattached volume (50GB, 0d old)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557016"/>
            <a:ext cx="822960" cy="201168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3557016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D97706"/>
                </a:solidFill>
              </a:rPr>
              <a:t>2–4 hrs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886200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37" name="TextBox 36"/>
          <p:cNvSpPr txBox="1"/>
          <p:nvPr/>
        </p:nvSpPr>
        <p:spPr>
          <a:xfrm>
            <a:off x="411480" y="393192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FFF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39319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Unattached volume (200GB, 0d old)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950208"/>
            <a:ext cx="822960" cy="201168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3950208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D97706"/>
                </a:solidFill>
              </a:rPr>
              <a:t>2–4 hrs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279392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42" name="TextBox 41"/>
          <p:cNvSpPr txBox="1"/>
          <p:nvPr/>
        </p:nvSpPr>
        <p:spPr>
          <a:xfrm>
            <a:off x="411480" y="432511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FFF"/>
                </a:solidFill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43251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Unattached volume (20GB, 4d old)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343400"/>
            <a:ext cx="822960" cy="201168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4343400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D97706"/>
                </a:solidFill>
              </a:rPr>
              <a:t>2–4 hrs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672583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47" name="TextBox 46"/>
          <p:cNvSpPr txBox="1"/>
          <p:nvPr/>
        </p:nvSpPr>
        <p:spPr>
          <a:xfrm>
            <a:off x="411480" y="4718303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FFF"/>
                </a:solidFill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4718303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Unattached volume (150GB, 0d old)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736592"/>
            <a:ext cx="822960" cy="201168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4736592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D97706"/>
                </a:solidFill>
              </a:rPr>
              <a:t>2–4 hrs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FFF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75488"/>
            <a:ext cx="9144000" cy="4663440"/>
          </a:xfrm>
          <a:prstGeom prst="rect">
            <a:avLst/>
          </a:prstGeom>
          <a:solidFill>
            <a:srgbClr val="070B12"/>
          </a:solidFill>
          <a:ln>
            <a:noFill/>
          </a:ln>
        </p:spPr>
      </p:sp>
      <p:sp>
        <p:nvSpPr>
          <p:cNvPr id="9" name="Rectangle 8"/>
          <p:cNvSpPr/>
          <p:nvPr/>
        </p:nvSpPr>
        <p:spPr>
          <a:xfrm>
            <a:off x="0" y="475488"/>
            <a:ext cx="54864" cy="4663440"/>
          </a:xfrm>
          <a:prstGeom prst="rect">
            <a:avLst/>
          </a:prstGeom>
          <a:solidFill>
            <a:srgbClr val="1A8FFF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Need help fixing these?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2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9DB4"/>
                </a:solidFill>
              </a:rPr>
              <a:t>NuboLabs offers full remediation — we implement the fixes for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2651760" cy="214884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3" name="Rectangle 12"/>
          <p:cNvSpPr/>
          <p:nvPr/>
        </p:nvSpPr>
        <p:spPr>
          <a:xfrm>
            <a:off x="365760" y="1920240"/>
            <a:ext cx="265176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</p:sp>
      <p:sp>
        <p:nvSpPr>
          <p:cNvPr id="14" name="TextBox 13"/>
          <p:cNvSpPr txBox="1"/>
          <p:nvPr/>
        </p:nvSpPr>
        <p:spPr>
          <a:xfrm>
            <a:off x="50292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Targeted 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5915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We remediate the critical and high findings from this report. IAM hardening, encryption, CloudTrail, security group cleanup — done properly.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564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FFF"/>
                </a:solidFill>
              </a:rPr>
              <a:t>From £500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920240"/>
            <a:ext cx="2651760" cy="214884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8" name="Rectangle 17"/>
          <p:cNvSpPr/>
          <p:nvPr/>
        </p:nvSpPr>
        <p:spPr>
          <a:xfrm>
            <a:off x="3246120" y="1920240"/>
            <a:ext cx="265176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3383279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Full Hardening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235915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Complete implementation of all findings plus architectural improvements. Leaves your AWS environment in a production-ready secure state.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34564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FFF"/>
                </a:solidFill>
              </a:rPr>
              <a:t>From £1,500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920240"/>
            <a:ext cx="2651760" cy="214884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3" name="Rectangle 22"/>
          <p:cNvSpPr/>
          <p:nvPr/>
        </p:nvSpPr>
        <p:spPr>
          <a:xfrm>
            <a:off x="6126480" y="1920240"/>
            <a:ext cx="265176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</p:sp>
      <p:sp>
        <p:nvSpPr>
          <p:cNvPr id="24" name="TextBox 23"/>
          <p:cNvSpPr txBox="1"/>
          <p:nvPr/>
        </p:nvSpPr>
        <p:spPr>
          <a:xfrm>
            <a:off x="626364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Monthly Retainer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35915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Monthly rescan plus ongoing remediation as your infrastructure evolves. New findings fixed before they become incidents.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4564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FFF"/>
                </a:solidFill>
              </a:rPr>
              <a:t>£400/mo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60520"/>
            <a:ext cx="8412480" cy="713232"/>
          </a:xfrm>
          <a:prstGeom prst="rect">
            <a:avLst/>
          </a:prstGeom>
          <a:solidFill>
            <a:srgbClr val="0A1222"/>
          </a:solidFill>
          <a:ln>
            <a:noFill/>
          </a:ln>
        </p:spPr>
      </p:sp>
      <p:sp>
        <p:nvSpPr>
          <p:cNvPr id="28" name="Rectangle 27"/>
          <p:cNvSpPr/>
          <p:nvPr/>
        </p:nvSpPr>
        <p:spPr>
          <a:xfrm>
            <a:off x="365760" y="4160520"/>
            <a:ext cx="8412480" cy="36576"/>
          </a:xfrm>
          <a:prstGeom prst="rect">
            <a:avLst/>
          </a:prstGeom>
          <a:solidFill>
            <a:srgbClr val="1A8FFF"/>
          </a:solidFill>
          <a:ln>
            <a:noFill/>
          </a:ln>
        </p:spPr>
      </p:sp>
      <p:sp>
        <p:nvSpPr>
          <p:cNvPr id="29" name="TextBox 28"/>
          <p:cNvSpPr txBox="1"/>
          <p:nvPr/>
        </p:nvSpPr>
        <p:spPr>
          <a:xfrm>
            <a:off x="502920" y="4224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Ready to get started?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4988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DB4"/>
                </a:solidFill>
              </a:rPr>
              <a:t>sales@nubolabs.co.uk  ·  nubolabs.co.uk  ·  Leeds, UK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251960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A8FFF"/>
                </a:solidFill>
                <a:hlinkClick r:id="rId2"/>
              </a:rPr>
              <a:t>Reply to this report 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00200"/>
            <a:ext cx="6400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Nubo</a:t>
            </a:r>
            <a:r>
              <a:rPr sz="3800" b="1">
                <a:solidFill>
                  <a:srgbClr val="1A8FFF"/>
                </a:solidFill>
              </a:rPr>
              <a:t>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231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E9DB4"/>
                </a:solidFill>
              </a:rPr>
              <a:t>Cloud Infrastructure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852928"/>
            <a:ext cx="2743200" cy="27432"/>
          </a:xfrm>
          <a:prstGeom prst="rect">
            <a:avLst/>
          </a:prstGeom>
          <a:solidFill>
            <a:srgbClr val="4E5F72"/>
          </a:solidFill>
          <a:ln>
            <a:noFill/>
          </a:ln>
        </p:spPr>
      </p:sp>
      <p:sp>
        <p:nvSpPr>
          <p:cNvPr id="5" name="TextBox 4"/>
          <p:cNvSpPr txBox="1"/>
          <p:nvPr/>
        </p:nvSpPr>
        <p:spPr>
          <a:xfrm>
            <a:off x="1371600" y="29443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E9DB4"/>
                </a:solidFill>
              </a:rPr>
              <a:t>sales@nubolabs.co.uk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55264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5F72"/>
                </a:solidFill>
              </a:rPr>
              <a:t>nubolabs.co.uk  ·  Leeds, 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E5F72"/>
                </a:solidFill>
              </a:rPr>
              <a:t>Technical assessment only. Not a security certification or compliance guarantee.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