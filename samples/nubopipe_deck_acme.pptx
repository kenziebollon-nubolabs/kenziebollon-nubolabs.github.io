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sales@nubolabs.co.uk?subject=Remediation%20Enquiry%20-%20NuboShield%20Repor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5143500"/>
          </a:xfrm>
          <a:prstGeom prst="rect">
            <a:avLst/>
          </a:prstGeom>
          <a:solidFill>
            <a:srgbClr val="070B12"/>
          </a:solidFill>
          <a:ln>
            <a:noFill/>
          </a:ln>
        </p:spPr>
      </p:sp>
      <p:sp>
        <p:nvSpPr>
          <p:cNvPr id="3" name="Rectangle 2"/>
          <p:cNvSpPr/>
          <p:nvPr/>
        </p:nvSpPr>
        <p:spPr>
          <a:xfrm>
            <a:off x="0" y="0"/>
            <a:ext cx="73152" cy="5143500"/>
          </a:xfrm>
          <a:prstGeom prst="rect">
            <a:avLst/>
          </a:prstGeom>
          <a:solidFill>
            <a:srgbClr val="FF3C5A"/>
          </a:solidFill>
          <a:ln>
            <a:noFill/>
          </a:ln>
        </p:spPr>
      </p:sp>
      <p:sp>
        <p:nvSpPr>
          <p:cNvPr id="4" name="Rectangle 3"/>
          <p:cNvSpPr/>
          <p:nvPr/>
        </p:nvSpPr>
        <p:spPr>
          <a:xfrm>
            <a:off x="0" y="4663440"/>
            <a:ext cx="9144000" cy="480060"/>
          </a:xfrm>
          <a:prstGeom prst="rect">
            <a:avLst/>
          </a:prstGeom>
          <a:solidFill>
            <a:srgbClr val="0C1220"/>
          </a:solidFill>
          <a:ln>
            <a:noFill/>
          </a:ln>
        </p:spPr>
      </p:sp>
      <p:sp>
        <p:nvSpPr>
          <p:cNvPr id="5" name="Rectangle 4"/>
          <p:cNvSpPr/>
          <p:nvPr/>
        </p:nvSpPr>
        <p:spPr>
          <a:xfrm>
            <a:off x="6858000" y="0"/>
            <a:ext cx="2286000" cy="73152"/>
          </a:xfrm>
          <a:prstGeom prst="rect">
            <a:avLst/>
          </a:prstGeom>
          <a:solidFill>
            <a:srgbClr val="FF3C5A"/>
          </a:solidFill>
          <a:ln>
            <a:noFill/>
          </a:ln>
        </p:spPr>
      </p:sp>
      <p:sp>
        <p:nvSpPr>
          <p:cNvPr id="6" name="TextBox 5"/>
          <p:cNvSpPr txBox="1"/>
          <p:nvPr/>
        </p:nvSpPr>
        <p:spPr>
          <a:xfrm>
            <a:off x="274320" y="164592"/>
            <a:ext cx="1097280" cy="457200"/>
          </a:xfrm>
          <a:prstGeom prst="rect">
            <a:avLst/>
          </a:prstGeom>
          <a:noFill/>
        </p:spPr>
        <p:txBody>
          <a:bodyPr wrap="square">
            <a:spAutoFit/>
          </a:bodyPr>
          <a:lstStyle/>
          <a:p>
            <a:pPr algn="l"/>
            <a:r>
              <a:rPr sz="2000" b="1" i="0">
                <a:solidFill>
                  <a:srgbClr val="FFFFFF"/>
                </a:solidFill>
              </a:rPr>
              <a:t>Nubo</a:t>
            </a:r>
          </a:p>
        </p:txBody>
      </p:sp>
      <p:sp>
        <p:nvSpPr>
          <p:cNvPr id="7" name="TextBox 6"/>
          <p:cNvSpPr txBox="1"/>
          <p:nvPr/>
        </p:nvSpPr>
        <p:spPr>
          <a:xfrm>
            <a:off x="1115568" y="164592"/>
            <a:ext cx="914400" cy="457200"/>
          </a:xfrm>
          <a:prstGeom prst="rect">
            <a:avLst/>
          </a:prstGeom>
          <a:noFill/>
        </p:spPr>
        <p:txBody>
          <a:bodyPr wrap="square">
            <a:spAutoFit/>
          </a:bodyPr>
          <a:lstStyle/>
          <a:p>
            <a:pPr algn="l"/>
            <a:r>
              <a:rPr sz="2000" b="1" i="0">
                <a:solidFill>
                  <a:srgbClr val="FF3C5A"/>
                </a:solidFill>
              </a:rPr>
              <a:t>Labs</a:t>
            </a:r>
          </a:p>
        </p:txBody>
      </p:sp>
      <p:sp>
        <p:nvSpPr>
          <p:cNvPr id="8" name="TextBox 7"/>
          <p:cNvSpPr txBox="1"/>
          <p:nvPr/>
        </p:nvSpPr>
        <p:spPr>
          <a:xfrm>
            <a:off x="5029200" y="201168"/>
            <a:ext cx="3840480" cy="320040"/>
          </a:xfrm>
          <a:prstGeom prst="rect">
            <a:avLst/>
          </a:prstGeom>
          <a:noFill/>
        </p:spPr>
        <p:txBody>
          <a:bodyPr wrap="square">
            <a:spAutoFit/>
          </a:bodyPr>
          <a:lstStyle/>
          <a:p>
            <a:pPr algn="r"/>
            <a:r>
              <a:rPr sz="1000" b="0" i="0">
                <a:solidFill>
                  <a:srgbClr val="4E5F72"/>
                </a:solidFill>
              </a:rPr>
              <a:t>Cloud Infrastructure Intelligence</a:t>
            </a:r>
          </a:p>
        </p:txBody>
      </p:sp>
      <p:sp>
        <p:nvSpPr>
          <p:cNvPr id="9" name="TextBox 8"/>
          <p:cNvSpPr txBox="1"/>
          <p:nvPr/>
        </p:nvSpPr>
        <p:spPr>
          <a:xfrm>
            <a:off x="274320" y="1005840"/>
            <a:ext cx="8686800" cy="1188720"/>
          </a:xfrm>
          <a:prstGeom prst="rect">
            <a:avLst/>
          </a:prstGeom>
          <a:noFill/>
        </p:spPr>
        <p:txBody>
          <a:bodyPr wrap="square">
            <a:spAutoFit/>
          </a:bodyPr>
          <a:lstStyle/>
          <a:p>
            <a:pPr algn="l"/>
            <a:r>
              <a:rPr sz="6400" b="1" i="0">
                <a:solidFill>
                  <a:srgbClr val="FFFFFF"/>
                </a:solidFill>
              </a:rPr>
              <a:t>Nubo</a:t>
            </a:r>
          </a:p>
        </p:txBody>
      </p:sp>
      <p:sp>
        <p:nvSpPr>
          <p:cNvPr id="10" name="TextBox 9"/>
          <p:cNvSpPr txBox="1"/>
          <p:nvPr/>
        </p:nvSpPr>
        <p:spPr>
          <a:xfrm>
            <a:off x="274320" y="1783080"/>
            <a:ext cx="8686800" cy="1188720"/>
          </a:xfrm>
          <a:prstGeom prst="rect">
            <a:avLst/>
          </a:prstGeom>
          <a:noFill/>
        </p:spPr>
        <p:txBody>
          <a:bodyPr wrap="square">
            <a:spAutoFit/>
          </a:bodyPr>
          <a:lstStyle/>
          <a:p>
            <a:pPr algn="l"/>
            <a:r>
              <a:rPr sz="6400" b="1" i="0">
                <a:solidFill>
                  <a:srgbClr val="FF3C5A"/>
                </a:solidFill>
              </a:rPr>
              <a:t>Pipe</a:t>
            </a:r>
          </a:p>
        </p:txBody>
      </p:sp>
      <p:sp>
        <p:nvSpPr>
          <p:cNvPr id="11" name="TextBox 10"/>
          <p:cNvSpPr txBox="1"/>
          <p:nvPr/>
        </p:nvSpPr>
        <p:spPr>
          <a:xfrm>
            <a:off x="274320" y="2834640"/>
            <a:ext cx="5486400" cy="320040"/>
          </a:xfrm>
          <a:prstGeom prst="rect">
            <a:avLst/>
          </a:prstGeom>
          <a:noFill/>
        </p:spPr>
        <p:txBody>
          <a:bodyPr wrap="square">
            <a:spAutoFit/>
          </a:bodyPr>
          <a:lstStyle/>
          <a:p>
            <a:pPr algn="l"/>
            <a:r>
              <a:rPr sz="1300" b="0" i="0">
                <a:solidFill>
                  <a:srgbClr val="8E9DB4"/>
                </a:solidFill>
              </a:rPr>
              <a:t>CI/CD Pipeline Security Audit</a:t>
            </a:r>
          </a:p>
        </p:txBody>
      </p:sp>
      <p:sp>
        <p:nvSpPr>
          <p:cNvPr id="12" name="Rectangle 11"/>
          <p:cNvSpPr/>
          <p:nvPr/>
        </p:nvSpPr>
        <p:spPr>
          <a:xfrm>
            <a:off x="274320" y="3246120"/>
            <a:ext cx="5029200" cy="22860"/>
          </a:xfrm>
          <a:prstGeom prst="rect">
            <a:avLst/>
          </a:prstGeom>
          <a:solidFill>
            <a:srgbClr val="4E5F72"/>
          </a:solidFill>
          <a:ln>
            <a:noFill/>
          </a:ln>
        </p:spPr>
      </p:sp>
      <p:sp>
        <p:nvSpPr>
          <p:cNvPr id="13" name="TextBox 12"/>
          <p:cNvSpPr txBox="1"/>
          <p:nvPr/>
        </p:nvSpPr>
        <p:spPr>
          <a:xfrm>
            <a:off x="274320" y="3364992"/>
            <a:ext cx="3657600" cy="274320"/>
          </a:xfrm>
          <a:prstGeom prst="rect">
            <a:avLst/>
          </a:prstGeom>
          <a:noFill/>
        </p:spPr>
        <p:txBody>
          <a:bodyPr wrap="square">
            <a:spAutoFit/>
          </a:bodyPr>
          <a:lstStyle/>
          <a:p>
            <a:pPr algn="l"/>
            <a:r>
              <a:rPr sz="1300" b="1" i="0">
                <a:solidFill>
                  <a:srgbClr val="FFFFFF"/>
                </a:solidFill>
              </a:rPr>
              <a:t>Acme Technologies Ltd</a:t>
            </a:r>
          </a:p>
        </p:txBody>
      </p:sp>
      <p:sp>
        <p:nvSpPr>
          <p:cNvPr id="14" name="TextBox 13"/>
          <p:cNvSpPr txBox="1"/>
          <p:nvPr/>
        </p:nvSpPr>
        <p:spPr>
          <a:xfrm>
            <a:off x="274320" y="3639312"/>
            <a:ext cx="3657600" cy="256032"/>
          </a:xfrm>
          <a:prstGeom prst="rect">
            <a:avLst/>
          </a:prstGeom>
          <a:noFill/>
        </p:spPr>
        <p:txBody>
          <a:bodyPr wrap="square">
            <a:spAutoFit/>
          </a:bodyPr>
          <a:lstStyle/>
          <a:p>
            <a:pPr algn="l"/>
            <a:r>
              <a:rPr sz="1100" b="0" i="0">
                <a:solidFill>
                  <a:srgbClr val="8E9DB4"/>
                </a:solidFill>
              </a:rPr>
              <a:t>17 May 2026</a:t>
            </a:r>
          </a:p>
        </p:txBody>
      </p:sp>
      <p:sp>
        <p:nvSpPr>
          <p:cNvPr id="15" name="Rectangle 14"/>
          <p:cNvSpPr/>
          <p:nvPr/>
        </p:nvSpPr>
        <p:spPr>
          <a:xfrm>
            <a:off x="6217920" y="914400"/>
            <a:ext cx="2651760" cy="2651760"/>
          </a:xfrm>
          <a:prstGeom prst="rect">
            <a:avLst/>
          </a:prstGeom>
          <a:solidFill>
            <a:srgbClr val="0C1220"/>
          </a:solidFill>
          <a:ln>
            <a:noFill/>
          </a:ln>
        </p:spPr>
      </p:sp>
      <p:sp>
        <p:nvSpPr>
          <p:cNvPr id="16" name="Rectangle 15"/>
          <p:cNvSpPr/>
          <p:nvPr/>
        </p:nvSpPr>
        <p:spPr>
          <a:xfrm>
            <a:off x="6217920" y="914400"/>
            <a:ext cx="2651760" cy="2651760"/>
          </a:xfrm>
          <a:prstGeom prst="rect">
            <a:avLst/>
          </a:prstGeom>
          <a:noFill/>
          <a:ln w="25400">
            <a:solidFill>
              <a:srgbClr val="FF3C5A"/>
            </a:solidFill>
          </a:ln>
        </p:spPr>
        <p:txBody>
          <a:bodyPr rtlCol="0" anchor="ctr"/>
          <a:lstStyle/>
          <a:p>
            <a:pPr algn="ctr"/>
          </a:p>
        </p:txBody>
      </p:sp>
      <p:sp>
        <p:nvSpPr>
          <p:cNvPr id="17" name="TextBox 16"/>
          <p:cNvSpPr txBox="1"/>
          <p:nvPr/>
        </p:nvSpPr>
        <p:spPr>
          <a:xfrm>
            <a:off x="6217920" y="1051560"/>
            <a:ext cx="2651760" cy="1371600"/>
          </a:xfrm>
          <a:prstGeom prst="rect">
            <a:avLst/>
          </a:prstGeom>
          <a:noFill/>
        </p:spPr>
        <p:txBody>
          <a:bodyPr wrap="square">
            <a:spAutoFit/>
          </a:bodyPr>
          <a:lstStyle/>
          <a:p>
            <a:pPr algn="ctr"/>
            <a:r>
              <a:rPr sz="8000" b="1" i="0">
                <a:solidFill>
                  <a:srgbClr val="DC2626"/>
                </a:solidFill>
              </a:rPr>
              <a:t>28</a:t>
            </a:r>
          </a:p>
        </p:txBody>
      </p:sp>
      <p:sp>
        <p:nvSpPr>
          <p:cNvPr id="18" name="TextBox 17"/>
          <p:cNvSpPr txBox="1"/>
          <p:nvPr/>
        </p:nvSpPr>
        <p:spPr>
          <a:xfrm>
            <a:off x="6217920" y="2331720"/>
            <a:ext cx="2651760" cy="347472"/>
          </a:xfrm>
          <a:prstGeom prst="rect">
            <a:avLst/>
          </a:prstGeom>
          <a:noFill/>
        </p:spPr>
        <p:txBody>
          <a:bodyPr wrap="square">
            <a:spAutoFit/>
          </a:bodyPr>
          <a:lstStyle/>
          <a:p>
            <a:pPr algn="ctr"/>
            <a:r>
              <a:rPr sz="1600" b="0" i="0">
                <a:solidFill>
                  <a:srgbClr val="8E9DB4"/>
                </a:solidFill>
              </a:rPr>
              <a:t>/ 100</a:t>
            </a:r>
          </a:p>
        </p:txBody>
      </p:sp>
      <p:sp>
        <p:nvSpPr>
          <p:cNvPr id="19" name="TextBox 18"/>
          <p:cNvSpPr txBox="1"/>
          <p:nvPr/>
        </p:nvSpPr>
        <p:spPr>
          <a:xfrm>
            <a:off x="6217920" y="2743200"/>
            <a:ext cx="2651760" cy="347472"/>
          </a:xfrm>
          <a:prstGeom prst="rect">
            <a:avLst/>
          </a:prstGeom>
          <a:noFill/>
        </p:spPr>
        <p:txBody>
          <a:bodyPr wrap="square">
            <a:spAutoFit/>
          </a:bodyPr>
          <a:lstStyle/>
          <a:p>
            <a:pPr algn="ctr"/>
            <a:r>
              <a:rPr sz="1300" b="1" i="0">
                <a:solidFill>
                  <a:srgbClr val="DC2626"/>
                </a:solidFill>
              </a:rPr>
              <a:t>POOR</a:t>
            </a:r>
          </a:p>
        </p:txBody>
      </p:sp>
      <p:sp>
        <p:nvSpPr>
          <p:cNvPr id="20" name="TextBox 19"/>
          <p:cNvSpPr txBox="1"/>
          <p:nvPr/>
        </p:nvSpPr>
        <p:spPr>
          <a:xfrm>
            <a:off x="6263640" y="3703320"/>
            <a:ext cx="822960" cy="365760"/>
          </a:xfrm>
          <a:prstGeom prst="rect">
            <a:avLst/>
          </a:prstGeom>
          <a:noFill/>
        </p:spPr>
        <p:txBody>
          <a:bodyPr wrap="square">
            <a:spAutoFit/>
          </a:bodyPr>
          <a:lstStyle/>
          <a:p>
            <a:pPr algn="ctr"/>
            <a:r>
              <a:rPr sz="2000" b="1" i="0">
                <a:solidFill>
                  <a:srgbClr val="DC2626"/>
                </a:solidFill>
              </a:rPr>
              <a:t>16</a:t>
            </a:r>
          </a:p>
        </p:txBody>
      </p:sp>
      <p:sp>
        <p:nvSpPr>
          <p:cNvPr id="21" name="TextBox 20"/>
          <p:cNvSpPr txBox="1"/>
          <p:nvPr/>
        </p:nvSpPr>
        <p:spPr>
          <a:xfrm>
            <a:off x="6263640" y="4041648"/>
            <a:ext cx="822960" cy="201168"/>
          </a:xfrm>
          <a:prstGeom prst="rect">
            <a:avLst/>
          </a:prstGeom>
          <a:noFill/>
        </p:spPr>
        <p:txBody>
          <a:bodyPr wrap="square">
            <a:spAutoFit/>
          </a:bodyPr>
          <a:lstStyle/>
          <a:p>
            <a:pPr algn="ctr"/>
            <a:r>
              <a:rPr sz="800" b="0" i="0">
                <a:solidFill>
                  <a:srgbClr val="4E5F72"/>
                </a:solidFill>
              </a:rPr>
              <a:t>Critical</a:t>
            </a:r>
          </a:p>
        </p:txBody>
      </p:sp>
      <p:sp>
        <p:nvSpPr>
          <p:cNvPr id="22" name="TextBox 21"/>
          <p:cNvSpPr txBox="1"/>
          <p:nvPr/>
        </p:nvSpPr>
        <p:spPr>
          <a:xfrm>
            <a:off x="7150607" y="3703320"/>
            <a:ext cx="822960" cy="365760"/>
          </a:xfrm>
          <a:prstGeom prst="rect">
            <a:avLst/>
          </a:prstGeom>
          <a:noFill/>
        </p:spPr>
        <p:txBody>
          <a:bodyPr wrap="square">
            <a:spAutoFit/>
          </a:bodyPr>
          <a:lstStyle/>
          <a:p>
            <a:pPr algn="ctr"/>
            <a:r>
              <a:rPr sz="2000" b="1" i="0">
                <a:solidFill>
                  <a:srgbClr val="D97706"/>
                </a:solidFill>
              </a:rPr>
              <a:t>19</a:t>
            </a:r>
          </a:p>
        </p:txBody>
      </p:sp>
      <p:sp>
        <p:nvSpPr>
          <p:cNvPr id="23" name="TextBox 22"/>
          <p:cNvSpPr txBox="1"/>
          <p:nvPr/>
        </p:nvSpPr>
        <p:spPr>
          <a:xfrm>
            <a:off x="7150607" y="4041648"/>
            <a:ext cx="822960" cy="201168"/>
          </a:xfrm>
          <a:prstGeom prst="rect">
            <a:avLst/>
          </a:prstGeom>
          <a:noFill/>
        </p:spPr>
        <p:txBody>
          <a:bodyPr wrap="square">
            <a:spAutoFit/>
          </a:bodyPr>
          <a:lstStyle/>
          <a:p>
            <a:pPr algn="ctr"/>
            <a:r>
              <a:rPr sz="800" b="0" i="0">
                <a:solidFill>
                  <a:srgbClr val="4E5F72"/>
                </a:solidFill>
              </a:rPr>
              <a:t>High</a:t>
            </a:r>
          </a:p>
        </p:txBody>
      </p:sp>
      <p:sp>
        <p:nvSpPr>
          <p:cNvPr id="24" name="TextBox 23"/>
          <p:cNvSpPr txBox="1"/>
          <p:nvPr/>
        </p:nvSpPr>
        <p:spPr>
          <a:xfrm>
            <a:off x="8037575" y="3703320"/>
            <a:ext cx="822960" cy="365760"/>
          </a:xfrm>
          <a:prstGeom prst="rect">
            <a:avLst/>
          </a:prstGeom>
          <a:noFill/>
        </p:spPr>
        <p:txBody>
          <a:bodyPr wrap="square">
            <a:spAutoFit/>
          </a:bodyPr>
          <a:lstStyle/>
          <a:p>
            <a:pPr algn="ctr"/>
            <a:r>
              <a:rPr sz="2000" b="1" i="0">
                <a:solidFill>
                  <a:srgbClr val="FF3C5A"/>
                </a:solidFill>
              </a:rPr>
              <a:t>67</a:t>
            </a:r>
          </a:p>
        </p:txBody>
      </p:sp>
      <p:sp>
        <p:nvSpPr>
          <p:cNvPr id="25" name="TextBox 24"/>
          <p:cNvSpPr txBox="1"/>
          <p:nvPr/>
        </p:nvSpPr>
        <p:spPr>
          <a:xfrm>
            <a:off x="8037575" y="4041648"/>
            <a:ext cx="822960" cy="201168"/>
          </a:xfrm>
          <a:prstGeom prst="rect">
            <a:avLst/>
          </a:prstGeom>
          <a:noFill/>
        </p:spPr>
        <p:txBody>
          <a:bodyPr wrap="square">
            <a:spAutoFit/>
          </a:bodyPr>
          <a:lstStyle/>
          <a:p>
            <a:pPr algn="ctr"/>
            <a:r>
              <a:rPr sz="800" b="0" i="0">
                <a:solidFill>
                  <a:srgbClr val="4E5F72"/>
                </a:solidFill>
              </a:rPr>
              <a:t>Total</a:t>
            </a:r>
          </a:p>
        </p:txBody>
      </p:sp>
      <p:sp>
        <p:nvSpPr>
          <p:cNvPr id="26" name="TextBox 25"/>
          <p:cNvSpPr txBox="1"/>
          <p:nvPr/>
        </p:nvSpPr>
        <p:spPr>
          <a:xfrm>
            <a:off x="5029200" y="4709160"/>
            <a:ext cx="3840480" cy="256032"/>
          </a:xfrm>
          <a:prstGeom prst="rect">
            <a:avLst/>
          </a:prstGeom>
          <a:noFill/>
        </p:spPr>
        <p:txBody>
          <a:bodyPr wrap="square">
            <a:spAutoFit/>
          </a:bodyPr>
          <a:lstStyle/>
          <a:p>
            <a:pPr algn="r"/>
            <a:r>
              <a:rPr sz="1000" b="0" i="0">
                <a:solidFill>
                  <a:srgbClr val="4E5F72"/>
                </a:solidFill>
              </a:rPr>
              <a:t>nubolabs.co.uk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FF3C5A"/>
          </a:solidFill>
          <a:ln>
            <a:noFill/>
          </a:ln>
        </p:spPr>
      </p:sp>
      <p:sp>
        <p:nvSpPr>
          <p:cNvPr id="9" name="TextBox 8"/>
          <p:cNvSpPr txBox="1"/>
          <p:nvPr/>
        </p:nvSpPr>
        <p:spPr>
          <a:xfrm>
            <a:off x="365760" y="1051560"/>
            <a:ext cx="8229600" cy="411480"/>
          </a:xfrm>
          <a:prstGeom prst="rect">
            <a:avLst/>
          </a:prstGeom>
          <a:noFill/>
        </p:spPr>
        <p:txBody>
          <a:bodyPr wrap="square">
            <a:spAutoFit/>
          </a:bodyPr>
          <a:lstStyle/>
          <a:p>
            <a:pPr algn="l"/>
            <a:r>
              <a:rPr sz="2000" b="1" i="0">
                <a:solidFill>
                  <a:srgbClr val="FFFFFF"/>
                </a:solidFill>
              </a:rPr>
              <a:t>Executive Summary</a:t>
            </a:r>
          </a:p>
        </p:txBody>
      </p:sp>
      <p:sp>
        <p:nvSpPr>
          <p:cNvPr id="10" name="TextBox 9"/>
          <p:cNvSpPr txBox="1"/>
          <p:nvPr/>
        </p:nvSpPr>
        <p:spPr>
          <a:xfrm>
            <a:off x="365760" y="1508760"/>
            <a:ext cx="8229600" cy="274320"/>
          </a:xfrm>
          <a:prstGeom prst="rect">
            <a:avLst/>
          </a:prstGeom>
          <a:noFill/>
        </p:spPr>
        <p:txBody>
          <a:bodyPr wrap="square">
            <a:spAutoFit/>
          </a:bodyPr>
          <a:lstStyle/>
          <a:p>
            <a:pPr algn="l"/>
            <a:r>
              <a:rPr sz="1100" b="0" i="0">
                <a:solidFill>
                  <a:srgbClr val="8E9DB4"/>
                </a:solidFill>
              </a:rPr>
              <a:t>What you need to know.</a:t>
            </a:r>
          </a:p>
        </p:txBody>
      </p:sp>
      <p:sp>
        <p:nvSpPr>
          <p:cNvPr id="11" name="Rectangle 10"/>
          <p:cNvSpPr/>
          <p:nvPr/>
        </p:nvSpPr>
        <p:spPr>
          <a:xfrm>
            <a:off x="365760" y="1874519"/>
            <a:ext cx="1554480" cy="960120"/>
          </a:xfrm>
          <a:prstGeom prst="rect">
            <a:avLst/>
          </a:prstGeom>
          <a:solidFill>
            <a:srgbClr val="101828"/>
          </a:solidFill>
          <a:ln>
            <a:noFill/>
          </a:ln>
        </p:spPr>
      </p:sp>
      <p:sp>
        <p:nvSpPr>
          <p:cNvPr id="12" name="TextBox 11"/>
          <p:cNvSpPr txBox="1"/>
          <p:nvPr/>
        </p:nvSpPr>
        <p:spPr>
          <a:xfrm>
            <a:off x="365760" y="1920240"/>
            <a:ext cx="1554480" cy="566928"/>
          </a:xfrm>
          <a:prstGeom prst="rect">
            <a:avLst/>
          </a:prstGeom>
          <a:noFill/>
        </p:spPr>
        <p:txBody>
          <a:bodyPr wrap="square">
            <a:spAutoFit/>
          </a:bodyPr>
          <a:lstStyle/>
          <a:p>
            <a:pPr algn="ctr"/>
            <a:r>
              <a:rPr sz="2600" b="1" i="0">
                <a:solidFill>
                  <a:srgbClr val="DC2626"/>
                </a:solidFill>
              </a:rPr>
              <a:t>28</a:t>
            </a:r>
          </a:p>
        </p:txBody>
      </p:sp>
      <p:sp>
        <p:nvSpPr>
          <p:cNvPr id="13" name="TextBox 12"/>
          <p:cNvSpPr txBox="1"/>
          <p:nvPr/>
        </p:nvSpPr>
        <p:spPr>
          <a:xfrm>
            <a:off x="365760" y="2487168"/>
            <a:ext cx="1554480" cy="256032"/>
          </a:xfrm>
          <a:prstGeom prst="rect">
            <a:avLst/>
          </a:prstGeom>
          <a:noFill/>
        </p:spPr>
        <p:txBody>
          <a:bodyPr wrap="square">
            <a:spAutoFit/>
          </a:bodyPr>
          <a:lstStyle/>
          <a:p>
            <a:pPr algn="ctr"/>
            <a:r>
              <a:rPr sz="1000" b="0" i="0">
                <a:solidFill>
                  <a:srgbClr val="8E9DB4"/>
                </a:solidFill>
              </a:rPr>
              <a:t>Score</a:t>
            </a:r>
          </a:p>
        </p:txBody>
      </p:sp>
      <p:sp>
        <p:nvSpPr>
          <p:cNvPr id="14" name="Rectangle 13"/>
          <p:cNvSpPr/>
          <p:nvPr/>
        </p:nvSpPr>
        <p:spPr>
          <a:xfrm>
            <a:off x="2057400" y="1874519"/>
            <a:ext cx="1554480" cy="960120"/>
          </a:xfrm>
          <a:prstGeom prst="rect">
            <a:avLst/>
          </a:prstGeom>
          <a:solidFill>
            <a:srgbClr val="101828"/>
          </a:solidFill>
          <a:ln>
            <a:noFill/>
          </a:ln>
        </p:spPr>
      </p:sp>
      <p:sp>
        <p:nvSpPr>
          <p:cNvPr id="15" name="TextBox 14"/>
          <p:cNvSpPr txBox="1"/>
          <p:nvPr/>
        </p:nvSpPr>
        <p:spPr>
          <a:xfrm>
            <a:off x="2057400" y="1920240"/>
            <a:ext cx="1554480" cy="566928"/>
          </a:xfrm>
          <a:prstGeom prst="rect">
            <a:avLst/>
          </a:prstGeom>
          <a:noFill/>
        </p:spPr>
        <p:txBody>
          <a:bodyPr wrap="square">
            <a:spAutoFit/>
          </a:bodyPr>
          <a:lstStyle/>
          <a:p>
            <a:pPr algn="ctr"/>
            <a:r>
              <a:rPr sz="2600" b="1" i="0">
                <a:solidFill>
                  <a:srgbClr val="DC2626"/>
                </a:solidFill>
              </a:rPr>
              <a:t>16</a:t>
            </a:r>
          </a:p>
        </p:txBody>
      </p:sp>
      <p:sp>
        <p:nvSpPr>
          <p:cNvPr id="16" name="TextBox 15"/>
          <p:cNvSpPr txBox="1"/>
          <p:nvPr/>
        </p:nvSpPr>
        <p:spPr>
          <a:xfrm>
            <a:off x="2057400" y="2487168"/>
            <a:ext cx="1554480" cy="256032"/>
          </a:xfrm>
          <a:prstGeom prst="rect">
            <a:avLst/>
          </a:prstGeom>
          <a:noFill/>
        </p:spPr>
        <p:txBody>
          <a:bodyPr wrap="square">
            <a:spAutoFit/>
          </a:bodyPr>
          <a:lstStyle/>
          <a:p>
            <a:pPr algn="ctr"/>
            <a:r>
              <a:rPr sz="1000" b="0" i="0">
                <a:solidFill>
                  <a:srgbClr val="8E9DB4"/>
                </a:solidFill>
              </a:rPr>
              <a:t>Critical</a:t>
            </a:r>
          </a:p>
        </p:txBody>
      </p:sp>
      <p:sp>
        <p:nvSpPr>
          <p:cNvPr id="17" name="Rectangle 16"/>
          <p:cNvSpPr/>
          <p:nvPr/>
        </p:nvSpPr>
        <p:spPr>
          <a:xfrm>
            <a:off x="3749040" y="1874519"/>
            <a:ext cx="1554480" cy="960120"/>
          </a:xfrm>
          <a:prstGeom prst="rect">
            <a:avLst/>
          </a:prstGeom>
          <a:solidFill>
            <a:srgbClr val="101828"/>
          </a:solidFill>
          <a:ln>
            <a:noFill/>
          </a:ln>
        </p:spPr>
      </p:sp>
      <p:sp>
        <p:nvSpPr>
          <p:cNvPr id="18" name="TextBox 17"/>
          <p:cNvSpPr txBox="1"/>
          <p:nvPr/>
        </p:nvSpPr>
        <p:spPr>
          <a:xfrm>
            <a:off x="3749040" y="1920240"/>
            <a:ext cx="1554480" cy="566928"/>
          </a:xfrm>
          <a:prstGeom prst="rect">
            <a:avLst/>
          </a:prstGeom>
          <a:noFill/>
        </p:spPr>
        <p:txBody>
          <a:bodyPr wrap="square">
            <a:spAutoFit/>
          </a:bodyPr>
          <a:lstStyle/>
          <a:p>
            <a:pPr algn="ctr"/>
            <a:r>
              <a:rPr sz="2600" b="1" i="0">
                <a:solidFill>
                  <a:srgbClr val="D97706"/>
                </a:solidFill>
              </a:rPr>
              <a:t>19</a:t>
            </a:r>
          </a:p>
        </p:txBody>
      </p:sp>
      <p:sp>
        <p:nvSpPr>
          <p:cNvPr id="19" name="TextBox 18"/>
          <p:cNvSpPr txBox="1"/>
          <p:nvPr/>
        </p:nvSpPr>
        <p:spPr>
          <a:xfrm>
            <a:off x="3749040" y="2487168"/>
            <a:ext cx="1554480" cy="256032"/>
          </a:xfrm>
          <a:prstGeom prst="rect">
            <a:avLst/>
          </a:prstGeom>
          <a:noFill/>
        </p:spPr>
        <p:txBody>
          <a:bodyPr wrap="square">
            <a:spAutoFit/>
          </a:bodyPr>
          <a:lstStyle/>
          <a:p>
            <a:pPr algn="ctr"/>
            <a:r>
              <a:rPr sz="1000" b="0" i="0">
                <a:solidFill>
                  <a:srgbClr val="8E9DB4"/>
                </a:solidFill>
              </a:rPr>
              <a:t>High</a:t>
            </a:r>
          </a:p>
        </p:txBody>
      </p:sp>
      <p:sp>
        <p:nvSpPr>
          <p:cNvPr id="20" name="Rectangle 19"/>
          <p:cNvSpPr/>
          <p:nvPr/>
        </p:nvSpPr>
        <p:spPr>
          <a:xfrm>
            <a:off x="5440680" y="1874519"/>
            <a:ext cx="1554480" cy="960120"/>
          </a:xfrm>
          <a:prstGeom prst="rect">
            <a:avLst/>
          </a:prstGeom>
          <a:solidFill>
            <a:srgbClr val="101828"/>
          </a:solidFill>
          <a:ln>
            <a:noFill/>
          </a:ln>
        </p:spPr>
      </p:sp>
      <p:sp>
        <p:nvSpPr>
          <p:cNvPr id="21" name="TextBox 20"/>
          <p:cNvSpPr txBox="1"/>
          <p:nvPr/>
        </p:nvSpPr>
        <p:spPr>
          <a:xfrm>
            <a:off x="5440680" y="1920240"/>
            <a:ext cx="1554480" cy="566928"/>
          </a:xfrm>
          <a:prstGeom prst="rect">
            <a:avLst/>
          </a:prstGeom>
          <a:noFill/>
        </p:spPr>
        <p:txBody>
          <a:bodyPr wrap="square">
            <a:spAutoFit/>
          </a:bodyPr>
          <a:lstStyle/>
          <a:p>
            <a:pPr algn="ctr"/>
            <a:r>
              <a:rPr sz="2600" b="1" i="0">
                <a:solidFill>
                  <a:srgbClr val="2563EB"/>
                </a:solidFill>
              </a:rPr>
              <a:t>14</a:t>
            </a:r>
          </a:p>
        </p:txBody>
      </p:sp>
      <p:sp>
        <p:nvSpPr>
          <p:cNvPr id="22" name="TextBox 21"/>
          <p:cNvSpPr txBox="1"/>
          <p:nvPr/>
        </p:nvSpPr>
        <p:spPr>
          <a:xfrm>
            <a:off x="5440680" y="2487168"/>
            <a:ext cx="1554480" cy="256032"/>
          </a:xfrm>
          <a:prstGeom prst="rect">
            <a:avLst/>
          </a:prstGeom>
          <a:noFill/>
        </p:spPr>
        <p:txBody>
          <a:bodyPr wrap="square">
            <a:spAutoFit/>
          </a:bodyPr>
          <a:lstStyle/>
          <a:p>
            <a:pPr algn="ctr"/>
            <a:r>
              <a:rPr sz="1000" b="0" i="0">
                <a:solidFill>
                  <a:srgbClr val="8E9DB4"/>
                </a:solidFill>
              </a:rPr>
              <a:t>Medium</a:t>
            </a:r>
          </a:p>
        </p:txBody>
      </p:sp>
      <p:sp>
        <p:nvSpPr>
          <p:cNvPr id="23" name="Rectangle 22"/>
          <p:cNvSpPr/>
          <p:nvPr/>
        </p:nvSpPr>
        <p:spPr>
          <a:xfrm>
            <a:off x="7132320" y="1874519"/>
            <a:ext cx="1554480" cy="960120"/>
          </a:xfrm>
          <a:prstGeom prst="rect">
            <a:avLst/>
          </a:prstGeom>
          <a:solidFill>
            <a:srgbClr val="101828"/>
          </a:solidFill>
          <a:ln>
            <a:noFill/>
          </a:ln>
        </p:spPr>
      </p:sp>
      <p:sp>
        <p:nvSpPr>
          <p:cNvPr id="24" name="TextBox 23"/>
          <p:cNvSpPr txBox="1"/>
          <p:nvPr/>
        </p:nvSpPr>
        <p:spPr>
          <a:xfrm>
            <a:off x="7132320" y="1920240"/>
            <a:ext cx="1554480" cy="566928"/>
          </a:xfrm>
          <a:prstGeom prst="rect">
            <a:avLst/>
          </a:prstGeom>
          <a:noFill/>
        </p:spPr>
        <p:txBody>
          <a:bodyPr wrap="square">
            <a:spAutoFit/>
          </a:bodyPr>
          <a:lstStyle/>
          <a:p>
            <a:pPr algn="ctr"/>
            <a:r>
              <a:rPr sz="2600" b="1" i="0">
                <a:solidFill>
                  <a:srgbClr val="FF3C5A"/>
                </a:solidFill>
              </a:rPr>
              <a:t>67</a:t>
            </a:r>
          </a:p>
        </p:txBody>
      </p:sp>
      <p:sp>
        <p:nvSpPr>
          <p:cNvPr id="25" name="TextBox 24"/>
          <p:cNvSpPr txBox="1"/>
          <p:nvPr/>
        </p:nvSpPr>
        <p:spPr>
          <a:xfrm>
            <a:off x="7132320" y="2487168"/>
            <a:ext cx="1554480" cy="256032"/>
          </a:xfrm>
          <a:prstGeom prst="rect">
            <a:avLst/>
          </a:prstGeom>
          <a:noFill/>
        </p:spPr>
        <p:txBody>
          <a:bodyPr wrap="square">
            <a:spAutoFit/>
          </a:bodyPr>
          <a:lstStyle/>
          <a:p>
            <a:pPr algn="ctr"/>
            <a:r>
              <a:rPr sz="1000" b="0" i="0">
                <a:solidFill>
                  <a:srgbClr val="8E9DB4"/>
                </a:solidFill>
              </a:rPr>
              <a:t>Total</a:t>
            </a:r>
          </a:p>
        </p:txBody>
      </p:sp>
      <p:sp>
        <p:nvSpPr>
          <p:cNvPr id="26" name="Rectangle 25"/>
          <p:cNvSpPr/>
          <p:nvPr/>
        </p:nvSpPr>
        <p:spPr>
          <a:xfrm>
            <a:off x="365760" y="3017520"/>
            <a:ext cx="8412480" cy="777240"/>
          </a:xfrm>
          <a:prstGeom prst="rect">
            <a:avLst/>
          </a:prstGeom>
          <a:solidFill>
            <a:srgbClr val="3F1010"/>
          </a:solidFill>
          <a:ln>
            <a:noFill/>
          </a:ln>
        </p:spPr>
      </p:sp>
      <p:sp>
        <p:nvSpPr>
          <p:cNvPr id="27" name="TextBox 26"/>
          <p:cNvSpPr txBox="1"/>
          <p:nvPr/>
        </p:nvSpPr>
        <p:spPr>
          <a:xfrm>
            <a:off x="502920" y="3063240"/>
            <a:ext cx="2743200" cy="301752"/>
          </a:xfrm>
          <a:prstGeom prst="rect">
            <a:avLst/>
          </a:prstGeom>
          <a:noFill/>
        </p:spPr>
        <p:txBody>
          <a:bodyPr wrap="square">
            <a:spAutoFit/>
          </a:bodyPr>
          <a:lstStyle/>
          <a:p>
            <a:pPr algn="l"/>
            <a:r>
              <a:rPr sz="1000" b="1" i="0">
                <a:solidFill>
                  <a:srgbClr val="DC2626"/>
                </a:solidFill>
              </a:rPr>
              <a:t>⚠  If you fix nothing:</a:t>
            </a:r>
          </a:p>
        </p:txBody>
      </p:sp>
      <p:sp>
        <p:nvSpPr>
          <p:cNvPr id="28" name="TextBox 27"/>
          <p:cNvSpPr txBox="1"/>
          <p:nvPr/>
        </p:nvSpPr>
        <p:spPr>
          <a:xfrm>
            <a:off x="502920" y="3337560"/>
            <a:ext cx="8138160" cy="411480"/>
          </a:xfrm>
          <a:prstGeom prst="rect">
            <a:avLst/>
          </a:prstGeom>
          <a:noFill/>
        </p:spPr>
        <p:txBody>
          <a:bodyPr wrap="square">
            <a:spAutoFit/>
          </a:bodyPr>
          <a:lstStyle/>
          <a:p>
            <a:pPr algn="l"/>
            <a:r>
              <a:rPr sz="1000" b="0" i="0">
                <a:solidFill>
                  <a:srgbClr val="EEF2F8"/>
                </a:solidFill>
              </a:rPr>
              <a:t>Pipeline is a direct path to full account takeover. One leaked build credential with admin role = complete compromise, untraceably.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FF3C5A"/>
          </a:solidFill>
          <a:ln>
            <a:noFill/>
          </a:ln>
        </p:spPr>
      </p:sp>
      <p:sp>
        <p:nvSpPr>
          <p:cNvPr id="9" name="TextBox 8"/>
          <p:cNvSpPr txBox="1"/>
          <p:nvPr/>
        </p:nvSpPr>
        <p:spPr>
          <a:xfrm>
            <a:off x="365760" y="1051560"/>
            <a:ext cx="8229600" cy="411480"/>
          </a:xfrm>
          <a:prstGeom prst="rect">
            <a:avLst/>
          </a:prstGeom>
          <a:noFill/>
        </p:spPr>
        <p:txBody>
          <a:bodyPr wrap="square">
            <a:spAutoFit/>
          </a:bodyPr>
          <a:lstStyle/>
          <a:p>
            <a:pPr algn="l"/>
            <a:r>
              <a:rPr sz="2000" b="1" i="0">
                <a:solidFill>
                  <a:srgbClr val="FFFFFF"/>
                </a:solidFill>
              </a:rPr>
              <a:t>Top 5 Priority Actions</a:t>
            </a:r>
          </a:p>
        </p:txBody>
      </p:sp>
      <p:sp>
        <p:nvSpPr>
          <p:cNvPr id="10" name="TextBox 9"/>
          <p:cNvSpPr txBox="1"/>
          <p:nvPr/>
        </p:nvSpPr>
        <p:spPr>
          <a:xfrm>
            <a:off x="365760" y="1508760"/>
            <a:ext cx="8229600" cy="274320"/>
          </a:xfrm>
          <a:prstGeom prst="rect">
            <a:avLst/>
          </a:prstGeom>
          <a:noFill/>
        </p:spPr>
        <p:txBody>
          <a:bodyPr wrap="square">
            <a:spAutoFit/>
          </a:bodyPr>
          <a:lstStyle/>
          <a:p>
            <a:pPr algn="l"/>
            <a:r>
              <a:rPr sz="1100" b="0" i="0">
                <a:solidFill>
                  <a:srgbClr val="8E9DB4"/>
                </a:solidFill>
              </a:rPr>
              <a:t>Start here. Highest impact on your score and risk posture.</a:t>
            </a:r>
          </a:p>
        </p:txBody>
      </p:sp>
      <p:sp>
        <p:nvSpPr>
          <p:cNvPr id="11" name="Rectangle 10"/>
          <p:cNvSpPr/>
          <p:nvPr/>
        </p:nvSpPr>
        <p:spPr>
          <a:xfrm>
            <a:off x="365760" y="1874519"/>
            <a:ext cx="292608" cy="457200"/>
          </a:xfrm>
          <a:prstGeom prst="rect">
            <a:avLst/>
          </a:prstGeom>
          <a:solidFill>
            <a:srgbClr val="DC2626"/>
          </a:solidFill>
          <a:ln>
            <a:noFill/>
          </a:ln>
        </p:spPr>
      </p:sp>
      <p:sp>
        <p:nvSpPr>
          <p:cNvPr id="12" name="TextBox 11"/>
          <p:cNvSpPr txBox="1"/>
          <p:nvPr/>
        </p:nvSpPr>
        <p:spPr>
          <a:xfrm>
            <a:off x="365760" y="1947672"/>
            <a:ext cx="292608" cy="320040"/>
          </a:xfrm>
          <a:prstGeom prst="rect">
            <a:avLst/>
          </a:prstGeom>
          <a:noFill/>
        </p:spPr>
        <p:txBody>
          <a:bodyPr wrap="square">
            <a:spAutoFit/>
          </a:bodyPr>
          <a:lstStyle/>
          <a:p>
            <a:pPr algn="ctr"/>
            <a:r>
              <a:rPr sz="1300" b="1" i="0">
                <a:solidFill>
                  <a:srgbClr val="FFFFFF"/>
                </a:solidFill>
              </a:rPr>
              <a:t>1</a:t>
            </a:r>
          </a:p>
        </p:txBody>
      </p:sp>
      <p:sp>
        <p:nvSpPr>
          <p:cNvPr id="13" name="TextBox 12"/>
          <p:cNvSpPr txBox="1"/>
          <p:nvPr/>
        </p:nvSpPr>
        <p:spPr>
          <a:xfrm>
            <a:off x="777240" y="1911095"/>
            <a:ext cx="5943600" cy="237744"/>
          </a:xfrm>
          <a:prstGeom prst="rect">
            <a:avLst/>
          </a:prstGeom>
          <a:noFill/>
        </p:spPr>
        <p:txBody>
          <a:bodyPr wrap="square">
            <a:spAutoFit/>
          </a:bodyPr>
          <a:lstStyle/>
          <a:p>
            <a:pPr algn="l"/>
            <a:r>
              <a:rPr sz="1100" b="1" i="0">
                <a:solidFill>
                  <a:srgbClr val="FFFFFF"/>
                </a:solidFill>
              </a:rPr>
              <a:t>Admin pipeline roles: nubopipe-demo-codebuild-role, nub</a:t>
            </a:r>
          </a:p>
        </p:txBody>
      </p:sp>
      <p:sp>
        <p:nvSpPr>
          <p:cNvPr id="14" name="TextBox 13"/>
          <p:cNvSpPr txBox="1"/>
          <p:nvPr/>
        </p:nvSpPr>
        <p:spPr>
          <a:xfrm>
            <a:off x="777240" y="2130552"/>
            <a:ext cx="6858000" cy="201168"/>
          </a:xfrm>
          <a:prstGeom prst="rect">
            <a:avLst/>
          </a:prstGeom>
          <a:noFill/>
        </p:spPr>
        <p:txBody>
          <a:bodyPr wrap="square">
            <a:spAutoFit/>
          </a:bodyPr>
          <a:lstStyle/>
          <a:p>
            <a:pPr algn="l"/>
            <a:r>
              <a:rPr sz="900" b="0" i="0">
                <a:solidFill>
                  <a:srgbClr val="8E9DB4"/>
                </a:solidFill>
              </a:rPr>
              <a:t>→ Scope to minimum required permissions</a:t>
            </a:r>
          </a:p>
        </p:txBody>
      </p:sp>
      <p:sp>
        <p:nvSpPr>
          <p:cNvPr id="15" name="TextBox 14"/>
          <p:cNvSpPr txBox="1"/>
          <p:nvPr/>
        </p:nvSpPr>
        <p:spPr>
          <a:xfrm>
            <a:off x="7406640" y="1965960"/>
            <a:ext cx="1005840" cy="237744"/>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16" name="Rectangle 15"/>
          <p:cNvSpPr/>
          <p:nvPr/>
        </p:nvSpPr>
        <p:spPr>
          <a:xfrm>
            <a:off x="365760" y="2450591"/>
            <a:ext cx="292608" cy="457200"/>
          </a:xfrm>
          <a:prstGeom prst="rect">
            <a:avLst/>
          </a:prstGeom>
          <a:solidFill>
            <a:srgbClr val="DC2626"/>
          </a:solidFill>
          <a:ln>
            <a:noFill/>
          </a:ln>
        </p:spPr>
      </p:sp>
      <p:sp>
        <p:nvSpPr>
          <p:cNvPr id="17" name="TextBox 16"/>
          <p:cNvSpPr txBox="1"/>
          <p:nvPr/>
        </p:nvSpPr>
        <p:spPr>
          <a:xfrm>
            <a:off x="365760" y="2523744"/>
            <a:ext cx="292608" cy="320040"/>
          </a:xfrm>
          <a:prstGeom prst="rect">
            <a:avLst/>
          </a:prstGeom>
          <a:noFill/>
        </p:spPr>
        <p:txBody>
          <a:bodyPr wrap="square">
            <a:spAutoFit/>
          </a:bodyPr>
          <a:lstStyle/>
          <a:p>
            <a:pPr algn="ctr"/>
            <a:r>
              <a:rPr sz="1300" b="1" i="0">
                <a:solidFill>
                  <a:srgbClr val="FFFFFF"/>
                </a:solidFill>
              </a:rPr>
              <a:t>2</a:t>
            </a:r>
          </a:p>
        </p:txBody>
      </p:sp>
      <p:sp>
        <p:nvSpPr>
          <p:cNvPr id="18" name="TextBox 17"/>
          <p:cNvSpPr txBox="1"/>
          <p:nvPr/>
        </p:nvSpPr>
        <p:spPr>
          <a:xfrm>
            <a:off x="777240" y="2487168"/>
            <a:ext cx="5943600" cy="237744"/>
          </a:xfrm>
          <a:prstGeom prst="rect">
            <a:avLst/>
          </a:prstGeom>
          <a:noFill/>
        </p:spPr>
        <p:txBody>
          <a:bodyPr wrap="square">
            <a:spAutoFit/>
          </a:bodyPr>
          <a:lstStyle/>
          <a:p>
            <a:pPr algn="l"/>
            <a:r>
              <a:rPr sz="1100" b="1" i="0">
                <a:solidFill>
                  <a:srgbClr val="FFFFFF"/>
                </a:solidFill>
              </a:rPr>
              <a:t>Pipeline can modify IAM — privilege escalation</a:t>
            </a:r>
          </a:p>
        </p:txBody>
      </p:sp>
      <p:sp>
        <p:nvSpPr>
          <p:cNvPr id="19" name="TextBox 18"/>
          <p:cNvSpPr txBox="1"/>
          <p:nvPr/>
        </p:nvSpPr>
        <p:spPr>
          <a:xfrm>
            <a:off x="777240" y="2706624"/>
            <a:ext cx="6858000" cy="201168"/>
          </a:xfrm>
          <a:prstGeom prst="rect">
            <a:avLst/>
          </a:prstGeom>
          <a:noFill/>
        </p:spPr>
        <p:txBody>
          <a:bodyPr wrap="square">
            <a:spAutoFit/>
          </a:bodyPr>
          <a:lstStyle/>
          <a:p>
            <a:pPr algn="l"/>
            <a:r>
              <a:rPr sz="900" b="0" i="0">
                <a:solidFill>
                  <a:srgbClr val="8E9DB4"/>
                </a:solidFill>
              </a:rPr>
              <a:t>→ Remove iam:Create/Attach/Put from pipeline roles</a:t>
            </a:r>
          </a:p>
        </p:txBody>
      </p:sp>
      <p:sp>
        <p:nvSpPr>
          <p:cNvPr id="20" name="TextBox 19"/>
          <p:cNvSpPr txBox="1"/>
          <p:nvPr/>
        </p:nvSpPr>
        <p:spPr>
          <a:xfrm>
            <a:off x="7406640" y="2542032"/>
            <a:ext cx="1005840" cy="237744"/>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21" name="Rectangle 20"/>
          <p:cNvSpPr/>
          <p:nvPr/>
        </p:nvSpPr>
        <p:spPr>
          <a:xfrm>
            <a:off x="365760" y="3026663"/>
            <a:ext cx="292608" cy="457200"/>
          </a:xfrm>
          <a:prstGeom prst="rect">
            <a:avLst/>
          </a:prstGeom>
          <a:solidFill>
            <a:srgbClr val="DC2626"/>
          </a:solidFill>
          <a:ln>
            <a:noFill/>
          </a:ln>
        </p:spPr>
      </p:sp>
      <p:sp>
        <p:nvSpPr>
          <p:cNvPr id="22" name="TextBox 21"/>
          <p:cNvSpPr txBox="1"/>
          <p:nvPr/>
        </p:nvSpPr>
        <p:spPr>
          <a:xfrm>
            <a:off x="365760" y="3099815"/>
            <a:ext cx="292608" cy="320040"/>
          </a:xfrm>
          <a:prstGeom prst="rect">
            <a:avLst/>
          </a:prstGeom>
          <a:noFill/>
        </p:spPr>
        <p:txBody>
          <a:bodyPr wrap="square">
            <a:spAutoFit/>
          </a:bodyPr>
          <a:lstStyle/>
          <a:p>
            <a:pPr algn="ctr"/>
            <a:r>
              <a:rPr sz="1300" b="1" i="0">
                <a:solidFill>
                  <a:srgbClr val="FFFFFF"/>
                </a:solidFill>
              </a:rPr>
              <a:t>3</a:t>
            </a:r>
          </a:p>
        </p:txBody>
      </p:sp>
      <p:sp>
        <p:nvSpPr>
          <p:cNvPr id="23" name="TextBox 22"/>
          <p:cNvSpPr txBox="1"/>
          <p:nvPr/>
        </p:nvSpPr>
        <p:spPr>
          <a:xfrm>
            <a:off x="777240" y="3063239"/>
            <a:ext cx="5943600" cy="237744"/>
          </a:xfrm>
          <a:prstGeom prst="rect">
            <a:avLst/>
          </a:prstGeom>
          <a:noFill/>
        </p:spPr>
        <p:txBody>
          <a:bodyPr wrap="square">
            <a:spAutoFit/>
          </a:bodyPr>
          <a:lstStyle/>
          <a:p>
            <a:pPr algn="l"/>
            <a:r>
              <a:rPr sz="1100" b="1" i="0">
                <a:solidFill>
                  <a:srgbClr val="FFFFFF"/>
                </a:solidFill>
              </a:rPr>
              <a:t>Plaintext secrets in env: Password, API Key, ARM_CLIENT</a:t>
            </a:r>
          </a:p>
        </p:txBody>
      </p:sp>
      <p:sp>
        <p:nvSpPr>
          <p:cNvPr id="24" name="TextBox 23"/>
          <p:cNvSpPr txBox="1"/>
          <p:nvPr/>
        </p:nvSpPr>
        <p:spPr>
          <a:xfrm>
            <a:off x="777240" y="3282696"/>
            <a:ext cx="6858000" cy="201168"/>
          </a:xfrm>
          <a:prstGeom prst="rect">
            <a:avLst/>
          </a:prstGeom>
          <a:noFill/>
        </p:spPr>
        <p:txBody>
          <a:bodyPr wrap="square">
            <a:spAutoFit/>
          </a:bodyPr>
          <a:lstStyle/>
          <a:p>
            <a:pPr algn="l"/>
            <a:r>
              <a:rPr sz="900" b="0" i="0">
                <a:solidFill>
                  <a:srgbClr val="8E9DB4"/>
                </a:solidFill>
              </a:rPr>
              <a:t>→ Change type to PARAMETER_STORE or SECRETS_MANAGER</a:t>
            </a:r>
          </a:p>
        </p:txBody>
      </p:sp>
      <p:sp>
        <p:nvSpPr>
          <p:cNvPr id="25" name="TextBox 24"/>
          <p:cNvSpPr txBox="1"/>
          <p:nvPr/>
        </p:nvSpPr>
        <p:spPr>
          <a:xfrm>
            <a:off x="7406640" y="3118103"/>
            <a:ext cx="1005840" cy="237744"/>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26" name="Rectangle 25"/>
          <p:cNvSpPr/>
          <p:nvPr/>
        </p:nvSpPr>
        <p:spPr>
          <a:xfrm>
            <a:off x="365760" y="3602736"/>
            <a:ext cx="292608" cy="457200"/>
          </a:xfrm>
          <a:prstGeom prst="rect">
            <a:avLst/>
          </a:prstGeom>
          <a:solidFill>
            <a:srgbClr val="DC2626"/>
          </a:solidFill>
          <a:ln>
            <a:noFill/>
          </a:ln>
        </p:spPr>
      </p:sp>
      <p:sp>
        <p:nvSpPr>
          <p:cNvPr id="27" name="TextBox 26"/>
          <p:cNvSpPr txBox="1"/>
          <p:nvPr/>
        </p:nvSpPr>
        <p:spPr>
          <a:xfrm>
            <a:off x="365760" y="3675887"/>
            <a:ext cx="292608" cy="320040"/>
          </a:xfrm>
          <a:prstGeom prst="rect">
            <a:avLst/>
          </a:prstGeom>
          <a:noFill/>
        </p:spPr>
        <p:txBody>
          <a:bodyPr wrap="square">
            <a:spAutoFit/>
          </a:bodyPr>
          <a:lstStyle/>
          <a:p>
            <a:pPr algn="ctr"/>
            <a:r>
              <a:rPr sz="1300" b="1" i="0">
                <a:solidFill>
                  <a:srgbClr val="FFFFFF"/>
                </a:solidFill>
              </a:rPr>
              <a:t>4</a:t>
            </a:r>
          </a:p>
        </p:txBody>
      </p:sp>
      <p:sp>
        <p:nvSpPr>
          <p:cNvPr id="28" name="TextBox 27"/>
          <p:cNvSpPr txBox="1"/>
          <p:nvPr/>
        </p:nvSpPr>
        <p:spPr>
          <a:xfrm>
            <a:off x="777240" y="3639312"/>
            <a:ext cx="5943600" cy="237744"/>
          </a:xfrm>
          <a:prstGeom prst="rect">
            <a:avLst/>
          </a:prstGeom>
          <a:noFill/>
        </p:spPr>
        <p:txBody>
          <a:bodyPr wrap="square">
            <a:spAutoFit/>
          </a:bodyPr>
          <a:lstStyle/>
          <a:p>
            <a:pPr algn="l"/>
            <a:r>
              <a:rPr sz="1100" b="1" i="0">
                <a:solidFill>
                  <a:srgbClr val="FFFFFF"/>
                </a:solidFill>
              </a:rPr>
              <a:t>Build role = AdministratorAccess</a:t>
            </a:r>
          </a:p>
        </p:txBody>
      </p:sp>
      <p:sp>
        <p:nvSpPr>
          <p:cNvPr id="29" name="TextBox 28"/>
          <p:cNvSpPr txBox="1"/>
          <p:nvPr/>
        </p:nvSpPr>
        <p:spPr>
          <a:xfrm>
            <a:off x="777240" y="3858768"/>
            <a:ext cx="6858000" cy="201168"/>
          </a:xfrm>
          <a:prstGeom prst="rect">
            <a:avLst/>
          </a:prstGeom>
          <a:noFill/>
        </p:spPr>
        <p:txBody>
          <a:bodyPr wrap="square">
            <a:spAutoFit/>
          </a:bodyPr>
          <a:lstStyle/>
          <a:p>
            <a:pPr algn="l"/>
            <a:r>
              <a:rPr sz="900" b="0" i="0">
                <a:solidFill>
                  <a:srgbClr val="8E9DB4"/>
                </a:solidFill>
              </a:rPr>
              <a:t>→ Scope to minimum permissions (S3, ECR, CloudWatch)</a:t>
            </a:r>
          </a:p>
        </p:txBody>
      </p:sp>
      <p:sp>
        <p:nvSpPr>
          <p:cNvPr id="30" name="TextBox 29"/>
          <p:cNvSpPr txBox="1"/>
          <p:nvPr/>
        </p:nvSpPr>
        <p:spPr>
          <a:xfrm>
            <a:off x="7406640" y="3694176"/>
            <a:ext cx="1005840" cy="237744"/>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31" name="Rectangle 30"/>
          <p:cNvSpPr/>
          <p:nvPr/>
        </p:nvSpPr>
        <p:spPr>
          <a:xfrm>
            <a:off x="365760" y="4178808"/>
            <a:ext cx="292608" cy="457200"/>
          </a:xfrm>
          <a:prstGeom prst="rect">
            <a:avLst/>
          </a:prstGeom>
          <a:solidFill>
            <a:srgbClr val="DC2626"/>
          </a:solidFill>
          <a:ln>
            <a:noFill/>
          </a:ln>
        </p:spPr>
      </p:sp>
      <p:sp>
        <p:nvSpPr>
          <p:cNvPr id="32" name="TextBox 31"/>
          <p:cNvSpPr txBox="1"/>
          <p:nvPr/>
        </p:nvSpPr>
        <p:spPr>
          <a:xfrm>
            <a:off x="365760" y="4251960"/>
            <a:ext cx="292608" cy="320040"/>
          </a:xfrm>
          <a:prstGeom prst="rect">
            <a:avLst/>
          </a:prstGeom>
          <a:noFill/>
        </p:spPr>
        <p:txBody>
          <a:bodyPr wrap="square">
            <a:spAutoFit/>
          </a:bodyPr>
          <a:lstStyle/>
          <a:p>
            <a:pPr algn="ctr"/>
            <a:r>
              <a:rPr sz="1300" b="1" i="0">
                <a:solidFill>
                  <a:srgbClr val="FFFFFF"/>
                </a:solidFill>
              </a:rPr>
              <a:t>5</a:t>
            </a:r>
          </a:p>
        </p:txBody>
      </p:sp>
      <p:sp>
        <p:nvSpPr>
          <p:cNvPr id="33" name="TextBox 32"/>
          <p:cNvSpPr txBox="1"/>
          <p:nvPr/>
        </p:nvSpPr>
        <p:spPr>
          <a:xfrm>
            <a:off x="777240" y="4215384"/>
            <a:ext cx="5943600" cy="237744"/>
          </a:xfrm>
          <a:prstGeom prst="rect">
            <a:avLst/>
          </a:prstGeom>
          <a:noFill/>
        </p:spPr>
        <p:txBody>
          <a:bodyPr wrap="square">
            <a:spAutoFit/>
          </a:bodyPr>
          <a:lstStyle/>
          <a:p>
            <a:pPr algn="l"/>
            <a:r>
              <a:rPr sz="1100" b="1" i="0">
                <a:solidFill>
                  <a:srgbClr val="FFFFFF"/>
                </a:solidFill>
              </a:rPr>
              <a:t>Plaintext secrets in env: MongoDB URI with credentials,</a:t>
            </a:r>
          </a:p>
        </p:txBody>
      </p:sp>
      <p:sp>
        <p:nvSpPr>
          <p:cNvPr id="34" name="TextBox 33"/>
          <p:cNvSpPr txBox="1"/>
          <p:nvPr/>
        </p:nvSpPr>
        <p:spPr>
          <a:xfrm>
            <a:off x="777240" y="4434840"/>
            <a:ext cx="6858000" cy="201168"/>
          </a:xfrm>
          <a:prstGeom prst="rect">
            <a:avLst/>
          </a:prstGeom>
          <a:noFill/>
        </p:spPr>
        <p:txBody>
          <a:bodyPr wrap="square">
            <a:spAutoFit/>
          </a:bodyPr>
          <a:lstStyle/>
          <a:p>
            <a:pPr algn="l"/>
            <a:r>
              <a:rPr sz="900" b="0" i="0">
                <a:solidFill>
                  <a:srgbClr val="8E9DB4"/>
                </a:solidFill>
              </a:rPr>
              <a:t>→ Change type to PARAMETER_STORE or SECRETS_MANAGER</a:t>
            </a:r>
          </a:p>
        </p:txBody>
      </p:sp>
      <p:sp>
        <p:nvSpPr>
          <p:cNvPr id="35" name="TextBox 34"/>
          <p:cNvSpPr txBox="1"/>
          <p:nvPr/>
        </p:nvSpPr>
        <p:spPr>
          <a:xfrm>
            <a:off x="7406640" y="4270248"/>
            <a:ext cx="1005840" cy="237744"/>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FF3C5A"/>
          </a:solidFill>
          <a:ln>
            <a:noFill/>
          </a:ln>
        </p:spPr>
      </p:sp>
      <p:sp>
        <p:nvSpPr>
          <p:cNvPr id="9" name="TextBox 8"/>
          <p:cNvSpPr txBox="1"/>
          <p:nvPr/>
        </p:nvSpPr>
        <p:spPr>
          <a:xfrm>
            <a:off x="365760" y="1051560"/>
            <a:ext cx="8229600" cy="411480"/>
          </a:xfrm>
          <a:prstGeom prst="rect">
            <a:avLst/>
          </a:prstGeom>
          <a:noFill/>
        </p:spPr>
        <p:txBody>
          <a:bodyPr wrap="square">
            <a:spAutoFit/>
          </a:bodyPr>
          <a:lstStyle/>
          <a:p>
            <a:pPr algn="l"/>
            <a:r>
              <a:rPr sz="2000" b="1" i="0">
                <a:solidFill>
                  <a:srgbClr val="FFFFFF"/>
                </a:solidFill>
              </a:rPr>
              <a:t>Category Scorecard</a:t>
            </a:r>
          </a:p>
        </p:txBody>
      </p:sp>
      <p:sp>
        <p:nvSpPr>
          <p:cNvPr id="10" name="TextBox 9"/>
          <p:cNvSpPr txBox="1"/>
          <p:nvPr/>
        </p:nvSpPr>
        <p:spPr>
          <a:xfrm>
            <a:off x="365760" y="1508760"/>
            <a:ext cx="8229600" cy="274320"/>
          </a:xfrm>
          <a:prstGeom prst="rect">
            <a:avLst/>
          </a:prstGeom>
          <a:noFill/>
        </p:spPr>
        <p:txBody>
          <a:bodyPr wrap="square">
            <a:spAutoFit/>
          </a:bodyPr>
          <a:lstStyle/>
          <a:p>
            <a:pPr algn="l"/>
            <a:r>
              <a:rPr sz="1100" b="0" i="0">
                <a:solidFill>
                  <a:srgbClr val="8E9DB4"/>
                </a:solidFill>
              </a:rPr>
              <a:t>Score breakdown across all domains.</a:t>
            </a:r>
          </a:p>
        </p:txBody>
      </p:sp>
      <p:sp>
        <p:nvSpPr>
          <p:cNvPr id="11" name="Rectangle 10"/>
          <p:cNvSpPr/>
          <p:nvPr/>
        </p:nvSpPr>
        <p:spPr>
          <a:xfrm>
            <a:off x="365760" y="1920240"/>
            <a:ext cx="2743200" cy="822960"/>
          </a:xfrm>
          <a:prstGeom prst="rect">
            <a:avLst/>
          </a:prstGeom>
          <a:solidFill>
            <a:srgbClr val="101828"/>
          </a:solidFill>
          <a:ln>
            <a:noFill/>
          </a:ln>
        </p:spPr>
      </p:sp>
      <p:sp>
        <p:nvSpPr>
          <p:cNvPr id="12" name="TextBox 11"/>
          <p:cNvSpPr txBox="1"/>
          <p:nvPr/>
        </p:nvSpPr>
        <p:spPr>
          <a:xfrm>
            <a:off x="457200" y="1975104"/>
            <a:ext cx="2560320" cy="256032"/>
          </a:xfrm>
          <a:prstGeom prst="rect">
            <a:avLst/>
          </a:prstGeom>
          <a:noFill/>
        </p:spPr>
        <p:txBody>
          <a:bodyPr wrap="square">
            <a:spAutoFit/>
          </a:bodyPr>
          <a:lstStyle/>
          <a:p>
            <a:pPr algn="l"/>
            <a:r>
              <a:rPr sz="1000" b="1" i="0">
                <a:solidFill>
                  <a:srgbClr val="FFFFFF"/>
                </a:solidFill>
              </a:rPr>
              <a:t>Detection</a:t>
            </a:r>
          </a:p>
        </p:txBody>
      </p:sp>
      <p:sp>
        <p:nvSpPr>
          <p:cNvPr id="13" name="Rectangle 12"/>
          <p:cNvSpPr/>
          <p:nvPr/>
        </p:nvSpPr>
        <p:spPr>
          <a:xfrm>
            <a:off x="457200" y="2304288"/>
            <a:ext cx="1828800" cy="91440"/>
          </a:xfrm>
          <a:prstGeom prst="rect">
            <a:avLst/>
          </a:prstGeom>
          <a:solidFill>
            <a:srgbClr val="0C1220"/>
          </a:solidFill>
          <a:ln>
            <a:noFill/>
          </a:ln>
        </p:spPr>
      </p:sp>
      <p:sp>
        <p:nvSpPr>
          <p:cNvPr id="14" name="Rectangle 13"/>
          <p:cNvSpPr/>
          <p:nvPr/>
        </p:nvSpPr>
        <p:spPr>
          <a:xfrm>
            <a:off x="457200" y="2304288"/>
            <a:ext cx="1828800" cy="91440"/>
          </a:xfrm>
          <a:prstGeom prst="rect">
            <a:avLst/>
          </a:prstGeom>
          <a:solidFill>
            <a:srgbClr val="16A34A"/>
          </a:solidFill>
          <a:ln>
            <a:noFill/>
          </a:ln>
        </p:spPr>
      </p:sp>
      <p:sp>
        <p:nvSpPr>
          <p:cNvPr id="15" name="TextBox 14"/>
          <p:cNvSpPr txBox="1"/>
          <p:nvPr/>
        </p:nvSpPr>
        <p:spPr>
          <a:xfrm>
            <a:off x="2331720" y="2194560"/>
            <a:ext cx="685800" cy="274320"/>
          </a:xfrm>
          <a:prstGeom prst="rect">
            <a:avLst/>
          </a:prstGeom>
          <a:noFill/>
        </p:spPr>
        <p:txBody>
          <a:bodyPr wrap="square">
            <a:spAutoFit/>
          </a:bodyPr>
          <a:lstStyle/>
          <a:p>
            <a:pPr algn="r"/>
            <a:r>
              <a:rPr sz="1300" b="1" i="0">
                <a:solidFill>
                  <a:srgbClr val="16A34A"/>
                </a:solidFill>
              </a:rPr>
              <a:t>100%</a:t>
            </a:r>
          </a:p>
        </p:txBody>
      </p:sp>
      <p:sp>
        <p:nvSpPr>
          <p:cNvPr id="16" name="Rectangle 15"/>
          <p:cNvSpPr/>
          <p:nvPr/>
        </p:nvSpPr>
        <p:spPr>
          <a:xfrm>
            <a:off x="3291840" y="1920240"/>
            <a:ext cx="2743200" cy="822960"/>
          </a:xfrm>
          <a:prstGeom prst="rect">
            <a:avLst/>
          </a:prstGeom>
          <a:solidFill>
            <a:srgbClr val="101828"/>
          </a:solidFill>
          <a:ln>
            <a:noFill/>
          </a:ln>
        </p:spPr>
      </p:sp>
      <p:sp>
        <p:nvSpPr>
          <p:cNvPr id="17" name="TextBox 16"/>
          <p:cNvSpPr txBox="1"/>
          <p:nvPr/>
        </p:nvSpPr>
        <p:spPr>
          <a:xfrm>
            <a:off x="3383280" y="1975104"/>
            <a:ext cx="2560320" cy="256032"/>
          </a:xfrm>
          <a:prstGeom prst="rect">
            <a:avLst/>
          </a:prstGeom>
          <a:noFill/>
        </p:spPr>
        <p:txBody>
          <a:bodyPr wrap="square">
            <a:spAutoFit/>
          </a:bodyPr>
          <a:lstStyle/>
          <a:p>
            <a:pPr algn="l"/>
            <a:r>
              <a:rPr sz="1000" b="1" i="0">
                <a:solidFill>
                  <a:srgbClr val="FFFFFF"/>
                </a:solidFill>
              </a:rPr>
              <a:t>IAM</a:t>
            </a:r>
          </a:p>
        </p:txBody>
      </p:sp>
      <p:sp>
        <p:nvSpPr>
          <p:cNvPr id="18" name="Rectangle 17"/>
          <p:cNvSpPr/>
          <p:nvPr/>
        </p:nvSpPr>
        <p:spPr>
          <a:xfrm>
            <a:off x="3383280" y="2304288"/>
            <a:ext cx="1828800" cy="91440"/>
          </a:xfrm>
          <a:prstGeom prst="rect">
            <a:avLst/>
          </a:prstGeom>
          <a:solidFill>
            <a:srgbClr val="0C1220"/>
          </a:solidFill>
          <a:ln>
            <a:noFill/>
          </a:ln>
        </p:spPr>
      </p:sp>
      <p:sp>
        <p:nvSpPr>
          <p:cNvPr id="19" name="Rectangle 18"/>
          <p:cNvSpPr/>
          <p:nvPr/>
        </p:nvSpPr>
        <p:spPr>
          <a:xfrm>
            <a:off x="3383280" y="2304288"/>
            <a:ext cx="914400" cy="91440"/>
          </a:xfrm>
          <a:prstGeom prst="rect">
            <a:avLst/>
          </a:prstGeom>
          <a:solidFill>
            <a:srgbClr val="D97706"/>
          </a:solidFill>
          <a:ln>
            <a:noFill/>
          </a:ln>
        </p:spPr>
      </p:sp>
      <p:sp>
        <p:nvSpPr>
          <p:cNvPr id="20" name="TextBox 19"/>
          <p:cNvSpPr txBox="1"/>
          <p:nvPr/>
        </p:nvSpPr>
        <p:spPr>
          <a:xfrm>
            <a:off x="5257800" y="2194560"/>
            <a:ext cx="685800" cy="274320"/>
          </a:xfrm>
          <a:prstGeom prst="rect">
            <a:avLst/>
          </a:prstGeom>
          <a:noFill/>
        </p:spPr>
        <p:txBody>
          <a:bodyPr wrap="square">
            <a:spAutoFit/>
          </a:bodyPr>
          <a:lstStyle/>
          <a:p>
            <a:pPr algn="r"/>
            <a:r>
              <a:rPr sz="1300" b="1" i="0">
                <a:solidFill>
                  <a:srgbClr val="D97706"/>
                </a:solidFill>
              </a:rPr>
              <a:t>50%</a:t>
            </a:r>
          </a:p>
        </p:txBody>
      </p:sp>
      <p:sp>
        <p:nvSpPr>
          <p:cNvPr id="21" name="Rectangle 20"/>
          <p:cNvSpPr/>
          <p:nvPr/>
        </p:nvSpPr>
        <p:spPr>
          <a:xfrm>
            <a:off x="6217920" y="1920240"/>
            <a:ext cx="2743200" cy="822960"/>
          </a:xfrm>
          <a:prstGeom prst="rect">
            <a:avLst/>
          </a:prstGeom>
          <a:solidFill>
            <a:srgbClr val="101828"/>
          </a:solidFill>
          <a:ln>
            <a:noFill/>
          </a:ln>
        </p:spPr>
      </p:sp>
      <p:sp>
        <p:nvSpPr>
          <p:cNvPr id="22" name="TextBox 21"/>
          <p:cNvSpPr txBox="1"/>
          <p:nvPr/>
        </p:nvSpPr>
        <p:spPr>
          <a:xfrm>
            <a:off x="6309360" y="1975104"/>
            <a:ext cx="2560320" cy="256032"/>
          </a:xfrm>
          <a:prstGeom prst="rect">
            <a:avLst/>
          </a:prstGeom>
          <a:noFill/>
        </p:spPr>
        <p:txBody>
          <a:bodyPr wrap="square">
            <a:spAutoFit/>
          </a:bodyPr>
          <a:lstStyle/>
          <a:p>
            <a:pPr algn="l"/>
            <a:r>
              <a:rPr sz="1000" b="1" i="0">
                <a:solidFill>
                  <a:srgbClr val="FFFFFF"/>
                </a:solidFill>
              </a:rPr>
              <a:t>CodeBuild</a:t>
            </a:r>
          </a:p>
        </p:txBody>
      </p:sp>
      <p:sp>
        <p:nvSpPr>
          <p:cNvPr id="23" name="Rectangle 22"/>
          <p:cNvSpPr/>
          <p:nvPr/>
        </p:nvSpPr>
        <p:spPr>
          <a:xfrm>
            <a:off x="6309360" y="2304288"/>
            <a:ext cx="1828800" cy="91440"/>
          </a:xfrm>
          <a:prstGeom prst="rect">
            <a:avLst/>
          </a:prstGeom>
          <a:solidFill>
            <a:srgbClr val="0C1220"/>
          </a:solidFill>
          <a:ln>
            <a:noFill/>
          </a:ln>
        </p:spPr>
      </p:sp>
      <p:sp>
        <p:nvSpPr>
          <p:cNvPr id="24" name="Rectangle 23"/>
          <p:cNvSpPr/>
          <p:nvPr/>
        </p:nvSpPr>
        <p:spPr>
          <a:xfrm>
            <a:off x="6309360" y="2304288"/>
            <a:ext cx="54864" cy="91440"/>
          </a:xfrm>
          <a:prstGeom prst="rect">
            <a:avLst/>
          </a:prstGeom>
          <a:solidFill>
            <a:srgbClr val="DC2626"/>
          </a:solidFill>
          <a:ln>
            <a:noFill/>
          </a:ln>
        </p:spPr>
      </p:sp>
      <p:sp>
        <p:nvSpPr>
          <p:cNvPr id="25" name="TextBox 24"/>
          <p:cNvSpPr txBox="1"/>
          <p:nvPr/>
        </p:nvSpPr>
        <p:spPr>
          <a:xfrm>
            <a:off x="8183880" y="2194560"/>
            <a:ext cx="685800" cy="274320"/>
          </a:xfrm>
          <a:prstGeom prst="rect">
            <a:avLst/>
          </a:prstGeom>
          <a:noFill/>
        </p:spPr>
        <p:txBody>
          <a:bodyPr wrap="square">
            <a:spAutoFit/>
          </a:bodyPr>
          <a:lstStyle/>
          <a:p>
            <a:pPr algn="r"/>
            <a:r>
              <a:rPr sz="1300" b="1" i="0">
                <a:solidFill>
                  <a:srgbClr val="DC2626"/>
                </a:solidFill>
              </a:rPr>
              <a:t>3%</a:t>
            </a:r>
          </a:p>
        </p:txBody>
      </p:sp>
      <p:sp>
        <p:nvSpPr>
          <p:cNvPr id="26" name="Rectangle 25"/>
          <p:cNvSpPr/>
          <p:nvPr/>
        </p:nvSpPr>
        <p:spPr>
          <a:xfrm>
            <a:off x="365760" y="2880360"/>
            <a:ext cx="2743200" cy="822960"/>
          </a:xfrm>
          <a:prstGeom prst="rect">
            <a:avLst/>
          </a:prstGeom>
          <a:solidFill>
            <a:srgbClr val="101828"/>
          </a:solidFill>
          <a:ln>
            <a:noFill/>
          </a:ln>
        </p:spPr>
      </p:sp>
      <p:sp>
        <p:nvSpPr>
          <p:cNvPr id="27" name="TextBox 26"/>
          <p:cNvSpPr txBox="1"/>
          <p:nvPr/>
        </p:nvSpPr>
        <p:spPr>
          <a:xfrm>
            <a:off x="457200" y="2935224"/>
            <a:ext cx="2560320" cy="256032"/>
          </a:xfrm>
          <a:prstGeom prst="rect">
            <a:avLst/>
          </a:prstGeom>
          <a:noFill/>
        </p:spPr>
        <p:txBody>
          <a:bodyPr wrap="square">
            <a:spAutoFit/>
          </a:bodyPr>
          <a:lstStyle/>
          <a:p>
            <a:pPr algn="l"/>
            <a:r>
              <a:rPr sz="1000" b="1" i="0">
                <a:solidFill>
                  <a:srgbClr val="FFFFFF"/>
                </a:solidFill>
              </a:rPr>
              <a:t>ECR</a:t>
            </a:r>
          </a:p>
        </p:txBody>
      </p:sp>
      <p:sp>
        <p:nvSpPr>
          <p:cNvPr id="28" name="Rectangle 27"/>
          <p:cNvSpPr/>
          <p:nvPr/>
        </p:nvSpPr>
        <p:spPr>
          <a:xfrm>
            <a:off x="457200" y="3264408"/>
            <a:ext cx="1828800" cy="91440"/>
          </a:xfrm>
          <a:prstGeom prst="rect">
            <a:avLst/>
          </a:prstGeom>
          <a:solidFill>
            <a:srgbClr val="0C1220"/>
          </a:solidFill>
          <a:ln>
            <a:noFill/>
          </a:ln>
        </p:spPr>
      </p:sp>
      <p:sp>
        <p:nvSpPr>
          <p:cNvPr id="29" name="Rectangle 28"/>
          <p:cNvSpPr/>
          <p:nvPr/>
        </p:nvSpPr>
        <p:spPr>
          <a:xfrm>
            <a:off x="457200" y="3264408"/>
            <a:ext cx="694944" cy="91440"/>
          </a:xfrm>
          <a:prstGeom prst="rect">
            <a:avLst/>
          </a:prstGeom>
          <a:solidFill>
            <a:srgbClr val="DC2626"/>
          </a:solidFill>
          <a:ln>
            <a:noFill/>
          </a:ln>
        </p:spPr>
      </p:sp>
      <p:sp>
        <p:nvSpPr>
          <p:cNvPr id="30" name="TextBox 29"/>
          <p:cNvSpPr txBox="1"/>
          <p:nvPr/>
        </p:nvSpPr>
        <p:spPr>
          <a:xfrm>
            <a:off x="2331720" y="3154680"/>
            <a:ext cx="685800" cy="274320"/>
          </a:xfrm>
          <a:prstGeom prst="rect">
            <a:avLst/>
          </a:prstGeom>
          <a:noFill/>
        </p:spPr>
        <p:txBody>
          <a:bodyPr wrap="square">
            <a:spAutoFit/>
          </a:bodyPr>
          <a:lstStyle/>
          <a:p>
            <a:pPr algn="r"/>
            <a:r>
              <a:rPr sz="1300" b="1" i="0">
                <a:solidFill>
                  <a:srgbClr val="DC2626"/>
                </a:solidFill>
              </a:rPr>
              <a:t>38%</a:t>
            </a:r>
          </a:p>
        </p:txBody>
      </p:sp>
      <p:sp>
        <p:nvSpPr>
          <p:cNvPr id="31" name="Rectangle 30"/>
          <p:cNvSpPr/>
          <p:nvPr/>
        </p:nvSpPr>
        <p:spPr>
          <a:xfrm>
            <a:off x="3291840" y="2880360"/>
            <a:ext cx="2743200" cy="822960"/>
          </a:xfrm>
          <a:prstGeom prst="rect">
            <a:avLst/>
          </a:prstGeom>
          <a:solidFill>
            <a:srgbClr val="101828"/>
          </a:solidFill>
          <a:ln>
            <a:noFill/>
          </a:ln>
        </p:spPr>
      </p:sp>
      <p:sp>
        <p:nvSpPr>
          <p:cNvPr id="32" name="TextBox 31"/>
          <p:cNvSpPr txBox="1"/>
          <p:nvPr/>
        </p:nvSpPr>
        <p:spPr>
          <a:xfrm>
            <a:off x="3383280" y="2935224"/>
            <a:ext cx="2560320" cy="256032"/>
          </a:xfrm>
          <a:prstGeom prst="rect">
            <a:avLst/>
          </a:prstGeom>
          <a:noFill/>
        </p:spPr>
        <p:txBody>
          <a:bodyPr wrap="square">
            <a:spAutoFit/>
          </a:bodyPr>
          <a:lstStyle/>
          <a:p>
            <a:pPr algn="l"/>
            <a:r>
              <a:rPr sz="1000" b="1" i="0">
                <a:solidFill>
                  <a:srgbClr val="FFFFFF"/>
                </a:solidFill>
              </a:rPr>
              <a:t>Secrets</a:t>
            </a:r>
          </a:p>
        </p:txBody>
      </p:sp>
      <p:sp>
        <p:nvSpPr>
          <p:cNvPr id="33" name="Rectangle 32"/>
          <p:cNvSpPr/>
          <p:nvPr/>
        </p:nvSpPr>
        <p:spPr>
          <a:xfrm>
            <a:off x="3383280" y="3264408"/>
            <a:ext cx="1828800" cy="91440"/>
          </a:xfrm>
          <a:prstGeom prst="rect">
            <a:avLst/>
          </a:prstGeom>
          <a:solidFill>
            <a:srgbClr val="0C1220"/>
          </a:solidFill>
          <a:ln>
            <a:noFill/>
          </a:ln>
        </p:spPr>
      </p:sp>
      <p:sp>
        <p:nvSpPr>
          <p:cNvPr id="34" name="Rectangle 33"/>
          <p:cNvSpPr/>
          <p:nvPr/>
        </p:nvSpPr>
        <p:spPr>
          <a:xfrm>
            <a:off x="3383280" y="3264408"/>
            <a:ext cx="365760" cy="91440"/>
          </a:xfrm>
          <a:prstGeom prst="rect">
            <a:avLst/>
          </a:prstGeom>
          <a:solidFill>
            <a:srgbClr val="DC2626"/>
          </a:solidFill>
          <a:ln>
            <a:noFill/>
          </a:ln>
        </p:spPr>
      </p:sp>
      <p:sp>
        <p:nvSpPr>
          <p:cNvPr id="35" name="TextBox 34"/>
          <p:cNvSpPr txBox="1"/>
          <p:nvPr/>
        </p:nvSpPr>
        <p:spPr>
          <a:xfrm>
            <a:off x="5257800" y="3154680"/>
            <a:ext cx="685800" cy="274320"/>
          </a:xfrm>
          <a:prstGeom prst="rect">
            <a:avLst/>
          </a:prstGeom>
          <a:noFill/>
        </p:spPr>
        <p:txBody>
          <a:bodyPr wrap="square">
            <a:spAutoFit/>
          </a:bodyPr>
          <a:lstStyle/>
          <a:p>
            <a:pPr algn="r"/>
            <a:r>
              <a:rPr sz="1300" b="1" i="0">
                <a:solidFill>
                  <a:srgbClr val="DC2626"/>
                </a:solidFill>
              </a:rPr>
              <a:t>20%</a:t>
            </a:r>
          </a:p>
        </p:txBody>
      </p:sp>
      <p:sp>
        <p:nvSpPr>
          <p:cNvPr id="36" name="Rectangle 35"/>
          <p:cNvSpPr/>
          <p:nvPr/>
        </p:nvSpPr>
        <p:spPr>
          <a:xfrm>
            <a:off x="6217920" y="2880360"/>
            <a:ext cx="2743200" cy="822960"/>
          </a:xfrm>
          <a:prstGeom prst="rect">
            <a:avLst/>
          </a:prstGeom>
          <a:solidFill>
            <a:srgbClr val="101828"/>
          </a:solidFill>
          <a:ln>
            <a:noFill/>
          </a:ln>
        </p:spPr>
      </p:sp>
      <p:sp>
        <p:nvSpPr>
          <p:cNvPr id="37" name="TextBox 36"/>
          <p:cNvSpPr txBox="1"/>
          <p:nvPr/>
        </p:nvSpPr>
        <p:spPr>
          <a:xfrm>
            <a:off x="6309360" y="2935224"/>
            <a:ext cx="2560320" cy="256032"/>
          </a:xfrm>
          <a:prstGeom prst="rect">
            <a:avLst/>
          </a:prstGeom>
          <a:noFill/>
        </p:spPr>
        <p:txBody>
          <a:bodyPr wrap="square">
            <a:spAutoFit/>
          </a:bodyPr>
          <a:lstStyle/>
          <a:p>
            <a:pPr algn="l"/>
            <a:r>
              <a:rPr sz="1000" b="1" i="0">
                <a:solidFill>
                  <a:srgbClr val="FFFFFF"/>
                </a:solidFill>
              </a:rPr>
              <a:t>Jenkins</a:t>
            </a:r>
          </a:p>
        </p:txBody>
      </p:sp>
      <p:sp>
        <p:nvSpPr>
          <p:cNvPr id="38" name="Rectangle 37"/>
          <p:cNvSpPr/>
          <p:nvPr/>
        </p:nvSpPr>
        <p:spPr>
          <a:xfrm>
            <a:off x="6309360" y="3264408"/>
            <a:ext cx="1828800" cy="91440"/>
          </a:xfrm>
          <a:prstGeom prst="rect">
            <a:avLst/>
          </a:prstGeom>
          <a:solidFill>
            <a:srgbClr val="0C1220"/>
          </a:solidFill>
          <a:ln>
            <a:noFill/>
          </a:ln>
        </p:spPr>
      </p:sp>
      <p:sp>
        <p:nvSpPr>
          <p:cNvPr id="39" name="Rectangle 38"/>
          <p:cNvSpPr/>
          <p:nvPr/>
        </p:nvSpPr>
        <p:spPr>
          <a:xfrm>
            <a:off x="6309360" y="3264408"/>
            <a:ext cx="731520" cy="91440"/>
          </a:xfrm>
          <a:prstGeom prst="rect">
            <a:avLst/>
          </a:prstGeom>
          <a:solidFill>
            <a:srgbClr val="D97706"/>
          </a:solidFill>
          <a:ln>
            <a:noFill/>
          </a:ln>
        </p:spPr>
      </p:sp>
      <p:sp>
        <p:nvSpPr>
          <p:cNvPr id="40" name="TextBox 39"/>
          <p:cNvSpPr txBox="1"/>
          <p:nvPr/>
        </p:nvSpPr>
        <p:spPr>
          <a:xfrm>
            <a:off x="8183880" y="3154680"/>
            <a:ext cx="685800" cy="274320"/>
          </a:xfrm>
          <a:prstGeom prst="rect">
            <a:avLst/>
          </a:prstGeom>
          <a:noFill/>
        </p:spPr>
        <p:txBody>
          <a:bodyPr wrap="square">
            <a:spAutoFit/>
          </a:bodyPr>
          <a:lstStyle/>
          <a:p>
            <a:pPr algn="r"/>
            <a:r>
              <a:rPr sz="1300" b="1" i="0">
                <a:solidFill>
                  <a:srgbClr val="D97706"/>
                </a:solidFill>
              </a:rPr>
              <a:t>40%</a:t>
            </a:r>
          </a:p>
        </p:txBody>
      </p:sp>
      <p:sp>
        <p:nvSpPr>
          <p:cNvPr id="41" name="Rectangle 40"/>
          <p:cNvSpPr/>
          <p:nvPr/>
        </p:nvSpPr>
        <p:spPr>
          <a:xfrm>
            <a:off x="365760" y="3840480"/>
            <a:ext cx="2743200" cy="822960"/>
          </a:xfrm>
          <a:prstGeom prst="rect">
            <a:avLst/>
          </a:prstGeom>
          <a:solidFill>
            <a:srgbClr val="101828"/>
          </a:solidFill>
          <a:ln>
            <a:noFill/>
          </a:ln>
        </p:spPr>
      </p:sp>
      <p:sp>
        <p:nvSpPr>
          <p:cNvPr id="42" name="TextBox 41"/>
          <p:cNvSpPr txBox="1"/>
          <p:nvPr/>
        </p:nvSpPr>
        <p:spPr>
          <a:xfrm>
            <a:off x="457200" y="3895344"/>
            <a:ext cx="2560320" cy="256032"/>
          </a:xfrm>
          <a:prstGeom prst="rect">
            <a:avLst/>
          </a:prstGeom>
          <a:noFill/>
        </p:spPr>
        <p:txBody>
          <a:bodyPr wrap="square">
            <a:spAutoFit/>
          </a:bodyPr>
          <a:lstStyle/>
          <a:p>
            <a:pPr algn="l"/>
            <a:r>
              <a:rPr sz="1000" b="1" i="0">
                <a:solidFill>
                  <a:srgbClr val="FFFFFF"/>
                </a:solidFill>
              </a:rPr>
              <a:t>GitHub</a:t>
            </a:r>
          </a:p>
        </p:txBody>
      </p:sp>
      <p:sp>
        <p:nvSpPr>
          <p:cNvPr id="43" name="Rectangle 42"/>
          <p:cNvSpPr/>
          <p:nvPr/>
        </p:nvSpPr>
        <p:spPr>
          <a:xfrm>
            <a:off x="457200" y="4224528"/>
            <a:ext cx="1828800" cy="91440"/>
          </a:xfrm>
          <a:prstGeom prst="rect">
            <a:avLst/>
          </a:prstGeom>
          <a:solidFill>
            <a:srgbClr val="0C1220"/>
          </a:solidFill>
          <a:ln>
            <a:noFill/>
          </a:ln>
        </p:spPr>
      </p:sp>
      <p:sp>
        <p:nvSpPr>
          <p:cNvPr id="44" name="Rectangle 43"/>
          <p:cNvSpPr/>
          <p:nvPr/>
        </p:nvSpPr>
        <p:spPr>
          <a:xfrm>
            <a:off x="457200" y="4224528"/>
            <a:ext cx="1828800" cy="91440"/>
          </a:xfrm>
          <a:prstGeom prst="rect">
            <a:avLst/>
          </a:prstGeom>
          <a:solidFill>
            <a:srgbClr val="16A34A"/>
          </a:solidFill>
          <a:ln>
            <a:noFill/>
          </a:ln>
        </p:spPr>
      </p:sp>
      <p:sp>
        <p:nvSpPr>
          <p:cNvPr id="45" name="TextBox 44"/>
          <p:cNvSpPr txBox="1"/>
          <p:nvPr/>
        </p:nvSpPr>
        <p:spPr>
          <a:xfrm>
            <a:off x="2331720" y="4114800"/>
            <a:ext cx="685800" cy="274320"/>
          </a:xfrm>
          <a:prstGeom prst="rect">
            <a:avLst/>
          </a:prstGeom>
          <a:noFill/>
        </p:spPr>
        <p:txBody>
          <a:bodyPr wrap="square">
            <a:spAutoFit/>
          </a:bodyPr>
          <a:lstStyle/>
          <a:p>
            <a:pPr algn="r"/>
            <a:r>
              <a:rPr sz="1300" b="1" i="0">
                <a:solidFill>
                  <a:srgbClr val="16A34A"/>
                </a:solidFill>
              </a:rPr>
              <a:t>100%</a:t>
            </a:r>
          </a:p>
        </p:txBody>
      </p:sp>
      <p:sp>
        <p:nvSpPr>
          <p:cNvPr id="46" name="Rectangle 45"/>
          <p:cNvSpPr/>
          <p:nvPr/>
        </p:nvSpPr>
        <p:spPr>
          <a:xfrm>
            <a:off x="3291840" y="3840480"/>
            <a:ext cx="2743200" cy="822960"/>
          </a:xfrm>
          <a:prstGeom prst="rect">
            <a:avLst/>
          </a:prstGeom>
          <a:solidFill>
            <a:srgbClr val="101828"/>
          </a:solidFill>
          <a:ln>
            <a:noFill/>
          </a:ln>
        </p:spPr>
      </p:sp>
      <p:sp>
        <p:nvSpPr>
          <p:cNvPr id="47" name="TextBox 46"/>
          <p:cNvSpPr txBox="1"/>
          <p:nvPr/>
        </p:nvSpPr>
        <p:spPr>
          <a:xfrm>
            <a:off x="3383280" y="3895344"/>
            <a:ext cx="2560320" cy="256032"/>
          </a:xfrm>
          <a:prstGeom prst="rect">
            <a:avLst/>
          </a:prstGeom>
          <a:noFill/>
        </p:spPr>
        <p:txBody>
          <a:bodyPr wrap="square">
            <a:spAutoFit/>
          </a:bodyPr>
          <a:lstStyle/>
          <a:p>
            <a:pPr algn="l"/>
            <a:r>
              <a:rPr sz="1000" b="1" i="0">
                <a:solidFill>
                  <a:srgbClr val="FFFFFF"/>
                </a:solidFill>
              </a:rPr>
              <a:t>GitLab</a:t>
            </a:r>
          </a:p>
        </p:txBody>
      </p:sp>
      <p:sp>
        <p:nvSpPr>
          <p:cNvPr id="48" name="Rectangle 47"/>
          <p:cNvSpPr/>
          <p:nvPr/>
        </p:nvSpPr>
        <p:spPr>
          <a:xfrm>
            <a:off x="3383280" y="4224528"/>
            <a:ext cx="1828800" cy="91440"/>
          </a:xfrm>
          <a:prstGeom prst="rect">
            <a:avLst/>
          </a:prstGeom>
          <a:solidFill>
            <a:srgbClr val="0C1220"/>
          </a:solidFill>
          <a:ln>
            <a:noFill/>
          </a:ln>
        </p:spPr>
      </p:sp>
      <p:sp>
        <p:nvSpPr>
          <p:cNvPr id="49" name="Rectangle 48"/>
          <p:cNvSpPr/>
          <p:nvPr/>
        </p:nvSpPr>
        <p:spPr>
          <a:xfrm>
            <a:off x="3383280" y="4224528"/>
            <a:ext cx="1828800" cy="91440"/>
          </a:xfrm>
          <a:prstGeom prst="rect">
            <a:avLst/>
          </a:prstGeom>
          <a:solidFill>
            <a:srgbClr val="16A34A"/>
          </a:solidFill>
          <a:ln>
            <a:noFill/>
          </a:ln>
        </p:spPr>
      </p:sp>
      <p:sp>
        <p:nvSpPr>
          <p:cNvPr id="50" name="TextBox 49"/>
          <p:cNvSpPr txBox="1"/>
          <p:nvPr/>
        </p:nvSpPr>
        <p:spPr>
          <a:xfrm>
            <a:off x="5257800" y="4114800"/>
            <a:ext cx="685800" cy="274320"/>
          </a:xfrm>
          <a:prstGeom prst="rect">
            <a:avLst/>
          </a:prstGeom>
          <a:noFill/>
        </p:spPr>
        <p:txBody>
          <a:bodyPr wrap="square">
            <a:spAutoFit/>
          </a:bodyPr>
          <a:lstStyle/>
          <a:p>
            <a:pPr algn="r"/>
            <a:r>
              <a:rPr sz="1300" b="1" i="0">
                <a:solidFill>
                  <a:srgbClr val="16A34A"/>
                </a:solidFill>
              </a:rPr>
              <a:t>100%</a:t>
            </a:r>
          </a:p>
        </p:txBody>
      </p:sp>
      <p:sp>
        <p:nvSpPr>
          <p:cNvPr id="51" name="Rectangle 50"/>
          <p:cNvSpPr/>
          <p:nvPr/>
        </p:nvSpPr>
        <p:spPr>
          <a:xfrm>
            <a:off x="6217920" y="3840480"/>
            <a:ext cx="2743200" cy="822960"/>
          </a:xfrm>
          <a:prstGeom prst="rect">
            <a:avLst/>
          </a:prstGeom>
          <a:solidFill>
            <a:srgbClr val="101828"/>
          </a:solidFill>
          <a:ln>
            <a:noFill/>
          </a:ln>
        </p:spPr>
      </p:sp>
      <p:sp>
        <p:nvSpPr>
          <p:cNvPr id="52" name="TextBox 51"/>
          <p:cNvSpPr txBox="1"/>
          <p:nvPr/>
        </p:nvSpPr>
        <p:spPr>
          <a:xfrm>
            <a:off x="6309360" y="3895344"/>
            <a:ext cx="2560320" cy="256032"/>
          </a:xfrm>
          <a:prstGeom prst="rect">
            <a:avLst/>
          </a:prstGeom>
          <a:noFill/>
        </p:spPr>
        <p:txBody>
          <a:bodyPr wrap="square">
            <a:spAutoFit/>
          </a:bodyPr>
          <a:lstStyle/>
          <a:p>
            <a:pPr algn="l"/>
            <a:r>
              <a:rPr sz="1000" b="1" i="0">
                <a:solidFill>
                  <a:srgbClr val="FFFFFF"/>
                </a:solidFill>
              </a:rPr>
              <a:t>Terraform</a:t>
            </a:r>
          </a:p>
        </p:txBody>
      </p:sp>
      <p:sp>
        <p:nvSpPr>
          <p:cNvPr id="53" name="Rectangle 52"/>
          <p:cNvSpPr/>
          <p:nvPr/>
        </p:nvSpPr>
        <p:spPr>
          <a:xfrm>
            <a:off x="6309360" y="4224528"/>
            <a:ext cx="1828800" cy="91440"/>
          </a:xfrm>
          <a:prstGeom prst="rect">
            <a:avLst/>
          </a:prstGeom>
          <a:solidFill>
            <a:srgbClr val="0C1220"/>
          </a:solidFill>
          <a:ln>
            <a:noFill/>
          </a:ln>
        </p:spPr>
      </p:sp>
      <p:sp>
        <p:nvSpPr>
          <p:cNvPr id="54" name="Rectangle 53"/>
          <p:cNvSpPr/>
          <p:nvPr/>
        </p:nvSpPr>
        <p:spPr>
          <a:xfrm>
            <a:off x="6309360" y="4224528"/>
            <a:ext cx="914400" cy="91440"/>
          </a:xfrm>
          <a:prstGeom prst="rect">
            <a:avLst/>
          </a:prstGeom>
          <a:solidFill>
            <a:srgbClr val="D97706"/>
          </a:solidFill>
          <a:ln>
            <a:noFill/>
          </a:ln>
        </p:spPr>
      </p:sp>
      <p:sp>
        <p:nvSpPr>
          <p:cNvPr id="55" name="TextBox 54"/>
          <p:cNvSpPr txBox="1"/>
          <p:nvPr/>
        </p:nvSpPr>
        <p:spPr>
          <a:xfrm>
            <a:off x="8183880" y="4114800"/>
            <a:ext cx="685800" cy="274320"/>
          </a:xfrm>
          <a:prstGeom prst="rect">
            <a:avLst/>
          </a:prstGeom>
          <a:noFill/>
        </p:spPr>
        <p:txBody>
          <a:bodyPr wrap="square">
            <a:spAutoFit/>
          </a:bodyPr>
          <a:lstStyle/>
          <a:p>
            <a:pPr algn="r"/>
            <a:r>
              <a:rPr sz="1300" b="1" i="0">
                <a:solidFill>
                  <a:srgbClr val="D97706"/>
                </a:solidFill>
              </a:rPr>
              <a:t>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C2626"/>
          </a:solidFill>
          <a:ln>
            <a:noFill/>
          </a:ln>
        </p:spPr>
      </p:sp>
      <p:sp>
        <p:nvSpPr>
          <p:cNvPr id="9" name="TextBox 8"/>
          <p:cNvSpPr txBox="1"/>
          <p:nvPr/>
        </p:nvSpPr>
        <p:spPr>
          <a:xfrm>
            <a:off x="365760" y="1051560"/>
            <a:ext cx="8229600" cy="411480"/>
          </a:xfrm>
          <a:prstGeom prst="rect">
            <a:avLst/>
          </a:prstGeom>
          <a:noFill/>
        </p:spPr>
        <p:txBody>
          <a:bodyPr wrap="square">
            <a:spAutoFit/>
          </a:bodyPr>
          <a:lstStyle/>
          <a:p>
            <a:pPr algn="l"/>
            <a:r>
              <a:rPr sz="2000" b="1" i="0">
                <a:solidFill>
                  <a:srgbClr val="FFFFFF"/>
                </a:solidFill>
              </a:rPr>
              <a:t>Attack Path Analysis</a:t>
            </a:r>
          </a:p>
        </p:txBody>
      </p:sp>
      <p:sp>
        <p:nvSpPr>
          <p:cNvPr id="10" name="TextBox 9"/>
          <p:cNvSpPr txBox="1"/>
          <p:nvPr/>
        </p:nvSpPr>
        <p:spPr>
          <a:xfrm>
            <a:off x="365760" y="1508760"/>
            <a:ext cx="8229600" cy="274320"/>
          </a:xfrm>
          <a:prstGeom prst="rect">
            <a:avLst/>
          </a:prstGeom>
          <a:noFill/>
        </p:spPr>
        <p:txBody>
          <a:bodyPr wrap="square">
            <a:spAutoFit/>
          </a:bodyPr>
          <a:lstStyle/>
          <a:p>
            <a:pPr algn="l"/>
            <a:r>
              <a:rPr sz="1100" b="0" i="0">
                <a:solidFill>
                  <a:srgbClr val="8E9DB4"/>
                </a:solidFill>
              </a:rPr>
              <a:t>How an attacker exploits your specific findings — step by step.</a:t>
            </a:r>
          </a:p>
        </p:txBody>
      </p:sp>
      <p:sp>
        <p:nvSpPr>
          <p:cNvPr id="11" name="Rectangle 10"/>
          <p:cNvSpPr/>
          <p:nvPr/>
        </p:nvSpPr>
        <p:spPr>
          <a:xfrm>
            <a:off x="365760" y="1920240"/>
            <a:ext cx="347472" cy="347472"/>
          </a:xfrm>
          <a:prstGeom prst="rect">
            <a:avLst/>
          </a:prstGeom>
          <a:solidFill>
            <a:srgbClr val="DC2626"/>
          </a:solidFill>
          <a:ln>
            <a:noFill/>
          </a:ln>
        </p:spPr>
      </p:sp>
      <p:sp>
        <p:nvSpPr>
          <p:cNvPr id="12" name="TextBox 11"/>
          <p:cNvSpPr txBox="1"/>
          <p:nvPr/>
        </p:nvSpPr>
        <p:spPr>
          <a:xfrm>
            <a:off x="365760" y="1956816"/>
            <a:ext cx="347472" cy="274320"/>
          </a:xfrm>
          <a:prstGeom prst="rect">
            <a:avLst/>
          </a:prstGeom>
          <a:noFill/>
        </p:spPr>
        <p:txBody>
          <a:bodyPr wrap="square">
            <a:spAutoFit/>
          </a:bodyPr>
          <a:lstStyle/>
          <a:p>
            <a:pPr algn="ctr"/>
            <a:r>
              <a:rPr sz="1300" b="1" i="0">
                <a:solidFill>
                  <a:srgbClr val="FFFFFF"/>
                </a:solidFill>
              </a:rPr>
              <a:t>1</a:t>
            </a:r>
          </a:p>
        </p:txBody>
      </p:sp>
      <p:sp>
        <p:nvSpPr>
          <p:cNvPr id="13" name="TextBox 12"/>
          <p:cNvSpPr txBox="1"/>
          <p:nvPr/>
        </p:nvSpPr>
        <p:spPr>
          <a:xfrm>
            <a:off x="822960" y="1938528"/>
            <a:ext cx="7498079" cy="237744"/>
          </a:xfrm>
          <a:prstGeom prst="rect">
            <a:avLst/>
          </a:prstGeom>
          <a:noFill/>
        </p:spPr>
        <p:txBody>
          <a:bodyPr wrap="square">
            <a:spAutoFit/>
          </a:bodyPr>
          <a:lstStyle/>
          <a:p>
            <a:pPr algn="l"/>
            <a:r>
              <a:rPr sz="1100" b="1" i="0">
                <a:solidFill>
                  <a:srgbClr val="EEF2F8"/>
                </a:solidFill>
              </a:rPr>
              <a:t>Jenkins port 8080 open to internet</a:t>
            </a:r>
          </a:p>
        </p:txBody>
      </p:sp>
      <p:sp>
        <p:nvSpPr>
          <p:cNvPr id="14" name="TextBox 13"/>
          <p:cNvSpPr txBox="1"/>
          <p:nvPr/>
        </p:nvSpPr>
        <p:spPr>
          <a:xfrm>
            <a:off x="822960" y="2194560"/>
            <a:ext cx="7498079" cy="256032"/>
          </a:xfrm>
          <a:prstGeom prst="rect">
            <a:avLst/>
          </a:prstGeom>
          <a:noFill/>
        </p:spPr>
        <p:txBody>
          <a:bodyPr wrap="square">
            <a:spAutoFit/>
          </a:bodyPr>
          <a:lstStyle/>
          <a:p>
            <a:pPr algn="l"/>
            <a:r>
              <a:rPr sz="900" b="0" i="0">
                <a:solidFill>
                  <a:srgbClr val="8E9DB4"/>
                </a:solidFill>
              </a:rPr>
              <a:t>Automated scanners find exposed Jenkins within minutes — no auth required.</a:t>
            </a:r>
          </a:p>
        </p:txBody>
      </p:sp>
      <p:sp>
        <p:nvSpPr>
          <p:cNvPr id="15" name="TextBox 14"/>
          <p:cNvSpPr txBox="1"/>
          <p:nvPr/>
        </p:nvSpPr>
        <p:spPr>
          <a:xfrm>
            <a:off x="429768" y="2304288"/>
            <a:ext cx="347472" cy="256032"/>
          </a:xfrm>
          <a:prstGeom prst="rect">
            <a:avLst/>
          </a:prstGeom>
          <a:noFill/>
        </p:spPr>
        <p:txBody>
          <a:bodyPr wrap="square">
            <a:spAutoFit/>
          </a:bodyPr>
          <a:lstStyle/>
          <a:p>
            <a:pPr algn="ctr"/>
            <a:r>
              <a:rPr sz="1300" b="0" i="0">
                <a:solidFill>
                  <a:srgbClr val="DC2626"/>
                </a:solidFill>
              </a:rPr>
              <a:t>↓</a:t>
            </a:r>
          </a:p>
        </p:txBody>
      </p:sp>
      <p:sp>
        <p:nvSpPr>
          <p:cNvPr id="16" name="Rectangle 15"/>
          <p:cNvSpPr/>
          <p:nvPr/>
        </p:nvSpPr>
        <p:spPr>
          <a:xfrm>
            <a:off x="365760" y="2670048"/>
            <a:ext cx="347472" cy="347472"/>
          </a:xfrm>
          <a:prstGeom prst="rect">
            <a:avLst/>
          </a:prstGeom>
          <a:solidFill>
            <a:srgbClr val="DC2626"/>
          </a:solidFill>
          <a:ln>
            <a:noFill/>
          </a:ln>
        </p:spPr>
      </p:sp>
      <p:sp>
        <p:nvSpPr>
          <p:cNvPr id="17" name="TextBox 16"/>
          <p:cNvSpPr txBox="1"/>
          <p:nvPr/>
        </p:nvSpPr>
        <p:spPr>
          <a:xfrm>
            <a:off x="365760" y="2706624"/>
            <a:ext cx="347472" cy="274320"/>
          </a:xfrm>
          <a:prstGeom prst="rect">
            <a:avLst/>
          </a:prstGeom>
          <a:noFill/>
        </p:spPr>
        <p:txBody>
          <a:bodyPr wrap="square">
            <a:spAutoFit/>
          </a:bodyPr>
          <a:lstStyle/>
          <a:p>
            <a:pPr algn="ctr"/>
            <a:r>
              <a:rPr sz="1300" b="1" i="0">
                <a:solidFill>
                  <a:srgbClr val="FFFFFF"/>
                </a:solidFill>
              </a:rPr>
              <a:t>2</a:t>
            </a:r>
          </a:p>
        </p:txBody>
      </p:sp>
      <p:sp>
        <p:nvSpPr>
          <p:cNvPr id="18" name="TextBox 17"/>
          <p:cNvSpPr txBox="1"/>
          <p:nvPr/>
        </p:nvSpPr>
        <p:spPr>
          <a:xfrm>
            <a:off x="822960" y="2688336"/>
            <a:ext cx="7498079" cy="237744"/>
          </a:xfrm>
          <a:prstGeom prst="rect">
            <a:avLst/>
          </a:prstGeom>
          <a:noFill/>
        </p:spPr>
        <p:txBody>
          <a:bodyPr wrap="square">
            <a:spAutoFit/>
          </a:bodyPr>
          <a:lstStyle/>
          <a:p>
            <a:pPr algn="l"/>
            <a:r>
              <a:rPr sz="1100" b="1" i="0">
                <a:solidFill>
                  <a:srgbClr val="EEF2F8"/>
                </a:solidFill>
              </a:rPr>
              <a:t>Build env vars contain plaintext AWS credentials</a:t>
            </a:r>
          </a:p>
        </p:txBody>
      </p:sp>
      <p:sp>
        <p:nvSpPr>
          <p:cNvPr id="19" name="TextBox 18"/>
          <p:cNvSpPr txBox="1"/>
          <p:nvPr/>
        </p:nvSpPr>
        <p:spPr>
          <a:xfrm>
            <a:off x="822960" y="2944368"/>
            <a:ext cx="7498079" cy="256032"/>
          </a:xfrm>
          <a:prstGeom prst="rect">
            <a:avLst/>
          </a:prstGeom>
          <a:noFill/>
        </p:spPr>
        <p:txBody>
          <a:bodyPr wrap="square">
            <a:spAutoFit/>
          </a:bodyPr>
          <a:lstStyle/>
          <a:p>
            <a:pPr algn="l"/>
            <a:r>
              <a:rPr sz="900" b="0" i="0">
                <a:solidFill>
                  <a:srgbClr val="8E9DB4"/>
                </a:solidFill>
              </a:rPr>
              <a:t>Access Key ID and Secret visible in job config to anyone with console access.</a:t>
            </a:r>
          </a:p>
        </p:txBody>
      </p:sp>
      <p:sp>
        <p:nvSpPr>
          <p:cNvPr id="20" name="TextBox 19"/>
          <p:cNvSpPr txBox="1"/>
          <p:nvPr/>
        </p:nvSpPr>
        <p:spPr>
          <a:xfrm>
            <a:off x="429768" y="3054096"/>
            <a:ext cx="347472" cy="256032"/>
          </a:xfrm>
          <a:prstGeom prst="rect">
            <a:avLst/>
          </a:prstGeom>
          <a:noFill/>
        </p:spPr>
        <p:txBody>
          <a:bodyPr wrap="square">
            <a:spAutoFit/>
          </a:bodyPr>
          <a:lstStyle/>
          <a:p>
            <a:pPr algn="ctr"/>
            <a:r>
              <a:rPr sz="1300" b="0" i="0">
                <a:solidFill>
                  <a:srgbClr val="DC2626"/>
                </a:solidFill>
              </a:rPr>
              <a:t>↓</a:t>
            </a:r>
          </a:p>
        </p:txBody>
      </p:sp>
      <p:sp>
        <p:nvSpPr>
          <p:cNvPr id="21" name="Rectangle 20"/>
          <p:cNvSpPr/>
          <p:nvPr/>
        </p:nvSpPr>
        <p:spPr>
          <a:xfrm>
            <a:off x="365760" y="3419856"/>
            <a:ext cx="347472" cy="347472"/>
          </a:xfrm>
          <a:prstGeom prst="rect">
            <a:avLst/>
          </a:prstGeom>
          <a:solidFill>
            <a:srgbClr val="DC2626"/>
          </a:solidFill>
          <a:ln>
            <a:noFill/>
          </a:ln>
        </p:spPr>
      </p:sp>
      <p:sp>
        <p:nvSpPr>
          <p:cNvPr id="22" name="TextBox 21"/>
          <p:cNvSpPr txBox="1"/>
          <p:nvPr/>
        </p:nvSpPr>
        <p:spPr>
          <a:xfrm>
            <a:off x="365760" y="3456432"/>
            <a:ext cx="347472" cy="274320"/>
          </a:xfrm>
          <a:prstGeom prst="rect">
            <a:avLst/>
          </a:prstGeom>
          <a:noFill/>
        </p:spPr>
        <p:txBody>
          <a:bodyPr wrap="square">
            <a:spAutoFit/>
          </a:bodyPr>
          <a:lstStyle/>
          <a:p>
            <a:pPr algn="ctr"/>
            <a:r>
              <a:rPr sz="1300" b="1" i="0">
                <a:solidFill>
                  <a:srgbClr val="FFFFFF"/>
                </a:solidFill>
              </a:rPr>
              <a:t>3</a:t>
            </a:r>
          </a:p>
        </p:txBody>
      </p:sp>
      <p:sp>
        <p:nvSpPr>
          <p:cNvPr id="23" name="TextBox 22"/>
          <p:cNvSpPr txBox="1"/>
          <p:nvPr/>
        </p:nvSpPr>
        <p:spPr>
          <a:xfrm>
            <a:off x="822960" y="3438144"/>
            <a:ext cx="7498079" cy="237744"/>
          </a:xfrm>
          <a:prstGeom prst="rect">
            <a:avLst/>
          </a:prstGeom>
          <a:noFill/>
        </p:spPr>
        <p:txBody>
          <a:bodyPr wrap="square">
            <a:spAutoFit/>
          </a:bodyPr>
          <a:lstStyle/>
          <a:p>
            <a:pPr algn="l"/>
            <a:r>
              <a:rPr sz="1100" b="1" i="0">
                <a:solidFill>
                  <a:srgbClr val="EEF2F8"/>
                </a:solidFill>
              </a:rPr>
              <a:t>CodeBuild IAM role has AdministratorAccess</a:t>
            </a:r>
          </a:p>
        </p:txBody>
      </p:sp>
      <p:sp>
        <p:nvSpPr>
          <p:cNvPr id="24" name="TextBox 23"/>
          <p:cNvSpPr txBox="1"/>
          <p:nvPr/>
        </p:nvSpPr>
        <p:spPr>
          <a:xfrm>
            <a:off x="822960" y="3694176"/>
            <a:ext cx="7498079" cy="256032"/>
          </a:xfrm>
          <a:prstGeom prst="rect">
            <a:avLst/>
          </a:prstGeom>
          <a:noFill/>
        </p:spPr>
        <p:txBody>
          <a:bodyPr wrap="square">
            <a:spAutoFit/>
          </a:bodyPr>
          <a:lstStyle/>
          <a:p>
            <a:pPr algn="l"/>
            <a:r>
              <a:rPr sz="900" b="0" i="0">
                <a:solidFill>
                  <a:srgbClr val="8E9DB4"/>
                </a:solidFill>
              </a:rPr>
              <a:t>Full AWS account access — create users, delete databases, exfiltrate everything.</a:t>
            </a:r>
          </a:p>
        </p:txBody>
      </p:sp>
      <p:sp>
        <p:nvSpPr>
          <p:cNvPr id="25" name="TextBox 24"/>
          <p:cNvSpPr txBox="1"/>
          <p:nvPr/>
        </p:nvSpPr>
        <p:spPr>
          <a:xfrm>
            <a:off x="429768" y="3803904"/>
            <a:ext cx="347472" cy="256032"/>
          </a:xfrm>
          <a:prstGeom prst="rect">
            <a:avLst/>
          </a:prstGeom>
          <a:noFill/>
        </p:spPr>
        <p:txBody>
          <a:bodyPr wrap="square">
            <a:spAutoFit/>
          </a:bodyPr>
          <a:lstStyle/>
          <a:p>
            <a:pPr algn="ctr"/>
            <a:r>
              <a:rPr sz="1300" b="0" i="0">
                <a:solidFill>
                  <a:srgbClr val="DC2626"/>
                </a:solidFill>
              </a:rPr>
              <a:t>↓</a:t>
            </a:r>
          </a:p>
        </p:txBody>
      </p:sp>
      <p:sp>
        <p:nvSpPr>
          <p:cNvPr id="26" name="Rectangle 25"/>
          <p:cNvSpPr/>
          <p:nvPr/>
        </p:nvSpPr>
        <p:spPr>
          <a:xfrm>
            <a:off x="365760" y="4169664"/>
            <a:ext cx="347472" cy="347472"/>
          </a:xfrm>
          <a:prstGeom prst="rect">
            <a:avLst/>
          </a:prstGeom>
          <a:solidFill>
            <a:srgbClr val="DC2626"/>
          </a:solidFill>
          <a:ln>
            <a:noFill/>
          </a:ln>
        </p:spPr>
      </p:sp>
      <p:sp>
        <p:nvSpPr>
          <p:cNvPr id="27" name="TextBox 26"/>
          <p:cNvSpPr txBox="1"/>
          <p:nvPr/>
        </p:nvSpPr>
        <p:spPr>
          <a:xfrm>
            <a:off x="365760" y="4206240"/>
            <a:ext cx="347472" cy="274320"/>
          </a:xfrm>
          <a:prstGeom prst="rect">
            <a:avLst/>
          </a:prstGeom>
          <a:noFill/>
        </p:spPr>
        <p:txBody>
          <a:bodyPr wrap="square">
            <a:spAutoFit/>
          </a:bodyPr>
          <a:lstStyle/>
          <a:p>
            <a:pPr algn="ctr"/>
            <a:r>
              <a:rPr sz="1300" b="1" i="0">
                <a:solidFill>
                  <a:srgbClr val="FFFFFF"/>
                </a:solidFill>
              </a:rPr>
              <a:t>4</a:t>
            </a:r>
          </a:p>
        </p:txBody>
      </p:sp>
      <p:sp>
        <p:nvSpPr>
          <p:cNvPr id="28" name="TextBox 27"/>
          <p:cNvSpPr txBox="1"/>
          <p:nvPr/>
        </p:nvSpPr>
        <p:spPr>
          <a:xfrm>
            <a:off x="822960" y="4187952"/>
            <a:ext cx="7498079" cy="237744"/>
          </a:xfrm>
          <a:prstGeom prst="rect">
            <a:avLst/>
          </a:prstGeom>
          <a:noFill/>
        </p:spPr>
        <p:txBody>
          <a:bodyPr wrap="square">
            <a:spAutoFit/>
          </a:bodyPr>
          <a:lstStyle/>
          <a:p>
            <a:pPr algn="l"/>
            <a:r>
              <a:rPr sz="1100" b="1" i="0">
                <a:solidFill>
                  <a:srgbClr val="EEF2F8"/>
                </a:solidFill>
              </a:rPr>
              <a:t>CloudTrail disabled — breach completely untraceable</a:t>
            </a:r>
          </a:p>
        </p:txBody>
      </p:sp>
      <p:sp>
        <p:nvSpPr>
          <p:cNvPr id="29" name="TextBox 28"/>
          <p:cNvSpPr txBox="1"/>
          <p:nvPr/>
        </p:nvSpPr>
        <p:spPr>
          <a:xfrm>
            <a:off x="822960" y="4443984"/>
            <a:ext cx="7498079" cy="256032"/>
          </a:xfrm>
          <a:prstGeom prst="rect">
            <a:avLst/>
          </a:prstGeom>
          <a:noFill/>
        </p:spPr>
        <p:txBody>
          <a:bodyPr wrap="square">
            <a:spAutoFit/>
          </a:bodyPr>
          <a:lstStyle/>
          <a:p>
            <a:pPr algn="l"/>
            <a:r>
              <a:rPr sz="900" b="0" i="0">
                <a:solidFill>
                  <a:srgbClr val="8E9DB4"/>
                </a:solidFill>
              </a:rPr>
              <a:t>No API logs, no audit trail, no way to determine scope of compromise.</a:t>
            </a:r>
          </a:p>
        </p:txBody>
      </p:sp>
      <p:sp>
        <p:nvSpPr>
          <p:cNvPr id="30" name="Rectangle 29"/>
          <p:cNvSpPr/>
          <p:nvPr/>
        </p:nvSpPr>
        <p:spPr>
          <a:xfrm>
            <a:off x="365760" y="4645152"/>
            <a:ext cx="8412480" cy="320040"/>
          </a:xfrm>
          <a:prstGeom prst="rect">
            <a:avLst/>
          </a:prstGeom>
          <a:solidFill>
            <a:srgbClr val="0A2A15"/>
          </a:solidFill>
          <a:ln>
            <a:noFill/>
          </a:ln>
        </p:spPr>
      </p:sp>
      <p:sp>
        <p:nvSpPr>
          <p:cNvPr id="31" name="TextBox 30"/>
          <p:cNvSpPr txBox="1"/>
          <p:nvPr/>
        </p:nvSpPr>
        <p:spPr>
          <a:xfrm>
            <a:off x="548640" y="4681728"/>
            <a:ext cx="8229600" cy="256032"/>
          </a:xfrm>
          <a:prstGeom prst="rect">
            <a:avLst/>
          </a:prstGeom>
          <a:noFill/>
        </p:spPr>
        <p:txBody>
          <a:bodyPr wrap="square">
            <a:spAutoFit/>
          </a:bodyPr>
          <a:lstStyle/>
          <a:p>
            <a:pPr algn="l"/>
            <a:r>
              <a:rPr sz="1000" b="1" i="0">
                <a:solidFill>
                  <a:srgbClr val="16A34A"/>
                </a:solidFill>
              </a:rPr>
              <a:t>✓  Fix any one step above and you break the entire attack chain.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C262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C2626"/>
                </a:solidFill>
              </a:rPr>
              <a:t>Critical Findings (16)</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Immediate action required.</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DC2626"/>
          </a:solidFill>
          <a:ln>
            <a:noFill/>
          </a:ln>
        </p:spPr>
      </p:sp>
      <p:sp>
        <p:nvSpPr>
          <p:cNvPr id="13" name="TextBox 12"/>
          <p:cNvSpPr txBox="1"/>
          <p:nvPr/>
        </p:nvSpPr>
        <p:spPr>
          <a:xfrm>
            <a:off x="566928" y="1554480"/>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Admin pipeline roles: nubopipe-demo-codebuild-role, nub</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pipeline-roles</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Scope to minimum required permissions.</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DC2626"/>
          </a:solidFill>
          <a:ln>
            <a:noFill/>
          </a:ln>
        </p:spPr>
      </p:sp>
      <p:sp>
        <p:nvSpPr>
          <p:cNvPr id="20" name="TextBox 19"/>
          <p:cNvSpPr txBox="1"/>
          <p:nvPr/>
        </p:nvSpPr>
        <p:spPr>
          <a:xfrm>
            <a:off x="566928" y="3438144"/>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Pipeline can modify IAM — privilege escalation</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pipeline-roles</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Remove iam:Create/Attach/Put from pipeline roles.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C262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C2626"/>
                </a:solidFill>
              </a:rPr>
              <a:t>Critical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Immediate action required.</a:t>
            </a:r>
          </a:p>
        </p:txBody>
      </p:sp>
      <p:sp>
        <p:nvSpPr>
          <p:cNvPr id="11" name="Rectangle 10"/>
          <p:cNvSpPr/>
          <p:nvPr/>
        </p:nvSpPr>
        <p:spPr>
          <a:xfrm>
            <a:off x="365760" y="1481328"/>
            <a:ext cx="8412480" cy="1517904"/>
          </a:xfrm>
          <a:prstGeom prst="rect">
            <a:avLst/>
          </a:prstGeom>
          <a:solidFill>
            <a:srgbClr val="101828"/>
          </a:solidFill>
          <a:ln>
            <a:noFill/>
          </a:ln>
        </p:spPr>
      </p:sp>
      <p:sp>
        <p:nvSpPr>
          <p:cNvPr id="12" name="Rectangle 11"/>
          <p:cNvSpPr/>
          <p:nvPr/>
        </p:nvSpPr>
        <p:spPr>
          <a:xfrm>
            <a:off x="365760" y="1481328"/>
            <a:ext cx="73152" cy="1517904"/>
          </a:xfrm>
          <a:prstGeom prst="rect">
            <a:avLst/>
          </a:prstGeom>
          <a:solidFill>
            <a:srgbClr val="DC2626"/>
          </a:solidFill>
          <a:ln>
            <a:noFill/>
          </a:ln>
        </p:spPr>
      </p:sp>
      <p:sp>
        <p:nvSpPr>
          <p:cNvPr id="13" name="TextBox 12"/>
          <p:cNvSpPr txBox="1"/>
          <p:nvPr/>
        </p:nvSpPr>
        <p:spPr>
          <a:xfrm>
            <a:off x="566928" y="1554480"/>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Plaintext secrets in env: Password, API Key, ARM_CLIENT</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Move all secrets to AWS Secrets Manager or SSM Parameter Store with SecureString type. Reference them by ARN or parameter name in your configuration. Never hardcode credentials in environment variables, source code, or configuration files.</a:t>
            </a:r>
          </a:p>
        </p:txBody>
      </p:sp>
      <p:sp>
        <p:nvSpPr>
          <p:cNvPr id="18" name="Rectangle 17"/>
          <p:cNvSpPr/>
          <p:nvPr/>
        </p:nvSpPr>
        <p:spPr>
          <a:xfrm>
            <a:off x="365760" y="3364992"/>
            <a:ext cx="8412480" cy="1353312"/>
          </a:xfrm>
          <a:prstGeom prst="rect">
            <a:avLst/>
          </a:prstGeom>
          <a:solidFill>
            <a:srgbClr val="101828"/>
          </a:solidFill>
          <a:ln>
            <a:noFill/>
          </a:ln>
        </p:spPr>
      </p:sp>
      <p:sp>
        <p:nvSpPr>
          <p:cNvPr id="19" name="Rectangle 18"/>
          <p:cNvSpPr/>
          <p:nvPr/>
        </p:nvSpPr>
        <p:spPr>
          <a:xfrm>
            <a:off x="365760" y="3364992"/>
            <a:ext cx="73152" cy="1353312"/>
          </a:xfrm>
          <a:prstGeom prst="rect">
            <a:avLst/>
          </a:prstGeom>
          <a:solidFill>
            <a:srgbClr val="DC2626"/>
          </a:solidFill>
          <a:ln>
            <a:noFill/>
          </a:ln>
        </p:spPr>
      </p:sp>
      <p:sp>
        <p:nvSpPr>
          <p:cNvPr id="20" name="TextBox 19"/>
          <p:cNvSpPr txBox="1"/>
          <p:nvPr/>
        </p:nvSpPr>
        <p:spPr>
          <a:xfrm>
            <a:off x="566928" y="3438144"/>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Build role = AdministratorAccess</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Replace with specific policies scoped to what the user or service actually needs. Use the principle of least privilege — grant only the permissions required for the specific task.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C262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C2626"/>
                </a:solidFill>
              </a:rPr>
              <a:t>Critical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Immediate action required.</a:t>
            </a:r>
          </a:p>
        </p:txBody>
      </p:sp>
      <p:sp>
        <p:nvSpPr>
          <p:cNvPr id="11" name="Rectangle 10"/>
          <p:cNvSpPr/>
          <p:nvPr/>
        </p:nvSpPr>
        <p:spPr>
          <a:xfrm>
            <a:off x="365760" y="1481328"/>
            <a:ext cx="8412480" cy="1517904"/>
          </a:xfrm>
          <a:prstGeom prst="rect">
            <a:avLst/>
          </a:prstGeom>
          <a:solidFill>
            <a:srgbClr val="101828"/>
          </a:solidFill>
          <a:ln>
            <a:noFill/>
          </a:ln>
        </p:spPr>
      </p:sp>
      <p:sp>
        <p:nvSpPr>
          <p:cNvPr id="12" name="Rectangle 11"/>
          <p:cNvSpPr/>
          <p:nvPr/>
        </p:nvSpPr>
        <p:spPr>
          <a:xfrm>
            <a:off x="365760" y="1481328"/>
            <a:ext cx="73152" cy="1517904"/>
          </a:xfrm>
          <a:prstGeom prst="rect">
            <a:avLst/>
          </a:prstGeom>
          <a:solidFill>
            <a:srgbClr val="DC2626"/>
          </a:solidFill>
          <a:ln>
            <a:noFill/>
          </a:ln>
        </p:spPr>
      </p:sp>
      <p:sp>
        <p:nvSpPr>
          <p:cNvPr id="13" name="TextBox 12"/>
          <p:cNvSpPr txBox="1"/>
          <p:nvPr/>
        </p:nvSpPr>
        <p:spPr>
          <a:xfrm>
            <a:off x="566928" y="1554480"/>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Plaintext secrets in env: MongoDB URI with credentials,</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Move all secrets to AWS Secrets Manager or SSM Parameter Store with SecureString type. Reference them by ARN or parameter name in your configuration. Never hardcode credentials in environment variables, source code, or configuration files.</a:t>
            </a:r>
          </a:p>
        </p:txBody>
      </p:sp>
      <p:sp>
        <p:nvSpPr>
          <p:cNvPr id="18" name="Rectangle 17"/>
          <p:cNvSpPr/>
          <p:nvPr/>
        </p:nvSpPr>
        <p:spPr>
          <a:xfrm>
            <a:off x="365760" y="3364992"/>
            <a:ext cx="8412480" cy="1353312"/>
          </a:xfrm>
          <a:prstGeom prst="rect">
            <a:avLst/>
          </a:prstGeom>
          <a:solidFill>
            <a:srgbClr val="101828"/>
          </a:solidFill>
          <a:ln>
            <a:noFill/>
          </a:ln>
        </p:spPr>
      </p:sp>
      <p:sp>
        <p:nvSpPr>
          <p:cNvPr id="19" name="Rectangle 18"/>
          <p:cNvSpPr/>
          <p:nvPr/>
        </p:nvSpPr>
        <p:spPr>
          <a:xfrm>
            <a:off x="365760" y="3364992"/>
            <a:ext cx="73152" cy="1353312"/>
          </a:xfrm>
          <a:prstGeom prst="rect">
            <a:avLst/>
          </a:prstGeom>
          <a:solidFill>
            <a:srgbClr val="DC2626"/>
          </a:solidFill>
          <a:ln>
            <a:noFill/>
          </a:ln>
        </p:spPr>
      </p:sp>
      <p:sp>
        <p:nvSpPr>
          <p:cNvPr id="20" name="TextBox 19"/>
          <p:cNvSpPr txBox="1"/>
          <p:nvPr/>
        </p:nvSpPr>
        <p:spPr>
          <a:xfrm>
            <a:off x="566928" y="3438144"/>
            <a:ext cx="1005840" cy="219456"/>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CRITICAL</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Build role = AdministratorAccess</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Replace with specific policies scoped to what the user or service actually needs. Use the principle of least privilege — grant only the permissions required for the specific task.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9770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97706"/>
                </a:solidFill>
              </a:rPr>
              <a:t>High Findings (19)</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48 hours.</a:t>
            </a:r>
          </a:p>
        </p:txBody>
      </p:sp>
      <p:sp>
        <p:nvSpPr>
          <p:cNvPr id="11" name="Rectangle 10"/>
          <p:cNvSpPr/>
          <p:nvPr/>
        </p:nvSpPr>
        <p:spPr>
          <a:xfrm>
            <a:off x="365760" y="1481328"/>
            <a:ext cx="8412480" cy="1353312"/>
          </a:xfrm>
          <a:prstGeom prst="rect">
            <a:avLst/>
          </a:prstGeom>
          <a:solidFill>
            <a:srgbClr val="101828"/>
          </a:solidFill>
          <a:ln>
            <a:noFill/>
          </a:ln>
        </p:spPr>
      </p:sp>
      <p:sp>
        <p:nvSpPr>
          <p:cNvPr id="12" name="Rectangle 11"/>
          <p:cNvSpPr/>
          <p:nvPr/>
        </p:nvSpPr>
        <p:spPr>
          <a:xfrm>
            <a:off x="365760" y="1481328"/>
            <a:ext cx="73152" cy="1353312"/>
          </a:xfrm>
          <a:prstGeom prst="rect">
            <a:avLst/>
          </a:prstGeom>
          <a:solidFill>
            <a:srgbClr val="D97706"/>
          </a:solidFill>
          <a:ln>
            <a:noFill/>
          </a:ln>
        </p:spPr>
      </p:sp>
      <p:sp>
        <p:nvSpPr>
          <p:cNvPr id="13" name="TextBox 12"/>
          <p:cNvSpPr txBox="1"/>
          <p:nvPr/>
        </p:nvSpPr>
        <p:spPr>
          <a:xfrm>
            <a:off x="566928" y="1554480"/>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OIDC — CI/CD uses long-lived credentials</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account</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Configure OIDC (OpenID Connect) federation: in AWS IAM create an Identity Provider for your CI/CD platform (GitHub Actions, GitLab, CircleCI etc).</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D97706"/>
          </a:solidFill>
          <a:ln>
            <a:noFill/>
          </a:ln>
        </p:spPr>
      </p:sp>
      <p:sp>
        <p:nvSpPr>
          <p:cNvPr id="20" name="TextBox 19"/>
          <p:cNvSpPr txBox="1"/>
          <p:nvPr/>
        </p:nvSpPr>
        <p:spPr>
          <a:xfrm>
            <a:off x="566928" y="3438144"/>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2 CI/CD service accounts</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iam-users</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Migrate to OIDC — eliminate long-lived credentials.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9770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97706"/>
                </a:solidFill>
              </a:rPr>
              <a:t>High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48 hours.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D97706"/>
          </a:solidFill>
          <a:ln>
            <a:noFill/>
          </a:ln>
        </p:spPr>
      </p:sp>
      <p:sp>
        <p:nvSpPr>
          <p:cNvPr id="13" name="TextBox 12"/>
          <p:cNvSpPr txBox="1"/>
          <p:nvPr/>
        </p:nvSpPr>
        <p:spPr>
          <a:xfrm>
            <a:off x="566928" y="1554480"/>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Privileged mode enabled</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Disable unless Docker-in-Docker required.</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D97706"/>
          </a:solidFill>
          <a:ln>
            <a:noFill/>
          </a:ln>
        </p:spPr>
      </p:sp>
      <p:sp>
        <p:nvSpPr>
          <p:cNvPr id="20" name="TextBox 19"/>
          <p:cNvSpPr txBox="1"/>
          <p:nvPr/>
        </p:nvSpPr>
        <p:spPr>
          <a:xfrm>
            <a:off x="566928" y="3438144"/>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Deprecated build image: aws/codebuild/standard:3.0</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Upgrade to aws/codebuild/standard:7.0.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D97706"/>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D97706"/>
                </a:solidFill>
              </a:rPr>
              <a:t>High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48 hours.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D97706"/>
          </a:solidFill>
          <a:ln>
            <a:noFill/>
          </a:ln>
        </p:spPr>
      </p:sp>
      <p:sp>
        <p:nvSpPr>
          <p:cNvPr id="13" name="TextBox 12"/>
          <p:cNvSpPr txBox="1"/>
          <p:nvPr/>
        </p:nvSpPr>
        <p:spPr>
          <a:xfrm>
            <a:off x="566928" y="1554480"/>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Build logs disabled</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Enable CloudWatch Logs.</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D97706"/>
          </a:solidFill>
          <a:ln>
            <a:noFill/>
          </a:ln>
        </p:spPr>
      </p:sp>
      <p:sp>
        <p:nvSpPr>
          <p:cNvPr id="20" name="TextBox 19"/>
          <p:cNvSpPr txBox="1"/>
          <p:nvPr/>
        </p:nvSpPr>
        <p:spPr>
          <a:xfrm>
            <a:off x="566928" y="3438144"/>
            <a:ext cx="1005840" cy="219456"/>
          </a:xfrm>
          <a:prstGeom prst="rect">
            <a:avLst/>
          </a:prstGeom>
          <a:noFill/>
          <a:solidFill>
            <a:srgbClr val="D97706"/>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HIGH</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Buildspec shell injection risk: curl|bash, eval $VAR</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Review and harden buildspec.yml.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2563EB"/>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2563EB"/>
                </a:solidFill>
              </a:rPr>
              <a:t>Medium Findings (14)</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2563EB"/>
          </a:solidFill>
          <a:ln>
            <a:noFill/>
          </a:ln>
        </p:spPr>
      </p:sp>
      <p:sp>
        <p:nvSpPr>
          <p:cNvPr id="13" name="TextBox 12"/>
          <p:cNvSpPr txBox="1"/>
          <p:nvPr/>
        </p:nvSpPr>
        <p:spPr>
          <a:xfrm>
            <a:off x="566928" y="1554480"/>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build timeout</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Set 30-60 minute timeout.</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2563EB"/>
          </a:solidFill>
          <a:ln>
            <a:noFill/>
          </a:ln>
        </p:spPr>
      </p:sp>
      <p:sp>
        <p:nvSpPr>
          <p:cNvPr id="20" name="TextBox 19"/>
          <p:cNvSpPr txBox="1"/>
          <p:nvPr/>
        </p:nvSpPr>
        <p:spPr>
          <a:xfrm>
            <a:off x="566928" y="3438144"/>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Artifacts not encrypted</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artifact encryption.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2563EB"/>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2563EB"/>
                </a:solidFill>
              </a:rPr>
              <a:t>Medium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2563EB"/>
          </a:solidFill>
          <a:ln>
            <a:noFill/>
          </a:ln>
        </p:spPr>
      </p:sp>
      <p:sp>
        <p:nvSpPr>
          <p:cNvPr id="13" name="TextBox 12"/>
          <p:cNvSpPr txBox="1"/>
          <p:nvPr/>
        </p:nvSpPr>
        <p:spPr>
          <a:xfrm>
            <a:off x="566928" y="1554480"/>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build timeout</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Set 30-60 minute timeout.</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2563EB"/>
          </a:solidFill>
          <a:ln>
            <a:noFill/>
          </a:ln>
        </p:spPr>
      </p:sp>
      <p:sp>
        <p:nvSpPr>
          <p:cNvPr id="20" name="TextBox 19"/>
          <p:cNvSpPr txBox="1"/>
          <p:nvPr/>
        </p:nvSpPr>
        <p:spPr>
          <a:xfrm>
            <a:off x="566928" y="3438144"/>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Artifacts not encrypted</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artifact encryption.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2563EB"/>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2563EB"/>
                </a:solidFill>
              </a:rPr>
              <a:t>Medium Findings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2563EB"/>
          </a:solidFill>
          <a:ln>
            <a:noFill/>
          </a:ln>
        </p:spPr>
      </p:sp>
      <p:sp>
        <p:nvSpPr>
          <p:cNvPr id="13" name="TextBox 12"/>
          <p:cNvSpPr txBox="1"/>
          <p:nvPr/>
        </p:nvSpPr>
        <p:spPr>
          <a:xfrm>
            <a:off x="566928" y="1554480"/>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build timeout</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nubopipe-demo-api-build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Set 30-60 minute timeout.</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2563EB"/>
          </a:solidFill>
          <a:ln>
            <a:noFill/>
          </a:ln>
        </p:spPr>
      </p:sp>
      <p:sp>
        <p:nvSpPr>
          <p:cNvPr id="20" name="TextBox 19"/>
          <p:cNvSpPr txBox="1"/>
          <p:nvPr/>
        </p:nvSpPr>
        <p:spPr>
          <a:xfrm>
            <a:off x="566928" y="3438144"/>
            <a:ext cx="1005840" cy="219456"/>
          </a:xfrm>
          <a:prstGeom prst="rect">
            <a:avLst/>
          </a:prstGeom>
          <a:noFill/>
          <a:solidFill>
            <a:srgbClr val="2563EB"/>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MEDIUM</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Artifacts not encrypted</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nubopipe-demo-api-build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artifact encryption.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7C3AED"/>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7C3AED"/>
                </a:solidFill>
              </a:rPr>
              <a:t>Advisory (18)</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7C3AED"/>
          </a:solidFill>
          <a:ln>
            <a:noFill/>
          </a:ln>
        </p:spPr>
      </p:sp>
      <p:sp>
        <p:nvSpPr>
          <p:cNvPr id="13" name="TextBox 12"/>
          <p:cNvSpPr txBox="1"/>
          <p:nvPr/>
        </p:nvSpPr>
        <p:spPr>
          <a:xfrm>
            <a:off x="566928" y="1554480"/>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VPC configuration</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Configure VPC for builds accessing private resources.</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7C3AED"/>
          </a:solidFill>
          <a:ln>
            <a:noFill/>
          </a:ln>
        </p:spPr>
      </p:sp>
      <p:sp>
        <p:nvSpPr>
          <p:cNvPr id="20" name="TextBox 19"/>
          <p:cNvSpPr txBox="1"/>
          <p:nvPr/>
        </p:nvSpPr>
        <p:spPr>
          <a:xfrm>
            <a:off x="566928" y="3438144"/>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No build cache</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nubopipe-demo-infra-build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S3 or local cache.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7C3AED"/>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7C3AED"/>
                </a:solidFill>
              </a:rPr>
              <a:t>Advisory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7C3AED"/>
          </a:solidFill>
          <a:ln>
            <a:noFill/>
          </a:ln>
        </p:spPr>
      </p:sp>
      <p:sp>
        <p:nvSpPr>
          <p:cNvPr id="13" name="TextBox 12"/>
          <p:cNvSpPr txBox="1"/>
          <p:nvPr/>
        </p:nvSpPr>
        <p:spPr>
          <a:xfrm>
            <a:off x="566928" y="1554480"/>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VPC configuration</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Configure VPC for builds accessing private resources.</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7C3AED"/>
          </a:solidFill>
          <a:ln>
            <a:noFill/>
          </a:ln>
        </p:spPr>
      </p:sp>
      <p:sp>
        <p:nvSpPr>
          <p:cNvPr id="20" name="TextBox 19"/>
          <p:cNvSpPr txBox="1"/>
          <p:nvPr/>
        </p:nvSpPr>
        <p:spPr>
          <a:xfrm>
            <a:off x="566928" y="3438144"/>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No build cache</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nubopipe-demo-worker-build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S3 or local 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7C3AED"/>
          </a:solidFill>
          <a:ln>
            <a:noFill/>
          </a:ln>
        </p:spPr>
      </p:sp>
      <p:sp>
        <p:nvSpPr>
          <p:cNvPr id="9" name="TextBox 8"/>
          <p:cNvSpPr txBox="1"/>
          <p:nvPr/>
        </p:nvSpPr>
        <p:spPr>
          <a:xfrm>
            <a:off x="365760" y="1051560"/>
            <a:ext cx="8229600" cy="384048"/>
          </a:xfrm>
          <a:prstGeom prst="rect">
            <a:avLst/>
          </a:prstGeom>
          <a:noFill/>
        </p:spPr>
        <p:txBody>
          <a:bodyPr wrap="square">
            <a:spAutoFit/>
          </a:bodyPr>
          <a:lstStyle/>
          <a:p>
            <a:pPr algn="l"/>
            <a:r>
              <a:rPr sz="2000" b="1" i="0">
                <a:solidFill>
                  <a:srgbClr val="7C3AED"/>
                </a:solidFill>
              </a:rPr>
              <a:t>Advisory (cont.)</a:t>
            </a:r>
          </a:p>
        </p:txBody>
      </p:sp>
      <p:sp>
        <p:nvSpPr>
          <p:cNvPr id="10" name="TextBox 9"/>
          <p:cNvSpPr txBox="1"/>
          <p:nvPr/>
        </p:nvSpPr>
        <p:spPr>
          <a:xfrm>
            <a:off x="365760" y="1463040"/>
            <a:ext cx="8229600" cy="256032"/>
          </a:xfrm>
          <a:prstGeom prst="rect">
            <a:avLst/>
          </a:prstGeom>
          <a:noFill/>
        </p:spPr>
        <p:txBody>
          <a:bodyPr wrap="square">
            <a:spAutoFit/>
          </a:bodyPr>
          <a:lstStyle/>
          <a:p>
            <a:pPr algn="l"/>
            <a:r>
              <a:rPr sz="1100" b="0" i="0">
                <a:solidFill>
                  <a:srgbClr val="8E9DB4"/>
                </a:solidFill>
              </a:rPr>
              <a:t>Address within 2 weeks.</a:t>
            </a:r>
          </a:p>
        </p:txBody>
      </p:sp>
      <p:sp>
        <p:nvSpPr>
          <p:cNvPr id="11" name="Rectangle 10"/>
          <p:cNvSpPr/>
          <p:nvPr/>
        </p:nvSpPr>
        <p:spPr>
          <a:xfrm>
            <a:off x="365760" y="1481328"/>
            <a:ext cx="8412480" cy="1188719"/>
          </a:xfrm>
          <a:prstGeom prst="rect">
            <a:avLst/>
          </a:prstGeom>
          <a:solidFill>
            <a:srgbClr val="101828"/>
          </a:solidFill>
          <a:ln>
            <a:noFill/>
          </a:ln>
        </p:spPr>
      </p:sp>
      <p:sp>
        <p:nvSpPr>
          <p:cNvPr id="12" name="Rectangle 11"/>
          <p:cNvSpPr/>
          <p:nvPr/>
        </p:nvSpPr>
        <p:spPr>
          <a:xfrm>
            <a:off x="365760" y="1481328"/>
            <a:ext cx="73152" cy="1188719"/>
          </a:xfrm>
          <a:prstGeom prst="rect">
            <a:avLst/>
          </a:prstGeom>
          <a:solidFill>
            <a:srgbClr val="7C3AED"/>
          </a:solidFill>
          <a:ln>
            <a:noFill/>
          </a:ln>
        </p:spPr>
      </p:sp>
      <p:sp>
        <p:nvSpPr>
          <p:cNvPr id="13" name="TextBox 12"/>
          <p:cNvSpPr txBox="1"/>
          <p:nvPr/>
        </p:nvSpPr>
        <p:spPr>
          <a:xfrm>
            <a:off x="566928" y="1554480"/>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14" name="TextBox 13"/>
          <p:cNvSpPr txBox="1"/>
          <p:nvPr/>
        </p:nvSpPr>
        <p:spPr>
          <a:xfrm>
            <a:off x="1691640" y="1545336"/>
            <a:ext cx="6629400" cy="256032"/>
          </a:xfrm>
          <a:prstGeom prst="rect">
            <a:avLst/>
          </a:prstGeom>
          <a:noFill/>
        </p:spPr>
        <p:txBody>
          <a:bodyPr wrap="square">
            <a:spAutoFit/>
          </a:bodyPr>
          <a:lstStyle/>
          <a:p>
            <a:pPr algn="l"/>
            <a:r>
              <a:rPr sz="1100" b="1" i="0">
                <a:solidFill>
                  <a:srgbClr val="FFFFFF"/>
                </a:solidFill>
              </a:rPr>
              <a:t>No VPC configuration</a:t>
            </a:r>
          </a:p>
        </p:txBody>
      </p:sp>
      <p:sp>
        <p:nvSpPr>
          <p:cNvPr id="15" name="TextBox 14"/>
          <p:cNvSpPr txBox="1"/>
          <p:nvPr/>
        </p:nvSpPr>
        <p:spPr>
          <a:xfrm>
            <a:off x="566928" y="1828800"/>
            <a:ext cx="7955279" cy="182880"/>
          </a:xfrm>
          <a:prstGeom prst="rect">
            <a:avLst/>
          </a:prstGeom>
          <a:noFill/>
        </p:spPr>
        <p:txBody>
          <a:bodyPr wrap="square">
            <a:spAutoFit/>
          </a:bodyPr>
          <a:lstStyle/>
          <a:p>
            <a:pPr algn="l"/>
            <a:r>
              <a:rPr sz="800" b="0" i="0">
                <a:solidFill>
                  <a:srgbClr val="4E5F72"/>
                </a:solidFill>
              </a:rPr>
              <a:t>Resource: nubopipe-demo-api-build</a:t>
            </a:r>
          </a:p>
        </p:txBody>
      </p:sp>
      <p:sp>
        <p:nvSpPr>
          <p:cNvPr id="16" name="TextBox 15"/>
          <p:cNvSpPr txBox="1"/>
          <p:nvPr/>
        </p:nvSpPr>
        <p:spPr>
          <a:xfrm>
            <a:off x="566928" y="2029968"/>
            <a:ext cx="1371600" cy="201168"/>
          </a:xfrm>
          <a:prstGeom prst="rect">
            <a:avLst/>
          </a:prstGeom>
          <a:noFill/>
        </p:spPr>
        <p:txBody>
          <a:bodyPr wrap="square">
            <a:spAutoFit/>
          </a:bodyPr>
          <a:lstStyle/>
          <a:p>
            <a:pPr algn="l"/>
            <a:r>
              <a:rPr sz="800" b="1" i="0">
                <a:solidFill>
                  <a:srgbClr val="16A34A"/>
                </a:solidFill>
              </a:rPr>
              <a:t>How to fix</a:t>
            </a:r>
          </a:p>
        </p:txBody>
      </p:sp>
      <p:sp>
        <p:nvSpPr>
          <p:cNvPr id="17" name="TextBox 16"/>
          <p:cNvSpPr txBox="1"/>
          <p:nvPr/>
        </p:nvSpPr>
        <p:spPr>
          <a:xfrm>
            <a:off x="566928" y="2231136"/>
            <a:ext cx="7955279" cy="1005840"/>
          </a:xfrm>
          <a:prstGeom prst="rect">
            <a:avLst/>
          </a:prstGeom>
          <a:noFill/>
        </p:spPr>
        <p:txBody>
          <a:bodyPr wrap="square">
            <a:spAutoFit/>
          </a:bodyPr>
          <a:lstStyle/>
          <a:p>
            <a:pPr algn="l"/>
            <a:r>
              <a:rPr sz="900" b="0" i="0">
                <a:solidFill>
                  <a:srgbClr val="EEF2F8"/>
                </a:solidFill>
              </a:rPr>
              <a:t>Configure VPC for builds accessing private resources.</a:t>
            </a:r>
          </a:p>
        </p:txBody>
      </p:sp>
      <p:sp>
        <p:nvSpPr>
          <p:cNvPr id="18" name="Rectangle 17"/>
          <p:cNvSpPr/>
          <p:nvPr/>
        </p:nvSpPr>
        <p:spPr>
          <a:xfrm>
            <a:off x="365760" y="3364992"/>
            <a:ext cx="8412480" cy="1188719"/>
          </a:xfrm>
          <a:prstGeom prst="rect">
            <a:avLst/>
          </a:prstGeom>
          <a:solidFill>
            <a:srgbClr val="101828"/>
          </a:solidFill>
          <a:ln>
            <a:noFill/>
          </a:ln>
        </p:spPr>
      </p:sp>
      <p:sp>
        <p:nvSpPr>
          <p:cNvPr id="19" name="Rectangle 18"/>
          <p:cNvSpPr/>
          <p:nvPr/>
        </p:nvSpPr>
        <p:spPr>
          <a:xfrm>
            <a:off x="365760" y="3364992"/>
            <a:ext cx="73152" cy="1188719"/>
          </a:xfrm>
          <a:prstGeom prst="rect">
            <a:avLst/>
          </a:prstGeom>
          <a:solidFill>
            <a:srgbClr val="7C3AED"/>
          </a:solidFill>
          <a:ln>
            <a:noFill/>
          </a:ln>
        </p:spPr>
      </p:sp>
      <p:sp>
        <p:nvSpPr>
          <p:cNvPr id="20" name="TextBox 19"/>
          <p:cNvSpPr txBox="1"/>
          <p:nvPr/>
        </p:nvSpPr>
        <p:spPr>
          <a:xfrm>
            <a:off x="566928" y="3438144"/>
            <a:ext cx="1005840" cy="219456"/>
          </a:xfrm>
          <a:prstGeom prst="rect">
            <a:avLst/>
          </a:prstGeom>
          <a:noFill/>
          <a:solidFill>
            <a:srgbClr val="7C3AED"/>
          </a:solidFill>
          <a:prstGeom prst="roundRect">
            <a:avLst>
              <a:gd name="adj" fmla="val 35000"/>
            </a:avLst>
          </a:prstGeom>
          <a:ln>
            <a:noFill/>
          </a:ln>
        </p:spPr>
        <p:txBody>
          <a:bodyPr wrap="none" tIns="0" bIns="0" lIns="45720" rIns="45720" anchor="ctr" anchorCtr="1">
            <a:spAutoFit/>
          </a:bodyPr>
          <a:lstStyle/>
          <a:p>
            <a:pPr algn="ctr"/>
            <a:r>
              <a:rPr sz="800" b="1">
                <a:solidFill>
                  <a:srgbClr val="FFFFFF"/>
                </a:solidFill>
              </a:rPr>
              <a:t>ADVISORY</a:t>
            </a:r>
          </a:p>
        </p:txBody>
      </p:sp>
      <p:sp>
        <p:nvSpPr>
          <p:cNvPr id="21" name="TextBox 20"/>
          <p:cNvSpPr txBox="1"/>
          <p:nvPr/>
        </p:nvSpPr>
        <p:spPr>
          <a:xfrm>
            <a:off x="1691640" y="3429000"/>
            <a:ext cx="6629400" cy="256032"/>
          </a:xfrm>
          <a:prstGeom prst="rect">
            <a:avLst/>
          </a:prstGeom>
          <a:noFill/>
        </p:spPr>
        <p:txBody>
          <a:bodyPr wrap="square">
            <a:spAutoFit/>
          </a:bodyPr>
          <a:lstStyle/>
          <a:p>
            <a:pPr algn="l"/>
            <a:r>
              <a:rPr sz="1100" b="1" i="0">
                <a:solidFill>
                  <a:srgbClr val="FFFFFF"/>
                </a:solidFill>
              </a:rPr>
              <a:t>No build cache</a:t>
            </a:r>
          </a:p>
        </p:txBody>
      </p:sp>
      <p:sp>
        <p:nvSpPr>
          <p:cNvPr id="22" name="TextBox 21"/>
          <p:cNvSpPr txBox="1"/>
          <p:nvPr/>
        </p:nvSpPr>
        <p:spPr>
          <a:xfrm>
            <a:off x="566928" y="3712464"/>
            <a:ext cx="7955279" cy="182880"/>
          </a:xfrm>
          <a:prstGeom prst="rect">
            <a:avLst/>
          </a:prstGeom>
          <a:noFill/>
        </p:spPr>
        <p:txBody>
          <a:bodyPr wrap="square">
            <a:spAutoFit/>
          </a:bodyPr>
          <a:lstStyle/>
          <a:p>
            <a:pPr algn="l"/>
            <a:r>
              <a:rPr sz="800" b="0" i="0">
                <a:solidFill>
                  <a:srgbClr val="4E5F72"/>
                </a:solidFill>
              </a:rPr>
              <a:t>Resource: nubopipe-demo-api-build</a:t>
            </a:r>
          </a:p>
        </p:txBody>
      </p:sp>
      <p:sp>
        <p:nvSpPr>
          <p:cNvPr id="23" name="TextBox 22"/>
          <p:cNvSpPr txBox="1"/>
          <p:nvPr/>
        </p:nvSpPr>
        <p:spPr>
          <a:xfrm>
            <a:off x="566928" y="3913632"/>
            <a:ext cx="1371600" cy="201168"/>
          </a:xfrm>
          <a:prstGeom prst="rect">
            <a:avLst/>
          </a:prstGeom>
          <a:noFill/>
        </p:spPr>
        <p:txBody>
          <a:bodyPr wrap="square">
            <a:spAutoFit/>
          </a:bodyPr>
          <a:lstStyle/>
          <a:p>
            <a:pPr algn="l"/>
            <a:r>
              <a:rPr sz="800" b="1" i="0">
                <a:solidFill>
                  <a:srgbClr val="16A34A"/>
                </a:solidFill>
              </a:rPr>
              <a:t>How to fix</a:t>
            </a:r>
          </a:p>
        </p:txBody>
      </p:sp>
      <p:sp>
        <p:nvSpPr>
          <p:cNvPr id="24" name="TextBox 23"/>
          <p:cNvSpPr txBox="1"/>
          <p:nvPr/>
        </p:nvSpPr>
        <p:spPr>
          <a:xfrm>
            <a:off x="566928" y="4114800"/>
            <a:ext cx="7955279" cy="1005840"/>
          </a:xfrm>
          <a:prstGeom prst="rect">
            <a:avLst/>
          </a:prstGeom>
          <a:noFill/>
        </p:spPr>
        <p:txBody>
          <a:bodyPr wrap="square">
            <a:spAutoFit/>
          </a:bodyPr>
          <a:lstStyle/>
          <a:p>
            <a:pPr algn="l"/>
            <a:r>
              <a:rPr sz="900" b="0" i="0">
                <a:solidFill>
                  <a:srgbClr val="EEF2F8"/>
                </a:solidFill>
              </a:rPr>
              <a:t>Enable S3 or local cache.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87552"/>
            <a:ext cx="274320" cy="36576"/>
          </a:xfrm>
          <a:prstGeom prst="rect">
            <a:avLst/>
          </a:prstGeom>
          <a:solidFill>
            <a:srgbClr val="FF3C5A"/>
          </a:solidFill>
          <a:ln>
            <a:noFill/>
          </a:ln>
        </p:spPr>
      </p:sp>
      <p:sp>
        <p:nvSpPr>
          <p:cNvPr id="9" name="TextBox 8"/>
          <p:cNvSpPr txBox="1"/>
          <p:nvPr/>
        </p:nvSpPr>
        <p:spPr>
          <a:xfrm>
            <a:off x="365760" y="1051560"/>
            <a:ext cx="8229600" cy="411480"/>
          </a:xfrm>
          <a:prstGeom prst="rect">
            <a:avLst/>
          </a:prstGeom>
          <a:noFill/>
        </p:spPr>
        <p:txBody>
          <a:bodyPr wrap="square">
            <a:spAutoFit/>
          </a:bodyPr>
          <a:lstStyle/>
          <a:p>
            <a:pPr algn="l"/>
            <a:r>
              <a:rPr sz="2000" b="1" i="0">
                <a:solidFill>
                  <a:srgbClr val="FFFFFF"/>
                </a:solidFill>
              </a:rPr>
              <a:t>Remediation Roadmap</a:t>
            </a:r>
          </a:p>
        </p:txBody>
      </p:sp>
      <p:sp>
        <p:nvSpPr>
          <p:cNvPr id="10" name="TextBox 9"/>
          <p:cNvSpPr txBox="1"/>
          <p:nvPr/>
        </p:nvSpPr>
        <p:spPr>
          <a:xfrm>
            <a:off x="365760" y="1508760"/>
            <a:ext cx="8229600" cy="274320"/>
          </a:xfrm>
          <a:prstGeom prst="rect">
            <a:avLst/>
          </a:prstGeom>
          <a:noFill/>
        </p:spPr>
        <p:txBody>
          <a:bodyPr wrap="square">
            <a:spAutoFit/>
          </a:bodyPr>
          <a:lstStyle/>
          <a:p>
            <a:pPr algn="l"/>
            <a:r>
              <a:rPr sz="1100" b="0" i="0">
                <a:solidFill>
                  <a:srgbClr val="8E9DB4"/>
                </a:solidFill>
              </a:rPr>
              <a:t>Prioritised fix order — hand this to your engineering team.</a:t>
            </a:r>
          </a:p>
        </p:txBody>
      </p:sp>
      <p:sp>
        <p:nvSpPr>
          <p:cNvPr id="11" name="Rectangle 10"/>
          <p:cNvSpPr/>
          <p:nvPr/>
        </p:nvSpPr>
        <p:spPr>
          <a:xfrm>
            <a:off x="365760" y="1920240"/>
            <a:ext cx="8412480" cy="347472"/>
          </a:xfrm>
          <a:prstGeom prst="rect">
            <a:avLst/>
          </a:prstGeom>
          <a:solidFill>
            <a:srgbClr val="101828"/>
          </a:solidFill>
          <a:ln>
            <a:noFill/>
          </a:ln>
        </p:spPr>
      </p:sp>
      <p:sp>
        <p:nvSpPr>
          <p:cNvPr id="12" name="TextBox 11"/>
          <p:cNvSpPr txBox="1"/>
          <p:nvPr/>
        </p:nvSpPr>
        <p:spPr>
          <a:xfrm>
            <a:off x="411480" y="1965960"/>
            <a:ext cx="320040" cy="256032"/>
          </a:xfrm>
          <a:prstGeom prst="rect">
            <a:avLst/>
          </a:prstGeom>
          <a:noFill/>
        </p:spPr>
        <p:txBody>
          <a:bodyPr wrap="square">
            <a:spAutoFit/>
          </a:bodyPr>
          <a:lstStyle/>
          <a:p>
            <a:pPr algn="ctr"/>
            <a:r>
              <a:rPr sz="1300" b="1" i="0">
                <a:solidFill>
                  <a:srgbClr val="FF3C5A"/>
                </a:solidFill>
              </a:rPr>
              <a:t>1</a:t>
            </a:r>
          </a:p>
        </p:txBody>
      </p:sp>
      <p:sp>
        <p:nvSpPr>
          <p:cNvPr id="13" name="TextBox 12"/>
          <p:cNvSpPr txBox="1"/>
          <p:nvPr/>
        </p:nvSpPr>
        <p:spPr>
          <a:xfrm>
            <a:off x="822960" y="1965960"/>
            <a:ext cx="5303520" cy="256032"/>
          </a:xfrm>
          <a:prstGeom prst="rect">
            <a:avLst/>
          </a:prstGeom>
          <a:noFill/>
        </p:spPr>
        <p:txBody>
          <a:bodyPr wrap="square">
            <a:spAutoFit/>
          </a:bodyPr>
          <a:lstStyle/>
          <a:p>
            <a:pPr algn="l"/>
            <a:r>
              <a:rPr sz="1000" b="1" i="0">
                <a:solidFill>
                  <a:srgbClr val="FFFFFF"/>
                </a:solidFill>
              </a:rPr>
              <a:t>Admin pipeline roles: nubopipe-demo-codebuild-role, nubopi</a:t>
            </a:r>
          </a:p>
        </p:txBody>
      </p:sp>
      <p:sp>
        <p:nvSpPr>
          <p:cNvPr id="14" name="TextBox 13"/>
          <p:cNvSpPr txBox="1"/>
          <p:nvPr/>
        </p:nvSpPr>
        <p:spPr>
          <a:xfrm>
            <a:off x="6400800" y="1984248"/>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15" name="TextBox 14"/>
          <p:cNvSpPr txBox="1"/>
          <p:nvPr/>
        </p:nvSpPr>
        <p:spPr>
          <a:xfrm>
            <a:off x="7360920" y="1984248"/>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16" name="Rectangle 15"/>
          <p:cNvSpPr/>
          <p:nvPr/>
        </p:nvSpPr>
        <p:spPr>
          <a:xfrm>
            <a:off x="365760" y="2313432"/>
            <a:ext cx="8412480" cy="347472"/>
          </a:xfrm>
          <a:prstGeom prst="rect">
            <a:avLst/>
          </a:prstGeom>
          <a:solidFill>
            <a:srgbClr val="101828"/>
          </a:solidFill>
          <a:ln>
            <a:noFill/>
          </a:ln>
        </p:spPr>
      </p:sp>
      <p:sp>
        <p:nvSpPr>
          <p:cNvPr id="17" name="TextBox 16"/>
          <p:cNvSpPr txBox="1"/>
          <p:nvPr/>
        </p:nvSpPr>
        <p:spPr>
          <a:xfrm>
            <a:off x="411480" y="2359152"/>
            <a:ext cx="320040" cy="256032"/>
          </a:xfrm>
          <a:prstGeom prst="rect">
            <a:avLst/>
          </a:prstGeom>
          <a:noFill/>
        </p:spPr>
        <p:txBody>
          <a:bodyPr wrap="square">
            <a:spAutoFit/>
          </a:bodyPr>
          <a:lstStyle/>
          <a:p>
            <a:pPr algn="ctr"/>
            <a:r>
              <a:rPr sz="1300" b="1" i="0">
                <a:solidFill>
                  <a:srgbClr val="FF3C5A"/>
                </a:solidFill>
              </a:rPr>
              <a:t>2</a:t>
            </a:r>
          </a:p>
        </p:txBody>
      </p:sp>
      <p:sp>
        <p:nvSpPr>
          <p:cNvPr id="18" name="TextBox 17"/>
          <p:cNvSpPr txBox="1"/>
          <p:nvPr/>
        </p:nvSpPr>
        <p:spPr>
          <a:xfrm>
            <a:off x="822960" y="2359152"/>
            <a:ext cx="5303520" cy="256032"/>
          </a:xfrm>
          <a:prstGeom prst="rect">
            <a:avLst/>
          </a:prstGeom>
          <a:noFill/>
        </p:spPr>
        <p:txBody>
          <a:bodyPr wrap="square">
            <a:spAutoFit/>
          </a:bodyPr>
          <a:lstStyle/>
          <a:p>
            <a:pPr algn="l"/>
            <a:r>
              <a:rPr sz="1000" b="1" i="0">
                <a:solidFill>
                  <a:srgbClr val="FFFFFF"/>
                </a:solidFill>
              </a:rPr>
              <a:t>Pipeline can modify IAM — privilege escalation</a:t>
            </a:r>
          </a:p>
        </p:txBody>
      </p:sp>
      <p:sp>
        <p:nvSpPr>
          <p:cNvPr id="19" name="TextBox 18"/>
          <p:cNvSpPr txBox="1"/>
          <p:nvPr/>
        </p:nvSpPr>
        <p:spPr>
          <a:xfrm>
            <a:off x="6400800" y="2377440"/>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20" name="TextBox 19"/>
          <p:cNvSpPr txBox="1"/>
          <p:nvPr/>
        </p:nvSpPr>
        <p:spPr>
          <a:xfrm>
            <a:off x="7360920" y="2377440"/>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21" name="Rectangle 20"/>
          <p:cNvSpPr/>
          <p:nvPr/>
        </p:nvSpPr>
        <p:spPr>
          <a:xfrm>
            <a:off x="365760" y="2706624"/>
            <a:ext cx="8412480" cy="347472"/>
          </a:xfrm>
          <a:prstGeom prst="rect">
            <a:avLst/>
          </a:prstGeom>
          <a:solidFill>
            <a:srgbClr val="101828"/>
          </a:solidFill>
          <a:ln>
            <a:noFill/>
          </a:ln>
        </p:spPr>
      </p:sp>
      <p:sp>
        <p:nvSpPr>
          <p:cNvPr id="22" name="TextBox 21"/>
          <p:cNvSpPr txBox="1"/>
          <p:nvPr/>
        </p:nvSpPr>
        <p:spPr>
          <a:xfrm>
            <a:off x="411480" y="2752344"/>
            <a:ext cx="320040" cy="256032"/>
          </a:xfrm>
          <a:prstGeom prst="rect">
            <a:avLst/>
          </a:prstGeom>
          <a:noFill/>
        </p:spPr>
        <p:txBody>
          <a:bodyPr wrap="square">
            <a:spAutoFit/>
          </a:bodyPr>
          <a:lstStyle/>
          <a:p>
            <a:pPr algn="ctr"/>
            <a:r>
              <a:rPr sz="1300" b="1" i="0">
                <a:solidFill>
                  <a:srgbClr val="FF3C5A"/>
                </a:solidFill>
              </a:rPr>
              <a:t>3</a:t>
            </a:r>
          </a:p>
        </p:txBody>
      </p:sp>
      <p:sp>
        <p:nvSpPr>
          <p:cNvPr id="23" name="TextBox 22"/>
          <p:cNvSpPr txBox="1"/>
          <p:nvPr/>
        </p:nvSpPr>
        <p:spPr>
          <a:xfrm>
            <a:off x="822960" y="2752344"/>
            <a:ext cx="5303520" cy="256032"/>
          </a:xfrm>
          <a:prstGeom prst="rect">
            <a:avLst/>
          </a:prstGeom>
          <a:noFill/>
        </p:spPr>
        <p:txBody>
          <a:bodyPr wrap="square">
            <a:spAutoFit/>
          </a:bodyPr>
          <a:lstStyle/>
          <a:p>
            <a:pPr algn="l"/>
            <a:r>
              <a:rPr sz="1000" b="1" i="0">
                <a:solidFill>
                  <a:srgbClr val="FFFFFF"/>
                </a:solidFill>
              </a:rPr>
              <a:t>Plaintext secrets in env: Password, API Key, ARM_CLIENT_SE</a:t>
            </a:r>
          </a:p>
        </p:txBody>
      </p:sp>
      <p:sp>
        <p:nvSpPr>
          <p:cNvPr id="24" name="TextBox 23"/>
          <p:cNvSpPr txBox="1"/>
          <p:nvPr/>
        </p:nvSpPr>
        <p:spPr>
          <a:xfrm>
            <a:off x="6400800" y="2770632"/>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25" name="TextBox 24"/>
          <p:cNvSpPr txBox="1"/>
          <p:nvPr/>
        </p:nvSpPr>
        <p:spPr>
          <a:xfrm>
            <a:off x="7360920" y="2770632"/>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26" name="Rectangle 25"/>
          <p:cNvSpPr/>
          <p:nvPr/>
        </p:nvSpPr>
        <p:spPr>
          <a:xfrm>
            <a:off x="365760" y="3099816"/>
            <a:ext cx="8412480" cy="347472"/>
          </a:xfrm>
          <a:prstGeom prst="rect">
            <a:avLst/>
          </a:prstGeom>
          <a:solidFill>
            <a:srgbClr val="101828"/>
          </a:solidFill>
          <a:ln>
            <a:noFill/>
          </a:ln>
        </p:spPr>
      </p:sp>
      <p:sp>
        <p:nvSpPr>
          <p:cNvPr id="27" name="TextBox 26"/>
          <p:cNvSpPr txBox="1"/>
          <p:nvPr/>
        </p:nvSpPr>
        <p:spPr>
          <a:xfrm>
            <a:off x="411480" y="3145536"/>
            <a:ext cx="320040" cy="256032"/>
          </a:xfrm>
          <a:prstGeom prst="rect">
            <a:avLst/>
          </a:prstGeom>
          <a:noFill/>
        </p:spPr>
        <p:txBody>
          <a:bodyPr wrap="square">
            <a:spAutoFit/>
          </a:bodyPr>
          <a:lstStyle/>
          <a:p>
            <a:pPr algn="ctr"/>
            <a:r>
              <a:rPr sz="1300" b="1" i="0">
                <a:solidFill>
                  <a:srgbClr val="FF3C5A"/>
                </a:solidFill>
              </a:rPr>
              <a:t>4</a:t>
            </a:r>
          </a:p>
        </p:txBody>
      </p:sp>
      <p:sp>
        <p:nvSpPr>
          <p:cNvPr id="28" name="TextBox 27"/>
          <p:cNvSpPr txBox="1"/>
          <p:nvPr/>
        </p:nvSpPr>
        <p:spPr>
          <a:xfrm>
            <a:off x="822960" y="3145536"/>
            <a:ext cx="5303520" cy="256032"/>
          </a:xfrm>
          <a:prstGeom prst="rect">
            <a:avLst/>
          </a:prstGeom>
          <a:noFill/>
        </p:spPr>
        <p:txBody>
          <a:bodyPr wrap="square">
            <a:spAutoFit/>
          </a:bodyPr>
          <a:lstStyle/>
          <a:p>
            <a:pPr algn="l"/>
            <a:r>
              <a:rPr sz="1000" b="1" i="0">
                <a:solidFill>
                  <a:srgbClr val="FFFFFF"/>
                </a:solidFill>
              </a:rPr>
              <a:t>Build role = AdministratorAccess</a:t>
            </a:r>
          </a:p>
        </p:txBody>
      </p:sp>
      <p:sp>
        <p:nvSpPr>
          <p:cNvPr id="29" name="TextBox 28"/>
          <p:cNvSpPr txBox="1"/>
          <p:nvPr/>
        </p:nvSpPr>
        <p:spPr>
          <a:xfrm>
            <a:off x="6400800" y="3163824"/>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30" name="TextBox 29"/>
          <p:cNvSpPr txBox="1"/>
          <p:nvPr/>
        </p:nvSpPr>
        <p:spPr>
          <a:xfrm>
            <a:off x="7360920" y="3163824"/>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31" name="Rectangle 30"/>
          <p:cNvSpPr/>
          <p:nvPr/>
        </p:nvSpPr>
        <p:spPr>
          <a:xfrm>
            <a:off x="365760" y="3493008"/>
            <a:ext cx="8412480" cy="347472"/>
          </a:xfrm>
          <a:prstGeom prst="rect">
            <a:avLst/>
          </a:prstGeom>
          <a:solidFill>
            <a:srgbClr val="101828"/>
          </a:solidFill>
          <a:ln>
            <a:noFill/>
          </a:ln>
        </p:spPr>
      </p:sp>
      <p:sp>
        <p:nvSpPr>
          <p:cNvPr id="32" name="TextBox 31"/>
          <p:cNvSpPr txBox="1"/>
          <p:nvPr/>
        </p:nvSpPr>
        <p:spPr>
          <a:xfrm>
            <a:off x="411480" y="3538728"/>
            <a:ext cx="320040" cy="256032"/>
          </a:xfrm>
          <a:prstGeom prst="rect">
            <a:avLst/>
          </a:prstGeom>
          <a:noFill/>
        </p:spPr>
        <p:txBody>
          <a:bodyPr wrap="square">
            <a:spAutoFit/>
          </a:bodyPr>
          <a:lstStyle/>
          <a:p>
            <a:pPr algn="ctr"/>
            <a:r>
              <a:rPr sz="1300" b="1" i="0">
                <a:solidFill>
                  <a:srgbClr val="FF3C5A"/>
                </a:solidFill>
              </a:rPr>
              <a:t>5</a:t>
            </a:r>
          </a:p>
        </p:txBody>
      </p:sp>
      <p:sp>
        <p:nvSpPr>
          <p:cNvPr id="33" name="TextBox 32"/>
          <p:cNvSpPr txBox="1"/>
          <p:nvPr/>
        </p:nvSpPr>
        <p:spPr>
          <a:xfrm>
            <a:off x="822960" y="3538728"/>
            <a:ext cx="5303520" cy="256032"/>
          </a:xfrm>
          <a:prstGeom prst="rect">
            <a:avLst/>
          </a:prstGeom>
          <a:noFill/>
        </p:spPr>
        <p:txBody>
          <a:bodyPr wrap="square">
            <a:spAutoFit/>
          </a:bodyPr>
          <a:lstStyle/>
          <a:p>
            <a:pPr algn="l"/>
            <a:r>
              <a:rPr sz="1000" b="1" i="0">
                <a:solidFill>
                  <a:srgbClr val="FFFFFF"/>
                </a:solidFill>
              </a:rPr>
              <a:t>Plaintext secrets in env: MongoDB URI with credentials, JW</a:t>
            </a:r>
          </a:p>
        </p:txBody>
      </p:sp>
      <p:sp>
        <p:nvSpPr>
          <p:cNvPr id="34" name="TextBox 33"/>
          <p:cNvSpPr txBox="1"/>
          <p:nvPr/>
        </p:nvSpPr>
        <p:spPr>
          <a:xfrm>
            <a:off x="6400800" y="3557016"/>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35" name="TextBox 34"/>
          <p:cNvSpPr txBox="1"/>
          <p:nvPr/>
        </p:nvSpPr>
        <p:spPr>
          <a:xfrm>
            <a:off x="7360920" y="3557016"/>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36" name="Rectangle 35"/>
          <p:cNvSpPr/>
          <p:nvPr/>
        </p:nvSpPr>
        <p:spPr>
          <a:xfrm>
            <a:off x="365760" y="3886200"/>
            <a:ext cx="8412480" cy="347472"/>
          </a:xfrm>
          <a:prstGeom prst="rect">
            <a:avLst/>
          </a:prstGeom>
          <a:solidFill>
            <a:srgbClr val="101828"/>
          </a:solidFill>
          <a:ln>
            <a:noFill/>
          </a:ln>
        </p:spPr>
      </p:sp>
      <p:sp>
        <p:nvSpPr>
          <p:cNvPr id="37" name="TextBox 36"/>
          <p:cNvSpPr txBox="1"/>
          <p:nvPr/>
        </p:nvSpPr>
        <p:spPr>
          <a:xfrm>
            <a:off x="411480" y="3931920"/>
            <a:ext cx="320040" cy="256032"/>
          </a:xfrm>
          <a:prstGeom prst="rect">
            <a:avLst/>
          </a:prstGeom>
          <a:noFill/>
        </p:spPr>
        <p:txBody>
          <a:bodyPr wrap="square">
            <a:spAutoFit/>
          </a:bodyPr>
          <a:lstStyle/>
          <a:p>
            <a:pPr algn="ctr"/>
            <a:r>
              <a:rPr sz="1300" b="1" i="0">
                <a:solidFill>
                  <a:srgbClr val="FF3C5A"/>
                </a:solidFill>
              </a:rPr>
              <a:t>6</a:t>
            </a:r>
          </a:p>
        </p:txBody>
      </p:sp>
      <p:sp>
        <p:nvSpPr>
          <p:cNvPr id="38" name="TextBox 37"/>
          <p:cNvSpPr txBox="1"/>
          <p:nvPr/>
        </p:nvSpPr>
        <p:spPr>
          <a:xfrm>
            <a:off x="822960" y="3931920"/>
            <a:ext cx="5303520" cy="256032"/>
          </a:xfrm>
          <a:prstGeom prst="rect">
            <a:avLst/>
          </a:prstGeom>
          <a:noFill/>
        </p:spPr>
        <p:txBody>
          <a:bodyPr wrap="square">
            <a:spAutoFit/>
          </a:bodyPr>
          <a:lstStyle/>
          <a:p>
            <a:pPr algn="l"/>
            <a:r>
              <a:rPr sz="1000" b="1" i="0">
                <a:solidFill>
                  <a:srgbClr val="FFFFFF"/>
                </a:solidFill>
              </a:rPr>
              <a:t>Plaintext secrets in env: AWS Access Key ID, AWS Secret Ke</a:t>
            </a:r>
          </a:p>
        </p:txBody>
      </p:sp>
      <p:sp>
        <p:nvSpPr>
          <p:cNvPr id="39" name="TextBox 38"/>
          <p:cNvSpPr txBox="1"/>
          <p:nvPr/>
        </p:nvSpPr>
        <p:spPr>
          <a:xfrm>
            <a:off x="6400800" y="3950208"/>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40" name="TextBox 39"/>
          <p:cNvSpPr txBox="1"/>
          <p:nvPr/>
        </p:nvSpPr>
        <p:spPr>
          <a:xfrm>
            <a:off x="7360920" y="3950208"/>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41" name="Rectangle 40"/>
          <p:cNvSpPr/>
          <p:nvPr/>
        </p:nvSpPr>
        <p:spPr>
          <a:xfrm>
            <a:off x="365760" y="4279392"/>
            <a:ext cx="8412480" cy="347472"/>
          </a:xfrm>
          <a:prstGeom prst="rect">
            <a:avLst/>
          </a:prstGeom>
          <a:solidFill>
            <a:srgbClr val="101828"/>
          </a:solidFill>
          <a:ln>
            <a:noFill/>
          </a:ln>
        </p:spPr>
      </p:sp>
      <p:sp>
        <p:nvSpPr>
          <p:cNvPr id="42" name="TextBox 41"/>
          <p:cNvSpPr txBox="1"/>
          <p:nvPr/>
        </p:nvSpPr>
        <p:spPr>
          <a:xfrm>
            <a:off x="411480" y="4325112"/>
            <a:ext cx="320040" cy="256032"/>
          </a:xfrm>
          <a:prstGeom prst="rect">
            <a:avLst/>
          </a:prstGeom>
          <a:noFill/>
        </p:spPr>
        <p:txBody>
          <a:bodyPr wrap="square">
            <a:spAutoFit/>
          </a:bodyPr>
          <a:lstStyle/>
          <a:p>
            <a:pPr algn="ctr"/>
            <a:r>
              <a:rPr sz="1300" b="1" i="0">
                <a:solidFill>
                  <a:srgbClr val="FF3C5A"/>
                </a:solidFill>
              </a:rPr>
              <a:t>7</a:t>
            </a:r>
          </a:p>
        </p:txBody>
      </p:sp>
      <p:sp>
        <p:nvSpPr>
          <p:cNvPr id="43" name="TextBox 42"/>
          <p:cNvSpPr txBox="1"/>
          <p:nvPr/>
        </p:nvSpPr>
        <p:spPr>
          <a:xfrm>
            <a:off x="822960" y="4325112"/>
            <a:ext cx="5303520" cy="256032"/>
          </a:xfrm>
          <a:prstGeom prst="rect">
            <a:avLst/>
          </a:prstGeom>
          <a:noFill/>
        </p:spPr>
        <p:txBody>
          <a:bodyPr wrap="square">
            <a:spAutoFit/>
          </a:bodyPr>
          <a:lstStyle/>
          <a:p>
            <a:pPr algn="l"/>
            <a:r>
              <a:rPr sz="1000" b="1" i="0">
                <a:solidFill>
                  <a:srgbClr val="FFFFFF"/>
                </a:solidFill>
              </a:rPr>
              <a:t>8 plaintext secrets</a:t>
            </a:r>
          </a:p>
        </p:txBody>
      </p:sp>
      <p:sp>
        <p:nvSpPr>
          <p:cNvPr id="44" name="TextBox 43"/>
          <p:cNvSpPr txBox="1"/>
          <p:nvPr/>
        </p:nvSpPr>
        <p:spPr>
          <a:xfrm>
            <a:off x="6400800" y="4343400"/>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45" name="TextBox 44"/>
          <p:cNvSpPr txBox="1"/>
          <p:nvPr/>
        </p:nvSpPr>
        <p:spPr>
          <a:xfrm>
            <a:off x="7360920" y="4343400"/>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
        <p:nvSpPr>
          <p:cNvPr id="46" name="Rectangle 45"/>
          <p:cNvSpPr/>
          <p:nvPr/>
        </p:nvSpPr>
        <p:spPr>
          <a:xfrm>
            <a:off x="365760" y="4672583"/>
            <a:ext cx="8412480" cy="347472"/>
          </a:xfrm>
          <a:prstGeom prst="rect">
            <a:avLst/>
          </a:prstGeom>
          <a:solidFill>
            <a:srgbClr val="101828"/>
          </a:solidFill>
          <a:ln>
            <a:noFill/>
          </a:ln>
        </p:spPr>
      </p:sp>
      <p:sp>
        <p:nvSpPr>
          <p:cNvPr id="47" name="TextBox 46"/>
          <p:cNvSpPr txBox="1"/>
          <p:nvPr/>
        </p:nvSpPr>
        <p:spPr>
          <a:xfrm>
            <a:off x="411480" y="4718303"/>
            <a:ext cx="320040" cy="256032"/>
          </a:xfrm>
          <a:prstGeom prst="rect">
            <a:avLst/>
          </a:prstGeom>
          <a:noFill/>
        </p:spPr>
        <p:txBody>
          <a:bodyPr wrap="square">
            <a:spAutoFit/>
          </a:bodyPr>
          <a:lstStyle/>
          <a:p>
            <a:pPr algn="ctr"/>
            <a:r>
              <a:rPr sz="1300" b="1" i="0">
                <a:solidFill>
                  <a:srgbClr val="FF3C5A"/>
                </a:solidFill>
              </a:rPr>
              <a:t>8</a:t>
            </a:r>
          </a:p>
        </p:txBody>
      </p:sp>
      <p:sp>
        <p:nvSpPr>
          <p:cNvPr id="48" name="TextBox 47"/>
          <p:cNvSpPr txBox="1"/>
          <p:nvPr/>
        </p:nvSpPr>
        <p:spPr>
          <a:xfrm>
            <a:off x="822960" y="4718303"/>
            <a:ext cx="5303520" cy="256032"/>
          </a:xfrm>
          <a:prstGeom prst="rect">
            <a:avLst/>
          </a:prstGeom>
          <a:noFill/>
        </p:spPr>
        <p:txBody>
          <a:bodyPr wrap="square">
            <a:spAutoFit/>
          </a:bodyPr>
          <a:lstStyle/>
          <a:p>
            <a:pPr algn="l"/>
            <a:r>
              <a:rPr sz="1000" b="1" i="0">
                <a:solidFill>
                  <a:srgbClr val="FFFFFF"/>
                </a:solidFill>
              </a:rPr>
              <a:t>2 Lambda functions with exposed secrets</a:t>
            </a:r>
          </a:p>
        </p:txBody>
      </p:sp>
      <p:sp>
        <p:nvSpPr>
          <p:cNvPr id="49" name="TextBox 48"/>
          <p:cNvSpPr txBox="1"/>
          <p:nvPr/>
        </p:nvSpPr>
        <p:spPr>
          <a:xfrm>
            <a:off x="6400800" y="4736592"/>
            <a:ext cx="822960" cy="201168"/>
          </a:xfrm>
          <a:prstGeom prst="rect">
            <a:avLst/>
          </a:prstGeom>
          <a:noFill/>
          <a:solidFill>
            <a:srgbClr val="DC2626"/>
          </a:solidFill>
          <a:prstGeom prst="roundRect">
            <a:avLst>
              <a:gd name="adj" fmla="val 35000"/>
            </a:avLst>
          </a:prstGeom>
          <a:ln>
            <a:noFill/>
          </a:ln>
        </p:spPr>
        <p:txBody>
          <a:bodyPr wrap="none" tIns="0" bIns="0" lIns="45720" rIns="45720" anchor="ctr" anchorCtr="1">
            <a:spAutoFit/>
          </a:bodyPr>
          <a:lstStyle/>
          <a:p>
            <a:pPr algn="ctr"/>
            <a:r>
              <a:rPr sz="700" b="1">
                <a:solidFill>
                  <a:srgbClr val="FFFFFF"/>
                </a:solidFill>
              </a:rPr>
              <a:t>CRITICAL</a:t>
            </a:r>
          </a:p>
        </p:txBody>
      </p:sp>
      <p:sp>
        <p:nvSpPr>
          <p:cNvPr id="50" name="TextBox 49"/>
          <p:cNvSpPr txBox="1"/>
          <p:nvPr/>
        </p:nvSpPr>
        <p:spPr>
          <a:xfrm>
            <a:off x="7360920" y="4736592"/>
            <a:ext cx="1188720" cy="201168"/>
          </a:xfrm>
          <a:prstGeom prst="rect">
            <a:avLst/>
          </a:prstGeom>
          <a:noFill/>
          <a:solidFill>
            <a:srgbClr val="101828"/>
          </a:solidFill>
          <a:prstGeom prst="roundRect">
            <a:avLst>
              <a:gd name="adj" fmla="val 35000"/>
            </a:avLst>
          </a:prstGeom>
          <a:ln>
            <a:noFill/>
          </a:ln>
        </p:spPr>
        <p:txBody>
          <a:bodyPr wrap="none" tIns="0" bIns="0" lIns="45720" rIns="45720" anchor="ctr" anchorCtr="1">
            <a:spAutoFit/>
          </a:bodyPr>
          <a:lstStyle/>
          <a:p>
            <a:pPr algn="ctr"/>
            <a:r>
              <a:rPr sz="800" b="1">
                <a:solidFill>
                  <a:srgbClr val="16A34A"/>
                </a:solidFill>
              </a:rPr>
              <a:t>30 min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Rectangle 1"/>
          <p:cNvSpPr/>
          <p:nvPr/>
        </p:nvSpPr>
        <p:spPr>
          <a:xfrm>
            <a:off x="0" y="0"/>
            <a:ext cx="9144000" cy="475488"/>
          </a:xfrm>
          <a:prstGeom prst="rect">
            <a:avLst/>
          </a:prstGeom>
          <a:solidFill>
            <a:srgbClr val="0C1220"/>
          </a:solidFill>
          <a:ln>
            <a:noFill/>
          </a:ln>
        </p:spPr>
      </p:sp>
      <p:sp>
        <p:nvSpPr>
          <p:cNvPr id="3" name="TextBox 2"/>
          <p:cNvSpPr txBox="1"/>
          <p:nvPr/>
        </p:nvSpPr>
        <p:spPr>
          <a:xfrm>
            <a:off x="274320" y="73152"/>
            <a:ext cx="640080" cy="347472"/>
          </a:xfrm>
          <a:prstGeom prst="rect">
            <a:avLst/>
          </a:prstGeom>
          <a:noFill/>
        </p:spPr>
        <p:txBody>
          <a:bodyPr wrap="square">
            <a:spAutoFit/>
          </a:bodyPr>
          <a:lstStyle/>
          <a:p>
            <a:pPr algn="l"/>
            <a:r>
              <a:rPr sz="1400" b="1" i="0">
                <a:solidFill>
                  <a:srgbClr val="FFFFFF"/>
                </a:solidFill>
              </a:rPr>
              <a:t>Nubo</a:t>
            </a:r>
          </a:p>
        </p:txBody>
      </p:sp>
      <p:sp>
        <p:nvSpPr>
          <p:cNvPr id="4" name="TextBox 3"/>
          <p:cNvSpPr txBox="1"/>
          <p:nvPr/>
        </p:nvSpPr>
        <p:spPr>
          <a:xfrm>
            <a:off x="777240" y="73152"/>
            <a:ext cx="640080" cy="347472"/>
          </a:xfrm>
          <a:prstGeom prst="rect">
            <a:avLst/>
          </a:prstGeom>
          <a:noFill/>
        </p:spPr>
        <p:txBody>
          <a:bodyPr wrap="square">
            <a:spAutoFit/>
          </a:bodyPr>
          <a:lstStyle/>
          <a:p>
            <a:pPr algn="l"/>
            <a:r>
              <a:rPr sz="1400" b="1" i="0">
                <a:solidFill>
                  <a:srgbClr val="FF3C5A"/>
                </a:solidFill>
              </a:rPr>
              <a:t>Labs</a:t>
            </a:r>
          </a:p>
        </p:txBody>
      </p:sp>
      <p:sp>
        <p:nvSpPr>
          <p:cNvPr id="5" name="TextBox 4"/>
          <p:cNvSpPr txBox="1"/>
          <p:nvPr/>
        </p:nvSpPr>
        <p:spPr>
          <a:xfrm>
            <a:off x="1298448" y="73152"/>
            <a:ext cx="2286000" cy="347472"/>
          </a:xfrm>
          <a:prstGeom prst="rect">
            <a:avLst/>
          </a:prstGeom>
          <a:noFill/>
        </p:spPr>
        <p:txBody>
          <a:bodyPr wrap="square">
            <a:spAutoFit/>
          </a:bodyPr>
          <a:lstStyle/>
          <a:p>
            <a:pPr algn="l"/>
            <a:r>
              <a:rPr sz="1400" b="0" i="0">
                <a:solidFill>
                  <a:srgbClr val="8E9DB4"/>
                </a:solidFill>
              </a:rPr>
              <a:t>· NuboPipe</a:t>
            </a:r>
          </a:p>
        </p:txBody>
      </p:sp>
      <p:sp>
        <p:nvSpPr>
          <p:cNvPr id="6" name="TextBox 5"/>
          <p:cNvSpPr txBox="1"/>
          <p:nvPr/>
        </p:nvSpPr>
        <p:spPr>
          <a:xfrm>
            <a:off x="5486400" y="73152"/>
            <a:ext cx="3383280" cy="347472"/>
          </a:xfrm>
          <a:prstGeom prst="rect">
            <a:avLst/>
          </a:prstGeom>
          <a:noFill/>
        </p:spPr>
        <p:txBody>
          <a:bodyPr wrap="square">
            <a:spAutoFit/>
          </a:bodyPr>
          <a:lstStyle/>
          <a:p>
            <a:pPr algn="r"/>
            <a:r>
              <a:rPr sz="1000" b="0" i="0">
                <a:solidFill>
                  <a:srgbClr val="4E5F72"/>
                </a:solidFill>
              </a:rPr>
              <a:t>Acme Technologies Ltd  ·  Confidential</a:t>
            </a:r>
          </a:p>
        </p:txBody>
      </p:sp>
      <p:sp>
        <p:nvSpPr>
          <p:cNvPr id="7" name="Rectangle 6"/>
          <p:cNvSpPr/>
          <p:nvPr/>
        </p:nvSpPr>
        <p:spPr>
          <a:xfrm>
            <a:off x="0" y="475488"/>
            <a:ext cx="9144000" cy="36576"/>
          </a:xfrm>
          <a:prstGeom prst="rect">
            <a:avLst/>
          </a:prstGeom>
          <a:solidFill>
            <a:srgbClr val="FF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475488"/>
            <a:ext cx="9144000" cy="4663440"/>
          </a:xfrm>
          <a:prstGeom prst="rect">
            <a:avLst/>
          </a:prstGeom>
          <a:solidFill>
            <a:srgbClr val="070B12"/>
          </a:solidFill>
          <a:ln>
            <a:noFill/>
          </a:ln>
        </p:spPr>
      </p:sp>
      <p:sp>
        <p:nvSpPr>
          <p:cNvPr id="9" name="Rectangle 8"/>
          <p:cNvSpPr/>
          <p:nvPr/>
        </p:nvSpPr>
        <p:spPr>
          <a:xfrm>
            <a:off x="0" y="475488"/>
            <a:ext cx="54864" cy="4663440"/>
          </a:xfrm>
          <a:prstGeom prst="rect">
            <a:avLst/>
          </a:prstGeom>
          <a:solidFill>
            <a:srgbClr val="FF3C5A"/>
          </a:solidFill>
          <a:ln>
            <a:noFill/>
          </a:ln>
        </p:spPr>
      </p:sp>
      <p:sp>
        <p:nvSpPr>
          <p:cNvPr id="10" name="TextBox 9"/>
          <p:cNvSpPr txBox="1"/>
          <p:nvPr/>
        </p:nvSpPr>
        <p:spPr>
          <a:xfrm>
            <a:off x="365760" y="777240"/>
            <a:ext cx="8412480" cy="594360"/>
          </a:xfrm>
          <a:prstGeom prst="rect">
            <a:avLst/>
          </a:prstGeom>
          <a:noFill/>
        </p:spPr>
        <p:txBody>
          <a:bodyPr wrap="square">
            <a:spAutoFit/>
          </a:bodyPr>
          <a:lstStyle/>
          <a:p>
            <a:pPr algn="l"/>
            <a:r>
              <a:rPr sz="2600" b="1" i="0">
                <a:solidFill>
                  <a:srgbClr val="FFFFFF"/>
                </a:solidFill>
              </a:rPr>
              <a:t>Need help fixing these?</a:t>
            </a:r>
          </a:p>
        </p:txBody>
      </p:sp>
      <p:sp>
        <p:nvSpPr>
          <p:cNvPr id="11" name="TextBox 10"/>
          <p:cNvSpPr txBox="1"/>
          <p:nvPr/>
        </p:nvSpPr>
        <p:spPr>
          <a:xfrm>
            <a:off x="365760" y="1417320"/>
            <a:ext cx="8412480" cy="347472"/>
          </a:xfrm>
          <a:prstGeom prst="rect">
            <a:avLst/>
          </a:prstGeom>
          <a:noFill/>
        </p:spPr>
        <p:txBody>
          <a:bodyPr wrap="square">
            <a:spAutoFit/>
          </a:bodyPr>
          <a:lstStyle/>
          <a:p>
            <a:pPr algn="l"/>
            <a:r>
              <a:rPr sz="1300" b="0" i="0">
                <a:solidFill>
                  <a:srgbClr val="8E9DB4"/>
                </a:solidFill>
              </a:rPr>
              <a:t>NuboLabs offers full remediation — we implement the fixes for you.</a:t>
            </a:r>
          </a:p>
        </p:txBody>
      </p:sp>
      <p:sp>
        <p:nvSpPr>
          <p:cNvPr id="12" name="Rectangle 11"/>
          <p:cNvSpPr/>
          <p:nvPr/>
        </p:nvSpPr>
        <p:spPr>
          <a:xfrm>
            <a:off x="365760" y="1920240"/>
            <a:ext cx="2651760" cy="2148840"/>
          </a:xfrm>
          <a:prstGeom prst="rect">
            <a:avLst/>
          </a:prstGeom>
          <a:solidFill>
            <a:srgbClr val="101828"/>
          </a:solidFill>
          <a:ln>
            <a:noFill/>
          </a:ln>
        </p:spPr>
      </p:sp>
      <p:sp>
        <p:nvSpPr>
          <p:cNvPr id="13" name="Rectangle 12"/>
          <p:cNvSpPr/>
          <p:nvPr/>
        </p:nvSpPr>
        <p:spPr>
          <a:xfrm>
            <a:off x="365760" y="1920240"/>
            <a:ext cx="2651760" cy="36576"/>
          </a:xfrm>
          <a:prstGeom prst="rect">
            <a:avLst/>
          </a:prstGeom>
          <a:solidFill>
            <a:srgbClr val="FF3C5A"/>
          </a:solidFill>
          <a:ln>
            <a:noFill/>
          </a:ln>
        </p:spPr>
      </p:sp>
      <p:sp>
        <p:nvSpPr>
          <p:cNvPr id="14" name="TextBox 13"/>
          <p:cNvSpPr txBox="1"/>
          <p:nvPr/>
        </p:nvSpPr>
        <p:spPr>
          <a:xfrm>
            <a:off x="502920" y="2011680"/>
            <a:ext cx="2377440" cy="320040"/>
          </a:xfrm>
          <a:prstGeom prst="rect">
            <a:avLst/>
          </a:prstGeom>
          <a:noFill/>
        </p:spPr>
        <p:txBody>
          <a:bodyPr wrap="square">
            <a:spAutoFit/>
          </a:bodyPr>
          <a:lstStyle/>
          <a:p>
            <a:pPr algn="l"/>
            <a:r>
              <a:rPr sz="1300" b="1" i="0">
                <a:solidFill>
                  <a:srgbClr val="FFFFFF"/>
                </a:solidFill>
              </a:rPr>
              <a:t>Targeted Fix</a:t>
            </a:r>
          </a:p>
        </p:txBody>
      </p:sp>
      <p:sp>
        <p:nvSpPr>
          <p:cNvPr id="15" name="TextBox 14"/>
          <p:cNvSpPr txBox="1"/>
          <p:nvPr/>
        </p:nvSpPr>
        <p:spPr>
          <a:xfrm>
            <a:off x="502920" y="2359152"/>
            <a:ext cx="2377440" cy="914400"/>
          </a:xfrm>
          <a:prstGeom prst="rect">
            <a:avLst/>
          </a:prstGeom>
          <a:noFill/>
        </p:spPr>
        <p:txBody>
          <a:bodyPr wrap="square">
            <a:spAutoFit/>
          </a:bodyPr>
          <a:lstStyle/>
          <a:p>
            <a:pPr algn="l"/>
            <a:r>
              <a:rPr sz="900" b="0" i="0">
                <a:solidFill>
                  <a:srgbClr val="8E9DB4"/>
                </a:solidFill>
              </a:rPr>
              <a:t>We remediate the critical and high findings from this report. IAM hardening, encryption, CloudTrail, security group cleanup — done properly.</a:t>
            </a:r>
          </a:p>
        </p:txBody>
      </p:sp>
      <p:sp>
        <p:nvSpPr>
          <p:cNvPr id="16" name="TextBox 15"/>
          <p:cNvSpPr txBox="1"/>
          <p:nvPr/>
        </p:nvSpPr>
        <p:spPr>
          <a:xfrm>
            <a:off x="502920" y="3456432"/>
            <a:ext cx="2377440" cy="320040"/>
          </a:xfrm>
          <a:prstGeom prst="rect">
            <a:avLst/>
          </a:prstGeom>
          <a:noFill/>
        </p:spPr>
        <p:txBody>
          <a:bodyPr wrap="square">
            <a:spAutoFit/>
          </a:bodyPr>
          <a:lstStyle/>
          <a:p>
            <a:pPr algn="l"/>
            <a:r>
              <a:rPr sz="1400" b="1" i="0">
                <a:solidFill>
                  <a:srgbClr val="FF3C5A"/>
                </a:solidFill>
              </a:rPr>
              <a:t>From £500</a:t>
            </a:r>
          </a:p>
        </p:txBody>
      </p:sp>
      <p:sp>
        <p:nvSpPr>
          <p:cNvPr id="17" name="Rectangle 16"/>
          <p:cNvSpPr/>
          <p:nvPr/>
        </p:nvSpPr>
        <p:spPr>
          <a:xfrm>
            <a:off x="3246120" y="1920240"/>
            <a:ext cx="2651760" cy="2148840"/>
          </a:xfrm>
          <a:prstGeom prst="rect">
            <a:avLst/>
          </a:prstGeom>
          <a:solidFill>
            <a:srgbClr val="101828"/>
          </a:solidFill>
          <a:ln>
            <a:noFill/>
          </a:ln>
        </p:spPr>
      </p:sp>
      <p:sp>
        <p:nvSpPr>
          <p:cNvPr id="18" name="Rectangle 17"/>
          <p:cNvSpPr/>
          <p:nvPr/>
        </p:nvSpPr>
        <p:spPr>
          <a:xfrm>
            <a:off x="3246120" y="1920240"/>
            <a:ext cx="2651760" cy="36576"/>
          </a:xfrm>
          <a:prstGeom prst="rect">
            <a:avLst/>
          </a:prstGeom>
          <a:solidFill>
            <a:srgbClr val="FF3C5A"/>
          </a:solidFill>
          <a:ln>
            <a:noFill/>
          </a:ln>
        </p:spPr>
      </p:sp>
      <p:sp>
        <p:nvSpPr>
          <p:cNvPr id="19" name="TextBox 18"/>
          <p:cNvSpPr txBox="1"/>
          <p:nvPr/>
        </p:nvSpPr>
        <p:spPr>
          <a:xfrm>
            <a:off x="3383279" y="2011680"/>
            <a:ext cx="2377440" cy="320040"/>
          </a:xfrm>
          <a:prstGeom prst="rect">
            <a:avLst/>
          </a:prstGeom>
          <a:noFill/>
        </p:spPr>
        <p:txBody>
          <a:bodyPr wrap="square">
            <a:spAutoFit/>
          </a:bodyPr>
          <a:lstStyle/>
          <a:p>
            <a:pPr algn="l"/>
            <a:r>
              <a:rPr sz="1300" b="1" i="0">
                <a:solidFill>
                  <a:srgbClr val="FFFFFF"/>
                </a:solidFill>
              </a:rPr>
              <a:t>Full Hardening</a:t>
            </a:r>
          </a:p>
        </p:txBody>
      </p:sp>
      <p:sp>
        <p:nvSpPr>
          <p:cNvPr id="20" name="TextBox 19"/>
          <p:cNvSpPr txBox="1"/>
          <p:nvPr/>
        </p:nvSpPr>
        <p:spPr>
          <a:xfrm>
            <a:off x="3383279" y="2359152"/>
            <a:ext cx="2377440" cy="914400"/>
          </a:xfrm>
          <a:prstGeom prst="rect">
            <a:avLst/>
          </a:prstGeom>
          <a:noFill/>
        </p:spPr>
        <p:txBody>
          <a:bodyPr wrap="square">
            <a:spAutoFit/>
          </a:bodyPr>
          <a:lstStyle/>
          <a:p>
            <a:pPr algn="l"/>
            <a:r>
              <a:rPr sz="900" b="0" i="0">
                <a:solidFill>
                  <a:srgbClr val="8E9DB4"/>
                </a:solidFill>
              </a:rPr>
              <a:t>Complete implementation of all findings plus architectural improvements. Leaves your AWS environment in a production-ready secure state.</a:t>
            </a:r>
          </a:p>
        </p:txBody>
      </p:sp>
      <p:sp>
        <p:nvSpPr>
          <p:cNvPr id="21" name="TextBox 20"/>
          <p:cNvSpPr txBox="1"/>
          <p:nvPr/>
        </p:nvSpPr>
        <p:spPr>
          <a:xfrm>
            <a:off x="3383279" y="3456432"/>
            <a:ext cx="2377440" cy="320040"/>
          </a:xfrm>
          <a:prstGeom prst="rect">
            <a:avLst/>
          </a:prstGeom>
          <a:noFill/>
        </p:spPr>
        <p:txBody>
          <a:bodyPr wrap="square">
            <a:spAutoFit/>
          </a:bodyPr>
          <a:lstStyle/>
          <a:p>
            <a:pPr algn="l"/>
            <a:r>
              <a:rPr sz="1400" b="1" i="0">
                <a:solidFill>
                  <a:srgbClr val="FF3C5A"/>
                </a:solidFill>
              </a:rPr>
              <a:t>From £1,500</a:t>
            </a:r>
          </a:p>
        </p:txBody>
      </p:sp>
      <p:sp>
        <p:nvSpPr>
          <p:cNvPr id="22" name="Rectangle 21"/>
          <p:cNvSpPr/>
          <p:nvPr/>
        </p:nvSpPr>
        <p:spPr>
          <a:xfrm>
            <a:off x="6126480" y="1920240"/>
            <a:ext cx="2651760" cy="2148840"/>
          </a:xfrm>
          <a:prstGeom prst="rect">
            <a:avLst/>
          </a:prstGeom>
          <a:solidFill>
            <a:srgbClr val="101828"/>
          </a:solidFill>
          <a:ln>
            <a:noFill/>
          </a:ln>
        </p:spPr>
      </p:sp>
      <p:sp>
        <p:nvSpPr>
          <p:cNvPr id="23" name="Rectangle 22"/>
          <p:cNvSpPr/>
          <p:nvPr/>
        </p:nvSpPr>
        <p:spPr>
          <a:xfrm>
            <a:off x="6126480" y="1920240"/>
            <a:ext cx="2651760" cy="36576"/>
          </a:xfrm>
          <a:prstGeom prst="rect">
            <a:avLst/>
          </a:prstGeom>
          <a:solidFill>
            <a:srgbClr val="FF3C5A"/>
          </a:solidFill>
          <a:ln>
            <a:noFill/>
          </a:ln>
        </p:spPr>
      </p:sp>
      <p:sp>
        <p:nvSpPr>
          <p:cNvPr id="24" name="TextBox 23"/>
          <p:cNvSpPr txBox="1"/>
          <p:nvPr/>
        </p:nvSpPr>
        <p:spPr>
          <a:xfrm>
            <a:off x="6263640" y="2011680"/>
            <a:ext cx="2377440" cy="320040"/>
          </a:xfrm>
          <a:prstGeom prst="rect">
            <a:avLst/>
          </a:prstGeom>
          <a:noFill/>
        </p:spPr>
        <p:txBody>
          <a:bodyPr wrap="square">
            <a:spAutoFit/>
          </a:bodyPr>
          <a:lstStyle/>
          <a:p>
            <a:pPr algn="l"/>
            <a:r>
              <a:rPr sz="1300" b="1" i="0">
                <a:solidFill>
                  <a:srgbClr val="FFFFFF"/>
                </a:solidFill>
              </a:rPr>
              <a:t>Monthly Retainer</a:t>
            </a:r>
          </a:p>
        </p:txBody>
      </p:sp>
      <p:sp>
        <p:nvSpPr>
          <p:cNvPr id="25" name="TextBox 24"/>
          <p:cNvSpPr txBox="1"/>
          <p:nvPr/>
        </p:nvSpPr>
        <p:spPr>
          <a:xfrm>
            <a:off x="6263640" y="2359152"/>
            <a:ext cx="2377440" cy="914400"/>
          </a:xfrm>
          <a:prstGeom prst="rect">
            <a:avLst/>
          </a:prstGeom>
          <a:noFill/>
        </p:spPr>
        <p:txBody>
          <a:bodyPr wrap="square">
            <a:spAutoFit/>
          </a:bodyPr>
          <a:lstStyle/>
          <a:p>
            <a:pPr algn="l"/>
            <a:r>
              <a:rPr sz="900" b="0" i="0">
                <a:solidFill>
                  <a:srgbClr val="8E9DB4"/>
                </a:solidFill>
              </a:rPr>
              <a:t>Monthly rescan plus ongoing remediation as your infrastructure evolves. New findings fixed before they become incidents.</a:t>
            </a:r>
          </a:p>
        </p:txBody>
      </p:sp>
      <p:sp>
        <p:nvSpPr>
          <p:cNvPr id="26" name="TextBox 25"/>
          <p:cNvSpPr txBox="1"/>
          <p:nvPr/>
        </p:nvSpPr>
        <p:spPr>
          <a:xfrm>
            <a:off x="6263640" y="3456432"/>
            <a:ext cx="2377440" cy="320040"/>
          </a:xfrm>
          <a:prstGeom prst="rect">
            <a:avLst/>
          </a:prstGeom>
          <a:noFill/>
        </p:spPr>
        <p:txBody>
          <a:bodyPr wrap="square">
            <a:spAutoFit/>
          </a:bodyPr>
          <a:lstStyle/>
          <a:p>
            <a:pPr algn="l"/>
            <a:r>
              <a:rPr sz="1400" b="1" i="0">
                <a:solidFill>
                  <a:srgbClr val="FF3C5A"/>
                </a:solidFill>
              </a:rPr>
              <a:t>£400/mo</a:t>
            </a:r>
          </a:p>
        </p:txBody>
      </p:sp>
      <p:sp>
        <p:nvSpPr>
          <p:cNvPr id="27" name="Rectangle 26"/>
          <p:cNvSpPr/>
          <p:nvPr/>
        </p:nvSpPr>
        <p:spPr>
          <a:xfrm>
            <a:off x="365760" y="4160520"/>
            <a:ext cx="8412480" cy="713232"/>
          </a:xfrm>
          <a:prstGeom prst="rect">
            <a:avLst/>
          </a:prstGeom>
          <a:solidFill>
            <a:srgbClr val="0A1222"/>
          </a:solidFill>
          <a:ln>
            <a:noFill/>
          </a:ln>
        </p:spPr>
      </p:sp>
      <p:sp>
        <p:nvSpPr>
          <p:cNvPr id="28" name="Rectangle 27"/>
          <p:cNvSpPr/>
          <p:nvPr/>
        </p:nvSpPr>
        <p:spPr>
          <a:xfrm>
            <a:off x="365760" y="4160520"/>
            <a:ext cx="8412480" cy="36576"/>
          </a:xfrm>
          <a:prstGeom prst="rect">
            <a:avLst/>
          </a:prstGeom>
          <a:solidFill>
            <a:srgbClr val="FF3C5A"/>
          </a:solidFill>
          <a:ln>
            <a:noFill/>
          </a:ln>
        </p:spPr>
      </p:sp>
      <p:sp>
        <p:nvSpPr>
          <p:cNvPr id="29" name="TextBox 28"/>
          <p:cNvSpPr txBox="1"/>
          <p:nvPr/>
        </p:nvSpPr>
        <p:spPr>
          <a:xfrm>
            <a:off x="502920" y="4224528"/>
            <a:ext cx="3657600" cy="274320"/>
          </a:xfrm>
          <a:prstGeom prst="rect">
            <a:avLst/>
          </a:prstGeom>
          <a:noFill/>
        </p:spPr>
        <p:txBody>
          <a:bodyPr wrap="square">
            <a:spAutoFit/>
          </a:bodyPr>
          <a:lstStyle/>
          <a:p>
            <a:pPr algn="l"/>
            <a:r>
              <a:rPr sz="1200" b="1" i="0">
                <a:solidFill>
                  <a:srgbClr val="FFFFFF"/>
                </a:solidFill>
              </a:rPr>
              <a:t>Ready to get started?</a:t>
            </a:r>
          </a:p>
        </p:txBody>
      </p:sp>
      <p:sp>
        <p:nvSpPr>
          <p:cNvPr id="30" name="TextBox 29"/>
          <p:cNvSpPr txBox="1"/>
          <p:nvPr/>
        </p:nvSpPr>
        <p:spPr>
          <a:xfrm>
            <a:off x="502920" y="4498848"/>
            <a:ext cx="5486400" cy="256032"/>
          </a:xfrm>
          <a:prstGeom prst="rect">
            <a:avLst/>
          </a:prstGeom>
          <a:noFill/>
        </p:spPr>
        <p:txBody>
          <a:bodyPr wrap="square">
            <a:spAutoFit/>
          </a:bodyPr>
          <a:lstStyle/>
          <a:p>
            <a:pPr algn="l"/>
            <a:r>
              <a:rPr sz="1000" b="0" i="0">
                <a:solidFill>
                  <a:srgbClr val="8E9DB4"/>
                </a:solidFill>
              </a:rPr>
              <a:t>sales@nubolabs.co.uk  ·  nubolabs.co.uk  ·  Leeds, UK</a:t>
            </a:r>
          </a:p>
        </p:txBody>
      </p:sp>
      <p:sp>
        <p:nvSpPr>
          <p:cNvPr id="31" name="TextBox 30"/>
          <p:cNvSpPr txBox="1"/>
          <p:nvPr/>
        </p:nvSpPr>
        <p:spPr>
          <a:xfrm>
            <a:off x="5943600" y="4251960"/>
            <a:ext cx="2651760" cy="384048"/>
          </a:xfrm>
          <a:prstGeom prst="rect">
            <a:avLst/>
          </a:prstGeom>
          <a:noFill/>
        </p:spPr>
        <p:txBody>
          <a:bodyPr wrap="none">
            <a:spAutoFit/>
          </a:bodyPr>
          <a:lstStyle/>
          <a:p>
            <a:pPr algn="r"/>
            <a:r>
              <a:rPr sz="1300" b="1">
                <a:solidFill>
                  <a:srgbClr val="FF3C5A"/>
                </a:solidFill>
                <a:hlinkClick r:id="rId2"/>
              </a:rPr>
              <a:t>Reply to this report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B12"/>
        </a:solidFill>
        <a:effectLst/>
      </p:bgPr>
    </p:bg>
    <p:spTree>
      <p:nvGrpSpPr>
        <p:cNvPr id="1" name=""/>
        <p:cNvGrpSpPr/>
        <p:nvPr/>
      </p:nvGrpSpPr>
      <p:grpSpPr/>
      <p:sp>
        <p:nvSpPr>
          <p:cNvPr id="2" name="TextBox 1"/>
          <p:cNvSpPr txBox="1"/>
          <p:nvPr/>
        </p:nvSpPr>
        <p:spPr>
          <a:xfrm>
            <a:off x="1371600" y="1600200"/>
            <a:ext cx="6400800" cy="777240"/>
          </a:xfrm>
          <a:prstGeom prst="rect">
            <a:avLst/>
          </a:prstGeom>
          <a:noFill/>
        </p:spPr>
        <p:txBody>
          <a:bodyPr wrap="none">
            <a:spAutoFit/>
          </a:bodyPr>
          <a:lstStyle/>
          <a:p>
            <a:pPr algn="ctr"/>
            <a:r>
              <a:rPr sz="3800" b="1">
                <a:solidFill>
                  <a:srgbClr val="FFFFFF"/>
                </a:solidFill>
              </a:rPr>
              <a:t>Nubo</a:t>
            </a:r>
            <a:r>
              <a:rPr sz="3800" b="1">
                <a:solidFill>
                  <a:srgbClr val="FF3C5A"/>
                </a:solidFill>
              </a:rPr>
              <a:t>Labs</a:t>
            </a:r>
          </a:p>
        </p:txBody>
      </p:sp>
      <p:sp>
        <p:nvSpPr>
          <p:cNvPr id="3" name="TextBox 2"/>
          <p:cNvSpPr txBox="1"/>
          <p:nvPr/>
        </p:nvSpPr>
        <p:spPr>
          <a:xfrm>
            <a:off x="1371600" y="2423160"/>
            <a:ext cx="6400800" cy="347472"/>
          </a:xfrm>
          <a:prstGeom prst="rect">
            <a:avLst/>
          </a:prstGeom>
          <a:noFill/>
        </p:spPr>
        <p:txBody>
          <a:bodyPr wrap="square">
            <a:spAutoFit/>
          </a:bodyPr>
          <a:lstStyle/>
          <a:p>
            <a:pPr algn="ctr"/>
            <a:r>
              <a:rPr sz="1300" b="0" i="0">
                <a:solidFill>
                  <a:srgbClr val="8E9DB4"/>
                </a:solidFill>
              </a:rPr>
              <a:t>Cloud Infrastructure Intelligence</a:t>
            </a:r>
          </a:p>
        </p:txBody>
      </p:sp>
      <p:sp>
        <p:nvSpPr>
          <p:cNvPr id="4" name="Rectangle 3"/>
          <p:cNvSpPr/>
          <p:nvPr/>
        </p:nvSpPr>
        <p:spPr>
          <a:xfrm>
            <a:off x="3200400" y="2852928"/>
            <a:ext cx="2743200" cy="27432"/>
          </a:xfrm>
          <a:prstGeom prst="rect">
            <a:avLst/>
          </a:prstGeom>
          <a:solidFill>
            <a:srgbClr val="4E5F72"/>
          </a:solidFill>
          <a:ln>
            <a:noFill/>
          </a:ln>
        </p:spPr>
      </p:sp>
      <p:sp>
        <p:nvSpPr>
          <p:cNvPr id="5" name="TextBox 4"/>
          <p:cNvSpPr txBox="1"/>
          <p:nvPr/>
        </p:nvSpPr>
        <p:spPr>
          <a:xfrm>
            <a:off x="1371600" y="2944368"/>
            <a:ext cx="6400800" cy="292608"/>
          </a:xfrm>
          <a:prstGeom prst="rect">
            <a:avLst/>
          </a:prstGeom>
          <a:noFill/>
        </p:spPr>
        <p:txBody>
          <a:bodyPr wrap="square">
            <a:spAutoFit/>
          </a:bodyPr>
          <a:lstStyle/>
          <a:p>
            <a:pPr algn="ctr"/>
            <a:r>
              <a:rPr sz="1200" b="0" i="0">
                <a:solidFill>
                  <a:srgbClr val="8E9DB4"/>
                </a:solidFill>
              </a:rPr>
              <a:t>sales@nubolabs.co.uk</a:t>
            </a:r>
          </a:p>
        </p:txBody>
      </p:sp>
      <p:sp>
        <p:nvSpPr>
          <p:cNvPr id="6" name="TextBox 5"/>
          <p:cNvSpPr txBox="1"/>
          <p:nvPr/>
        </p:nvSpPr>
        <p:spPr>
          <a:xfrm>
            <a:off x="1371600" y="3255264"/>
            <a:ext cx="6400800" cy="292608"/>
          </a:xfrm>
          <a:prstGeom prst="rect">
            <a:avLst/>
          </a:prstGeom>
          <a:noFill/>
        </p:spPr>
        <p:txBody>
          <a:bodyPr wrap="square">
            <a:spAutoFit/>
          </a:bodyPr>
          <a:lstStyle/>
          <a:p>
            <a:pPr algn="ctr"/>
            <a:r>
              <a:rPr sz="1100" b="0" i="0">
                <a:solidFill>
                  <a:srgbClr val="4E5F72"/>
                </a:solidFill>
              </a:rPr>
              <a:t>nubolabs.co.uk  ·  Leeds, UK</a:t>
            </a:r>
          </a:p>
        </p:txBody>
      </p:sp>
      <p:sp>
        <p:nvSpPr>
          <p:cNvPr id="7" name="TextBox 6"/>
          <p:cNvSpPr txBox="1"/>
          <p:nvPr/>
        </p:nvSpPr>
        <p:spPr>
          <a:xfrm>
            <a:off x="1371600" y="4480560"/>
            <a:ext cx="6400800" cy="320040"/>
          </a:xfrm>
          <a:prstGeom prst="rect">
            <a:avLst/>
          </a:prstGeom>
          <a:noFill/>
        </p:spPr>
        <p:txBody>
          <a:bodyPr wrap="square">
            <a:spAutoFit/>
          </a:bodyPr>
          <a:lstStyle/>
          <a:p>
            <a:pPr algn="ctr"/>
            <a:r>
              <a:rPr sz="900" b="0" i="1">
                <a:solidFill>
                  <a:srgbClr val="4E5F72"/>
                </a:solidFill>
              </a:rPr>
              <a:t>Technical assessment only. Not a security certification or compliance guarantee.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